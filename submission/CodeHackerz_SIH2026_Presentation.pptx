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embeddedFontLst>
    <p:embeddedFont>
      <p:font typeface="Montserrat 600" pitchFamily="34" charset="0"/>
      <p:regular r:id="rId13"/>
    </p:embeddedFont>
    <p:embeddedFont>
      <p:font typeface="Montserrat 700" pitchFamily="34" charset="0"/>
      <p:regular r:id="rId14"/>
    </p:embeddedFont>
    <p:embeddedFont>
      <p:font typeface="Montserrat 800" pitchFamily="34" charset="0"/>
      <p:regular r:id="rId15"/>
    </p:embeddedFont>
    <p:embeddedFont>
      <p:font typeface="Montserrat 900" pitchFamily="34" charset="0"/>
      <p:regular r:id="rId16"/>
    </p:embeddedFont>
    <p:embeddedFont>
      <p:font typeface="Open Sans 400" pitchFamily="34" charset="0"/>
      <p:regular r:id="rId17"/>
    </p:embeddedFont>
    <p:embeddedFont>
      <p:font typeface="Open Sans 400 It" pitchFamily="34" charset="0"/>
      <p:regular r:id="rId18"/>
    </p:embeddedFont>
    <p:embeddedFont>
      <p:font typeface="Open Sans 600" pitchFamily="34" charset="0"/>
      <p:regular r:id="rId19"/>
    </p:embeddedFont>
    <p:embeddedFont>
      <p:font typeface="Open Sans 600 It" pitchFamily="34" charset="0"/>
      <p:regular r:id="rId20"/>
    </p:embeddedFont>
    <p:embeddedFont>
      <p:font typeface="Open Sans 700" pitchFamily="34" charset="0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2290316" y="221060"/>
            <a:ext cx="7611219" cy="542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4275"/>
              </a:lnSpc>
            </a:pPr>
            <a:r>
              <a:rPr lang="en-US" sz="3525" b="0" i="0" dirty="0" spc="-53">
                <a:solidFill>
                  <a:srgbClr val="1B3A5C"/>
                </a:solidFill>
                <a:latin typeface="Montserrat 900"/>
                <a:cs typeface="Montserrat 900"/>
              </a:rPr>
              <a:t>SMART INDIA HACKATHON 2026</a:t>
            </a:r>
          </a:p>
        </p:txBody>
      </p:sp>
      <p:pic>
        <p:nvPicPr>
          <p:cNvPr id="5" name="Picture 4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50" y="190500"/>
            <a:ext cx="1524000" cy="742205"/>
          </a:xfrm>
          <a:prstGeom prst="rect">
            <a:avLst/>
          </a:prstGeom>
        </p:spPr>
      </p:pic>
      <p:sp>
        <p:nvSpPr>
          <p:cNvPr id="4" name="T"/>
          <p:cNvSpPr txBox="1"/>
          <p:nvPr/>
        </p:nvSpPr>
        <p:spPr>
          <a:xfrm>
            <a:off x="447675" y="1329511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1359066"/>
            <a:ext cx="3056930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Problem Statement ID:</a:t>
            </a:r>
          </a:p>
        </p:txBody>
      </p:sp>
      <p:sp>
        <p:nvSpPr>
          <p:cNvPr id="4" name="T"/>
          <p:cNvSpPr txBox="1"/>
          <p:nvPr/>
        </p:nvSpPr>
        <p:spPr>
          <a:xfrm>
            <a:off x="3761780" y="1359066"/>
            <a:ext cx="1256407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SIH26006</a:t>
            </a:r>
          </a:p>
        </p:txBody>
      </p:sp>
      <p:sp>
        <p:nvSpPr>
          <p:cNvPr id="4" name="T"/>
          <p:cNvSpPr txBox="1"/>
          <p:nvPr/>
        </p:nvSpPr>
        <p:spPr>
          <a:xfrm>
            <a:off x="447675" y="1945660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1975214"/>
            <a:ext cx="3337173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Problem Statement Title:</a:t>
            </a:r>
          </a:p>
        </p:txBody>
      </p:sp>
      <p:sp>
        <p:nvSpPr>
          <p:cNvPr id="4" name="T"/>
          <p:cNvSpPr txBox="1"/>
          <p:nvPr/>
        </p:nvSpPr>
        <p:spPr>
          <a:xfrm>
            <a:off x="4042023" y="1975214"/>
            <a:ext cx="2503736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Development of an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2334188"/>
            <a:ext cx="5287566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Intelligent Freight Forecasting Model for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2693161"/>
            <a:ext cx="5810994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Optimized Vessel Chartering and Bulk Cargo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3052135"/>
            <a:ext cx="5722888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Procurement from overseas to East Coast of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3411108"/>
            <a:ext cx="671215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India</a:t>
            </a:r>
          </a:p>
        </p:txBody>
      </p:sp>
      <p:sp>
        <p:nvSpPr>
          <p:cNvPr id="4" name="T"/>
          <p:cNvSpPr txBox="1"/>
          <p:nvPr/>
        </p:nvSpPr>
        <p:spPr>
          <a:xfrm>
            <a:off x="447675" y="3997702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4027257"/>
            <a:ext cx="1052512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Theme:</a:t>
            </a:r>
          </a:p>
        </p:txBody>
      </p:sp>
      <p:sp>
        <p:nvSpPr>
          <p:cNvPr id="4" name="T"/>
          <p:cNvSpPr txBox="1"/>
          <p:nvPr/>
        </p:nvSpPr>
        <p:spPr>
          <a:xfrm>
            <a:off x="1757362" y="4027257"/>
            <a:ext cx="3407866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Transportation &amp; Logistics</a:t>
            </a:r>
          </a:p>
        </p:txBody>
      </p:sp>
      <p:sp>
        <p:nvSpPr>
          <p:cNvPr id="4" name="T"/>
          <p:cNvSpPr txBox="1"/>
          <p:nvPr/>
        </p:nvSpPr>
        <p:spPr>
          <a:xfrm>
            <a:off x="447675" y="4613850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4643405"/>
            <a:ext cx="1745754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PS Category:</a:t>
            </a:r>
          </a:p>
        </p:txBody>
      </p:sp>
      <p:sp>
        <p:nvSpPr>
          <p:cNvPr id="4" name="T"/>
          <p:cNvSpPr txBox="1"/>
          <p:nvPr/>
        </p:nvSpPr>
        <p:spPr>
          <a:xfrm>
            <a:off x="2450604" y="4643405"/>
            <a:ext cx="1180802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Software</a:t>
            </a:r>
          </a:p>
        </p:txBody>
      </p:sp>
      <p:sp>
        <p:nvSpPr>
          <p:cNvPr id="4" name="T"/>
          <p:cNvSpPr txBox="1"/>
          <p:nvPr/>
        </p:nvSpPr>
        <p:spPr>
          <a:xfrm>
            <a:off x="447675" y="5229999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5259553"/>
            <a:ext cx="1144488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Team ID:</a:t>
            </a:r>
          </a:p>
        </p:txBody>
      </p:sp>
      <p:sp>
        <p:nvSpPr>
          <p:cNvPr id="4" name="T"/>
          <p:cNvSpPr txBox="1"/>
          <p:nvPr/>
        </p:nvSpPr>
        <p:spPr>
          <a:xfrm>
            <a:off x="447675" y="5846147"/>
            <a:ext cx="94208" cy="2571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lang="en-US" sz="1650" b="0" i="0" dirty="0">
                <a:solidFill>
                  <a:srgbClr val="000000"/>
                </a:solidFill>
                <a:latin typeface="Montserrat 700"/>
                <a:cs typeface="Montserrat 700"/>
              </a:rPr>
              <a:t>•</a:t>
            </a:r>
          </a:p>
        </p:txBody>
      </p:sp>
      <p:sp>
        <p:nvSpPr>
          <p:cNvPr id="4" name="T"/>
          <p:cNvSpPr txBox="1"/>
          <p:nvPr/>
        </p:nvSpPr>
        <p:spPr>
          <a:xfrm>
            <a:off x="723900" y="5875702"/>
            <a:ext cx="1698724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000000"/>
                </a:solidFill>
                <a:latin typeface="Montserrat 700"/>
                <a:cs typeface="Montserrat 700"/>
              </a:rPr>
              <a:t>Team Name:</a:t>
            </a:r>
          </a:p>
        </p:txBody>
      </p:sp>
      <p:sp>
        <p:nvSpPr>
          <p:cNvPr id="4" name="T"/>
          <p:cNvSpPr txBox="1"/>
          <p:nvPr/>
        </p:nvSpPr>
        <p:spPr>
          <a:xfrm>
            <a:off x="2403574" y="5875702"/>
            <a:ext cx="1807071" cy="3048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00"/>
              </a:lnSpc>
            </a:pPr>
            <a:r>
              <a:rPr lang="en-US" sz="1950" b="0" i="0" dirty="0">
                <a:solidFill>
                  <a:srgbClr val="1F4E79"/>
                </a:solidFill>
                <a:latin typeface="Montserrat 700"/>
                <a:cs typeface="Montserrat 700"/>
              </a:rPr>
              <a:t>Code Hackerz</a:t>
            </a:r>
          </a:p>
        </p:txBody>
      </p:sp>
      <p:pic>
        <p:nvPicPr>
          <p:cNvPr id="6" name="Picture 5" descr="im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475" y="1373237"/>
            <a:ext cx="4476750" cy="4796432"/>
          </a:xfrm>
          <a:prstGeom prst="rect">
            <a:avLst/>
          </a:prstGeom>
        </p:spPr>
      </p:pic>
      <p:sp>
        <p:nvSpPr>
          <p:cNvPr id="4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5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ox"/>
          <p:cNvSpPr/>
          <p:nvPr/>
        </p:nvSpPr>
        <p:spPr>
          <a:xfrm>
            <a:off x="257175" y="180975"/>
            <a:ext cx="1181100" cy="552450"/>
          </a:xfrm>
          <a:prstGeom prst="ellipse">
            <a:avLst/>
          </a:prstGeom>
          <a:noFill/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T"/>
          <p:cNvSpPr txBox="1"/>
          <p:nvPr/>
        </p:nvSpPr>
        <p:spPr>
          <a:xfrm>
            <a:off x="661690" y="313543"/>
            <a:ext cx="37177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CODE</a:t>
            </a:r>
          </a:p>
        </p:txBody>
      </p:sp>
      <p:sp>
        <p:nvSpPr>
          <p:cNvPr id="7" name="T"/>
          <p:cNvSpPr txBox="1"/>
          <p:nvPr/>
        </p:nvSpPr>
        <p:spPr>
          <a:xfrm>
            <a:off x="539502" y="450614"/>
            <a:ext cx="6162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HACKERZ</a:t>
            </a:r>
          </a:p>
        </p:txBody>
      </p:sp>
      <p:sp>
        <p:nvSpPr>
          <p:cNvPr id="7" name="T"/>
          <p:cNvSpPr txBox="1"/>
          <p:nvPr/>
        </p:nvSpPr>
        <p:spPr>
          <a:xfrm>
            <a:off x="5059710" y="124052"/>
            <a:ext cx="1920032" cy="4476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3525"/>
              </a:lnSpc>
            </a:pPr>
            <a:r>
              <a:rPr lang="en-US" sz="2850" b="0" i="0" dirty="0" spc="-29">
                <a:solidFill>
                  <a:srgbClr val="000000"/>
                </a:solidFill>
                <a:latin typeface="Montserrat 900"/>
                <a:cs typeface="Montserrat 900"/>
              </a:rPr>
              <a:t>OUR IDEA</a:t>
            </a:r>
          </a:p>
        </p:txBody>
      </p:sp>
      <p:sp>
        <p:nvSpPr>
          <p:cNvPr id="7" name="T"/>
          <p:cNvSpPr txBox="1"/>
          <p:nvPr/>
        </p:nvSpPr>
        <p:spPr>
          <a:xfrm>
            <a:off x="1995934" y="584103"/>
            <a:ext cx="8047732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125" b="0" i="0" dirty="0">
                <a:solidFill>
                  <a:srgbClr val="111111"/>
                </a:solidFill>
                <a:latin typeface="Montserrat 700"/>
                <a:cs typeface="Montserrat 700"/>
              </a:rPr>
              <a:t>An intelligent freight forecasting and chartering decision desk for SAIL's bulk imports into East Coast India.</a:t>
            </a:r>
          </a:p>
        </p:txBody>
      </p:sp>
      <p:pic>
        <p:nvPicPr>
          <p:cNvPr id="8" name="Picture 7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136326"/>
            <a:ext cx="1352550" cy="641746"/>
          </a:xfrm>
          <a:prstGeom prst="rect">
            <a:avLst/>
          </a:prstGeom>
        </p:spPr>
      </p:pic>
      <p:sp>
        <p:nvSpPr>
          <p:cNvPr id="7" name="Box"/>
          <p:cNvSpPr/>
          <p:nvPr/>
        </p:nvSpPr>
        <p:spPr>
          <a:xfrm>
            <a:off x="247650" y="857250"/>
            <a:ext cx="3725019" cy="266700"/>
          </a:xfrm>
          <a:prstGeom prst="roundRect">
            <a:avLst>
              <a:gd name="adj" fmla="val 14286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"/>
          <p:cNvSpPr txBox="1"/>
          <p:nvPr/>
        </p:nvSpPr>
        <p:spPr>
          <a:xfrm>
            <a:off x="390525" y="908303"/>
            <a:ext cx="3439269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 spc="21">
                <a:solidFill>
                  <a:srgbClr val="FFFFFF"/>
                </a:solidFill>
                <a:latin typeface="Montserrat 700"/>
                <a:cs typeface="Montserrat 700"/>
              </a:rPr>
              <a:t>PROPOSED SOLUTION: SYSTEM ARCHITECTURE</a:t>
            </a:r>
          </a:p>
        </p:txBody>
      </p:sp>
      <p:sp>
        <p:nvSpPr>
          <p:cNvPr id="8" name="Box"/>
          <p:cNvSpPr/>
          <p:nvPr/>
        </p:nvSpPr>
        <p:spPr>
          <a:xfrm>
            <a:off x="257175" y="1219200"/>
            <a:ext cx="5886450" cy="1581001"/>
          </a:xfrm>
          <a:prstGeom prst="roundRect">
            <a:avLst>
              <a:gd name="adj" fmla="val 7832"/>
            </a:avLst>
          </a:prstGeom>
          <a:solidFill>
            <a:srgbClr val="DCEEF8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9" name="T"/>
          <p:cNvSpPr txBox="1"/>
          <p:nvPr/>
        </p:nvSpPr>
        <p:spPr>
          <a:xfrm>
            <a:off x="390525" y="1317634"/>
            <a:ext cx="174262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DETAILED EXPLANATION</a:t>
            </a:r>
          </a:p>
        </p:txBody>
      </p:sp>
      <p:sp>
        <p:nvSpPr>
          <p:cNvPr id="9" name="T"/>
          <p:cNvSpPr txBox="1"/>
          <p:nvPr/>
        </p:nvSpPr>
        <p:spPr>
          <a:xfrm>
            <a:off x="390525" y="1560434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9" name="T"/>
          <p:cNvSpPr txBox="1"/>
          <p:nvPr/>
        </p:nvSpPr>
        <p:spPr>
          <a:xfrm>
            <a:off x="552450" y="1561287"/>
            <a:ext cx="55974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Forecast.</a:t>
            </a:r>
          </a:p>
        </p:txBody>
      </p:sp>
      <p:sp>
        <p:nvSpPr>
          <p:cNvPr id="9" name="T"/>
          <p:cNvSpPr txBox="1"/>
          <p:nvPr/>
        </p:nvSpPr>
        <p:spPr>
          <a:xfrm>
            <a:off x="1122759" y="1561169"/>
            <a:ext cx="119226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Quantile models over</a:t>
            </a:r>
          </a:p>
        </p:txBody>
      </p:sp>
      <p:sp>
        <p:nvSpPr>
          <p:cNvPr id="9" name="Box"/>
          <p:cNvSpPr/>
          <p:nvPr/>
        </p:nvSpPr>
        <p:spPr>
          <a:xfrm>
            <a:off x="2305496" y="1539180"/>
            <a:ext cx="925116" cy="180975"/>
          </a:xfrm>
          <a:prstGeom prst="roundRect">
            <a:avLst>
              <a:gd name="adj" fmla="val 15789"/>
            </a:avLst>
          </a:prstGeom>
          <a:solidFill>
            <a:srgbClr val="B4520A">
              <a:alpha val="11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"/>
          <p:cNvSpPr txBox="1"/>
          <p:nvPr/>
        </p:nvSpPr>
        <p:spPr>
          <a:xfrm>
            <a:off x="2334071" y="1542589"/>
            <a:ext cx="867966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44" b="0" i="0" dirty="0">
                <a:solidFill>
                  <a:srgbClr val="B4520A"/>
                </a:solidFill>
                <a:latin typeface="Open Sans 700"/>
                <a:cs typeface="Open Sans 700"/>
              </a:rPr>
              <a:t>136,933 rows</a:t>
            </a:r>
          </a:p>
        </p:txBody>
      </p:sp>
      <p:sp>
        <p:nvSpPr>
          <p:cNvPr id="10" name="T"/>
          <p:cNvSpPr txBox="1"/>
          <p:nvPr/>
        </p:nvSpPr>
        <p:spPr>
          <a:xfrm>
            <a:off x="3250704" y="1561169"/>
            <a:ext cx="263663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of real Baltic history return a low / mid / high rate</a:t>
            </a:r>
          </a:p>
        </p:txBody>
      </p:sp>
      <p:sp>
        <p:nvSpPr>
          <p:cNvPr id="10" name="T"/>
          <p:cNvSpPr txBox="1"/>
          <p:nvPr/>
        </p:nvSpPr>
        <p:spPr>
          <a:xfrm>
            <a:off x="552450" y="1734256"/>
            <a:ext cx="225936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band per vessel class at 7, 30 and 90 days.</a:t>
            </a:r>
          </a:p>
        </p:txBody>
      </p:sp>
      <p:sp>
        <p:nvSpPr>
          <p:cNvPr id="10" name="T"/>
          <p:cNvSpPr txBox="1"/>
          <p:nvPr/>
        </p:nvSpPr>
        <p:spPr>
          <a:xfrm>
            <a:off x="390525" y="1984892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0" name="T"/>
          <p:cNvSpPr txBox="1"/>
          <p:nvPr/>
        </p:nvSpPr>
        <p:spPr>
          <a:xfrm>
            <a:off x="552450" y="1966694"/>
            <a:ext cx="45407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Decide.</a:t>
            </a:r>
          </a:p>
        </p:txBody>
      </p:sp>
      <p:sp>
        <p:nvSpPr>
          <p:cNvPr id="10" name="T"/>
          <p:cNvSpPr txBox="1"/>
          <p:nvPr/>
        </p:nvSpPr>
        <p:spPr>
          <a:xfrm>
            <a:off x="1017091" y="1966577"/>
            <a:ext cx="492442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A ceiling rate caps what is worth paying today; a Longstaff-Schwartz solver prices the right to</a:t>
            </a:r>
          </a:p>
        </p:txBody>
      </p:sp>
      <p:sp>
        <p:nvSpPr>
          <p:cNvPr id="10" name="T"/>
          <p:cNvSpPr txBox="1"/>
          <p:nvPr/>
        </p:nvSpPr>
        <p:spPr>
          <a:xfrm>
            <a:off x="552450" y="2138920"/>
            <a:ext cx="442570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keep waiting, and expected weather delay is charged to the WAIT branch in dollars.</a:t>
            </a:r>
          </a:p>
        </p:txBody>
      </p:sp>
      <p:sp>
        <p:nvSpPr>
          <p:cNvPr id="10" name="T"/>
          <p:cNvSpPr txBox="1"/>
          <p:nvPr/>
        </p:nvSpPr>
        <p:spPr>
          <a:xfrm>
            <a:off x="390525" y="2389556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0" name="T"/>
          <p:cNvSpPr txBox="1"/>
          <p:nvPr/>
        </p:nvSpPr>
        <p:spPr>
          <a:xfrm>
            <a:off x="552450" y="2371358"/>
            <a:ext cx="1266527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Constrain, then plan.</a:t>
            </a:r>
          </a:p>
        </p:txBody>
      </p:sp>
      <p:sp>
        <p:nvSpPr>
          <p:cNvPr id="10" name="T"/>
          <p:cNvSpPr txBox="1"/>
          <p:nvPr/>
        </p:nvSpPr>
        <p:spPr>
          <a:xfrm>
            <a:off x="1829544" y="2371241"/>
            <a:ext cx="2849017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Every class is tested on draft, LOA, beam and DWT at</a:t>
            </a:r>
          </a:p>
        </p:txBody>
      </p:sp>
      <p:sp>
        <p:nvSpPr>
          <p:cNvPr id="10" name="T"/>
          <p:cNvSpPr txBox="1"/>
          <p:nvPr/>
        </p:nvSpPr>
        <p:spPr>
          <a:xfrm>
            <a:off x="4659511" y="2371358"/>
            <a:ext cx="297656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both</a:t>
            </a:r>
          </a:p>
        </p:txBody>
      </p:sp>
      <p:sp>
        <p:nvSpPr>
          <p:cNvPr id="10" name="T"/>
          <p:cNvSpPr txBox="1"/>
          <p:nvPr/>
        </p:nvSpPr>
        <p:spPr>
          <a:xfrm>
            <a:off x="4967734" y="2371241"/>
            <a:ext cx="91261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ports; a portfolio</a:t>
            </a:r>
          </a:p>
        </p:txBody>
      </p:sp>
      <p:sp>
        <p:nvSpPr>
          <p:cNvPr id="10" name="T"/>
          <p:cNvSpPr txBox="1"/>
          <p:nvPr/>
        </p:nvSpPr>
        <p:spPr>
          <a:xfrm>
            <a:off x="552450" y="2543584"/>
            <a:ext cx="315991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screen then splits the season across spot / period TC / CoA.</a:t>
            </a:r>
          </a:p>
        </p:txBody>
      </p:sp>
      <p:sp>
        <p:nvSpPr>
          <p:cNvPr id="10" name="Box"/>
          <p:cNvSpPr/>
          <p:nvPr/>
        </p:nvSpPr>
        <p:spPr>
          <a:xfrm>
            <a:off x="257175" y="2914501"/>
            <a:ext cx="5886450" cy="1833116"/>
          </a:xfrm>
          <a:prstGeom prst="roundRect">
            <a:avLst>
              <a:gd name="adj" fmla="val 6755"/>
            </a:avLst>
          </a:prstGeom>
          <a:solidFill>
            <a:srgbClr val="E2F0D9"/>
          </a:solidFill>
          <a:ln w="19050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1" name="T"/>
          <p:cNvSpPr txBox="1"/>
          <p:nvPr/>
        </p:nvSpPr>
        <p:spPr>
          <a:xfrm>
            <a:off x="390525" y="3012935"/>
            <a:ext cx="2456557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2C6B2F"/>
                </a:solidFill>
                <a:latin typeface="Montserrat 800"/>
                <a:cs typeface="Montserrat 800"/>
              </a:rPr>
              <a:t>HOW IT ADDRESSES THE PROBLEM</a:t>
            </a:r>
          </a:p>
        </p:txBody>
      </p:sp>
      <p:sp>
        <p:nvSpPr>
          <p:cNvPr id="11" name="T"/>
          <p:cNvSpPr txBox="1"/>
          <p:nvPr/>
        </p:nvSpPr>
        <p:spPr>
          <a:xfrm>
            <a:off x="390525" y="3255736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1" name="T"/>
          <p:cNvSpPr txBox="1"/>
          <p:nvPr/>
        </p:nvSpPr>
        <p:spPr>
          <a:xfrm>
            <a:off x="552450" y="3237538"/>
            <a:ext cx="140523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(a) Market entry timing</a:t>
            </a:r>
          </a:p>
        </p:txBody>
      </p:sp>
      <p:sp>
        <p:nvSpPr>
          <p:cNvPr id="11" name="T"/>
          <p:cNvSpPr txBox="1"/>
          <p:nvPr/>
        </p:nvSpPr>
        <p:spPr>
          <a:xfrm>
            <a:off x="1968252" y="3237420"/>
            <a:ext cx="3948708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Segoe UI Symbol"/>
                <a:cs typeface="Segoe UI Symbol"/>
              </a:rPr>
              <a:t>→</a:t>
            </a: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 a dated LOCK/WAIT, with the trough window clamped inside the laycan.</a:t>
            </a:r>
          </a:p>
        </p:txBody>
      </p:sp>
      <p:sp>
        <p:nvSpPr>
          <p:cNvPr id="11" name="T"/>
          <p:cNvSpPr txBox="1"/>
          <p:nvPr/>
        </p:nvSpPr>
        <p:spPr>
          <a:xfrm>
            <a:off x="390525" y="3494754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1" name="T"/>
          <p:cNvSpPr txBox="1"/>
          <p:nvPr/>
        </p:nvSpPr>
        <p:spPr>
          <a:xfrm>
            <a:off x="552450" y="3495606"/>
            <a:ext cx="166345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(b) Vessel type optimization</a:t>
            </a:r>
          </a:p>
        </p:txBody>
      </p:sp>
      <p:sp>
        <p:nvSpPr>
          <p:cNvPr id="11" name="T"/>
          <p:cNvSpPr txBox="1"/>
          <p:nvPr/>
        </p:nvSpPr>
        <p:spPr>
          <a:xfrm>
            <a:off x="2226469" y="3495488"/>
            <a:ext cx="868561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Segoe UI Symbol"/>
                <a:cs typeface="Segoe UI Symbol"/>
              </a:rPr>
              <a:t>→</a:t>
            </a: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 the cheapest</a:t>
            </a:r>
          </a:p>
        </p:txBody>
      </p:sp>
      <p:sp>
        <p:nvSpPr>
          <p:cNvPr id="11" name="Box"/>
          <p:cNvSpPr/>
          <p:nvPr/>
        </p:nvSpPr>
        <p:spPr>
          <a:xfrm>
            <a:off x="3085505" y="3473500"/>
            <a:ext cx="595164" cy="180975"/>
          </a:xfrm>
          <a:prstGeom prst="roundRect">
            <a:avLst>
              <a:gd name="adj" fmla="val 15789"/>
            </a:avLst>
          </a:prstGeom>
          <a:solidFill>
            <a:srgbClr val="B4520A">
              <a:alpha val="11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"/>
          <p:cNvSpPr txBox="1"/>
          <p:nvPr/>
        </p:nvSpPr>
        <p:spPr>
          <a:xfrm>
            <a:off x="3114080" y="3476908"/>
            <a:ext cx="53801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44" b="0" i="0" dirty="0">
                <a:solidFill>
                  <a:srgbClr val="B4520A"/>
                </a:solidFill>
                <a:latin typeface="Open Sans 700"/>
                <a:cs typeface="Open Sans 700"/>
              </a:rPr>
              <a:t>feasible</a:t>
            </a:r>
          </a:p>
        </p:txBody>
      </p:sp>
      <p:sp>
        <p:nvSpPr>
          <p:cNvPr id="12" name="T"/>
          <p:cNvSpPr txBox="1"/>
          <p:nvPr/>
        </p:nvSpPr>
        <p:spPr>
          <a:xfrm>
            <a:off x="3700760" y="3495488"/>
            <a:ext cx="2298948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class off a full frontier, not a rule of thumb.</a:t>
            </a:r>
          </a:p>
        </p:txBody>
      </p:sp>
      <p:sp>
        <p:nvSpPr>
          <p:cNvPr id="12" name="T"/>
          <p:cNvSpPr txBox="1"/>
          <p:nvPr/>
        </p:nvSpPr>
        <p:spPr>
          <a:xfrm>
            <a:off x="390525" y="3753566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2" name="T"/>
          <p:cNvSpPr txBox="1"/>
          <p:nvPr/>
        </p:nvSpPr>
        <p:spPr>
          <a:xfrm>
            <a:off x="552450" y="3735368"/>
            <a:ext cx="1549301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(c) Idle-time management</a:t>
            </a:r>
          </a:p>
        </p:txBody>
      </p:sp>
      <p:sp>
        <p:nvSpPr>
          <p:cNvPr id="12" name="T"/>
          <p:cNvSpPr txBox="1"/>
          <p:nvPr/>
        </p:nvSpPr>
        <p:spPr>
          <a:xfrm>
            <a:off x="2112318" y="3735250"/>
            <a:ext cx="352633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Segoe UI Symbol"/>
                <a:cs typeface="Segoe UI Symbol"/>
              </a:rPr>
              <a:t>→</a:t>
            </a: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 queue time from satellite arrivals, CP-SAT sequencing, backhaul</a:t>
            </a:r>
          </a:p>
        </p:txBody>
      </p:sp>
      <p:sp>
        <p:nvSpPr>
          <p:cNvPr id="12" name="T"/>
          <p:cNvSpPr txBox="1"/>
          <p:nvPr/>
        </p:nvSpPr>
        <p:spPr>
          <a:xfrm>
            <a:off x="552450" y="3907593"/>
            <a:ext cx="927348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scored in dollars.</a:t>
            </a:r>
          </a:p>
        </p:txBody>
      </p:sp>
      <p:sp>
        <p:nvSpPr>
          <p:cNvPr id="12" name="T"/>
          <p:cNvSpPr txBox="1"/>
          <p:nvPr/>
        </p:nvSpPr>
        <p:spPr>
          <a:xfrm>
            <a:off x="390525" y="415822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2" name="T"/>
          <p:cNvSpPr txBox="1"/>
          <p:nvPr/>
        </p:nvSpPr>
        <p:spPr>
          <a:xfrm>
            <a:off x="552450" y="4140032"/>
            <a:ext cx="110370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(d) Risk mitigation</a:t>
            </a:r>
          </a:p>
        </p:txBody>
      </p:sp>
      <p:sp>
        <p:nvSpPr>
          <p:cNvPr id="12" name="T"/>
          <p:cNvSpPr txBox="1"/>
          <p:nvPr/>
        </p:nvSpPr>
        <p:spPr>
          <a:xfrm>
            <a:off x="1666726" y="4139914"/>
            <a:ext cx="391879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Segoe UI Symbol"/>
                <a:cs typeface="Segoe UI Symbol"/>
              </a:rPr>
              <a:t>→</a:t>
            </a: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 four independent live signals: rate regime, port congestion, chokepoint</a:t>
            </a:r>
          </a:p>
        </p:txBody>
      </p:sp>
      <p:sp>
        <p:nvSpPr>
          <p:cNvPr id="12" name="T"/>
          <p:cNvSpPr txBox="1"/>
          <p:nvPr/>
        </p:nvSpPr>
        <p:spPr>
          <a:xfrm>
            <a:off x="552450" y="4312257"/>
            <a:ext cx="1544538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transits, cyclone climatology.</a:t>
            </a:r>
          </a:p>
        </p:txBody>
      </p:sp>
      <p:sp>
        <p:nvSpPr>
          <p:cNvPr id="12" name="Box"/>
          <p:cNvSpPr/>
          <p:nvPr/>
        </p:nvSpPr>
        <p:spPr>
          <a:xfrm>
            <a:off x="257175" y="4861917"/>
            <a:ext cx="5886450" cy="1681758"/>
          </a:xfrm>
          <a:prstGeom prst="roundRect">
            <a:avLst>
              <a:gd name="adj" fmla="val 7363"/>
            </a:avLst>
          </a:prstGeom>
          <a:solidFill>
            <a:srgbClr val="FBE5D6"/>
          </a:solidFill>
          <a:ln w="19050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"/>
          <p:cNvSpPr txBox="1"/>
          <p:nvPr/>
        </p:nvSpPr>
        <p:spPr>
          <a:xfrm>
            <a:off x="390525" y="4960351"/>
            <a:ext cx="220265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B4520A"/>
                </a:solidFill>
                <a:latin typeface="Montserrat 800"/>
                <a:cs typeface="Montserrat 800"/>
              </a:rPr>
              <a:t>INNOVATION AND UNIQUENESS</a:t>
            </a:r>
          </a:p>
        </p:txBody>
      </p:sp>
      <p:sp>
        <p:nvSpPr>
          <p:cNvPr id="13" name="T"/>
          <p:cNvSpPr txBox="1"/>
          <p:nvPr/>
        </p:nvSpPr>
        <p:spPr>
          <a:xfrm>
            <a:off x="390525" y="5203152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3" name="T"/>
          <p:cNvSpPr txBox="1"/>
          <p:nvPr/>
        </p:nvSpPr>
        <p:spPr>
          <a:xfrm>
            <a:off x="552450" y="5204004"/>
            <a:ext cx="1629221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It prices the option to wait,</a:t>
            </a:r>
          </a:p>
        </p:txBody>
      </p:sp>
      <p:sp>
        <p:nvSpPr>
          <p:cNvPr id="13" name="T"/>
          <p:cNvSpPr txBox="1"/>
          <p:nvPr/>
        </p:nvSpPr>
        <p:spPr>
          <a:xfrm>
            <a:off x="2192238" y="5203886"/>
            <a:ext cx="363736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worth</a:t>
            </a:r>
          </a:p>
        </p:txBody>
      </p:sp>
      <p:sp>
        <p:nvSpPr>
          <p:cNvPr id="13" name="Box"/>
          <p:cNvSpPr/>
          <p:nvPr/>
        </p:nvSpPr>
        <p:spPr>
          <a:xfrm>
            <a:off x="2546449" y="5181898"/>
            <a:ext cx="787301" cy="180975"/>
          </a:xfrm>
          <a:prstGeom prst="roundRect">
            <a:avLst>
              <a:gd name="adj" fmla="val 15789"/>
            </a:avLst>
          </a:prstGeom>
          <a:solidFill>
            <a:srgbClr val="B4520A">
              <a:alpha val="11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"/>
          <p:cNvSpPr txBox="1"/>
          <p:nvPr/>
        </p:nvSpPr>
        <p:spPr>
          <a:xfrm>
            <a:off x="2575024" y="5185306"/>
            <a:ext cx="730151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44" b="0" i="0" dirty="0">
                <a:solidFill>
                  <a:srgbClr val="B4520A"/>
                </a:solidFill>
                <a:latin typeface="Open Sans 700"/>
                <a:cs typeface="Open Sans 700"/>
              </a:rPr>
              <a:t>$1,538/day</a:t>
            </a:r>
          </a:p>
        </p:txBody>
      </p:sp>
      <p:sp>
        <p:nvSpPr>
          <p:cNvPr id="14" name="T"/>
          <p:cNvSpPr txBox="1"/>
          <p:nvPr/>
        </p:nvSpPr>
        <p:spPr>
          <a:xfrm>
            <a:off x="3353842" y="5203886"/>
            <a:ext cx="247203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on a real run, moving the walk-away rate from</a:t>
            </a:r>
          </a:p>
        </p:txBody>
      </p:sp>
      <p:sp>
        <p:nvSpPr>
          <p:cNvPr id="14" name="T"/>
          <p:cNvSpPr txBox="1"/>
          <p:nvPr/>
        </p:nvSpPr>
        <p:spPr>
          <a:xfrm>
            <a:off x="552450" y="5376973"/>
            <a:ext cx="106144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$21,016 to $19,478.</a:t>
            </a:r>
          </a:p>
        </p:txBody>
      </p:sp>
      <p:sp>
        <p:nvSpPr>
          <p:cNvPr id="14" name="T"/>
          <p:cNvSpPr txBox="1"/>
          <p:nvPr/>
        </p:nvSpPr>
        <p:spPr>
          <a:xfrm>
            <a:off x="390525" y="562760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4" name="T"/>
          <p:cNvSpPr txBox="1"/>
          <p:nvPr/>
        </p:nvSpPr>
        <p:spPr>
          <a:xfrm>
            <a:off x="552450" y="5609412"/>
            <a:ext cx="215964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It measures decisions, not accuracy:</a:t>
            </a:r>
          </a:p>
        </p:txBody>
      </p:sp>
      <p:sp>
        <p:nvSpPr>
          <p:cNvPr id="14" name="T"/>
          <p:cNvSpPr txBox="1"/>
          <p:nvPr/>
        </p:nvSpPr>
        <p:spPr>
          <a:xfrm>
            <a:off x="2722662" y="5609294"/>
            <a:ext cx="325502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realised saving against always-lock and always-wait, replayed</a:t>
            </a:r>
          </a:p>
        </p:txBody>
      </p:sp>
      <p:sp>
        <p:nvSpPr>
          <p:cNvPr id="14" name="T"/>
          <p:cNvSpPr txBox="1"/>
          <p:nvPr/>
        </p:nvSpPr>
        <p:spPr>
          <a:xfrm>
            <a:off x="552450" y="5781637"/>
            <a:ext cx="113511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on a frozen test split.</a:t>
            </a:r>
          </a:p>
        </p:txBody>
      </p:sp>
      <p:sp>
        <p:nvSpPr>
          <p:cNvPr id="14" name="T"/>
          <p:cNvSpPr txBox="1"/>
          <p:nvPr/>
        </p:nvSpPr>
        <p:spPr>
          <a:xfrm>
            <a:off x="390525" y="6032273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14" name="T"/>
          <p:cNvSpPr txBox="1"/>
          <p:nvPr/>
        </p:nvSpPr>
        <p:spPr>
          <a:xfrm>
            <a:off x="552450" y="6014075"/>
            <a:ext cx="367679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6" b="0" i="0" dirty="0">
                <a:solidFill>
                  <a:srgbClr val="000000"/>
                </a:solidFill>
                <a:latin typeface="Open Sans 700"/>
                <a:cs typeface="Open Sans 700"/>
              </a:rPr>
              <a:t>It refuses to invent numbers, and knows how wrong it can be.</a:t>
            </a:r>
          </a:p>
        </p:txBody>
      </p:sp>
      <p:sp>
        <p:nvSpPr>
          <p:cNvPr id="14" name="T"/>
          <p:cNvSpPr txBox="1"/>
          <p:nvPr/>
        </p:nvSpPr>
        <p:spPr>
          <a:xfrm>
            <a:off x="4239816" y="6013958"/>
            <a:ext cx="1659136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A build check blocks fabricated</a:t>
            </a:r>
          </a:p>
        </p:txBody>
      </p:sp>
      <p:sp>
        <p:nvSpPr>
          <p:cNvPr id="14" name="T"/>
          <p:cNvSpPr txBox="1"/>
          <p:nvPr/>
        </p:nvSpPr>
        <p:spPr>
          <a:xfrm>
            <a:off x="552450" y="6205351"/>
            <a:ext cx="189711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data, and the fragility sweep found</a:t>
            </a:r>
          </a:p>
        </p:txBody>
      </p:sp>
      <p:sp>
        <p:nvSpPr>
          <p:cNvPr id="14" name="Box"/>
          <p:cNvSpPr/>
          <p:nvPr/>
        </p:nvSpPr>
        <p:spPr>
          <a:xfrm>
            <a:off x="2440037" y="6183362"/>
            <a:ext cx="384870" cy="180975"/>
          </a:xfrm>
          <a:prstGeom prst="roundRect">
            <a:avLst>
              <a:gd name="adj" fmla="val 15789"/>
            </a:avLst>
          </a:prstGeom>
          <a:solidFill>
            <a:srgbClr val="B4520A">
              <a:alpha val="11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"/>
          <p:cNvSpPr txBox="1"/>
          <p:nvPr/>
        </p:nvSpPr>
        <p:spPr>
          <a:xfrm>
            <a:off x="2468612" y="6186771"/>
            <a:ext cx="327720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44" b="0" i="0" dirty="0">
                <a:solidFill>
                  <a:srgbClr val="B4520A"/>
                </a:solidFill>
                <a:latin typeface="Open Sans 700"/>
                <a:cs typeface="Open Sans 700"/>
              </a:rPr>
              <a:t>3 cm</a:t>
            </a:r>
          </a:p>
        </p:txBody>
      </p:sp>
      <p:sp>
        <p:nvSpPr>
          <p:cNvPr id="15" name="T"/>
          <p:cNvSpPr txBox="1"/>
          <p:nvPr/>
        </p:nvSpPr>
        <p:spPr>
          <a:xfrm>
            <a:off x="2844998" y="6205351"/>
            <a:ext cx="85219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4D4D4D"/>
                </a:solidFill>
                <a:latin typeface="Open Sans 400"/>
                <a:cs typeface="Open Sans 400"/>
              </a:rPr>
              <a:t>of draft margin.</a:t>
            </a:r>
          </a:p>
        </p:txBody>
      </p:sp>
      <p:sp>
        <p:nvSpPr>
          <p:cNvPr id="15" name="Rect"/>
          <p:cNvSpPr/>
          <p:nvPr/>
        </p:nvSpPr>
        <p:spPr>
          <a:xfrm>
            <a:off x="6267450" y="1209675"/>
            <a:ext cx="5676900" cy="533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Rect"/>
          <p:cNvSpPr/>
          <p:nvPr/>
        </p:nvSpPr>
        <p:spPr>
          <a:xfrm>
            <a:off x="6419850" y="1219200"/>
            <a:ext cx="2628900" cy="361950"/>
          </a:xfrm>
          <a:prstGeom prst="roundRect">
            <a:avLst>
              <a:gd name="adj" fmla="val 23684"/>
            </a:avLst>
          </a:prstGeom>
          <a:solidFill>
            <a:srgbClr val="FFF2CC"/>
          </a:solidFill>
          <a:ln w="1714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7" name="L"/>
          <p:cNvSpPr txBox="1"/>
          <p:nvPr/>
        </p:nvSpPr>
        <p:spPr>
          <a:xfrm>
            <a:off x="7413650" y="1271869"/>
            <a:ext cx="653940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8A6100"/>
                </a:solidFill>
                <a:latin typeface="Montserrat 800"/>
                <a:cs typeface="Montserrat 800"/>
              </a:rPr>
              <a:t>CARGO LOT</a:t>
            </a:r>
          </a:p>
        </p:txBody>
      </p:sp>
      <p:sp>
        <p:nvSpPr>
          <p:cNvPr id="17" name="L"/>
          <p:cNvSpPr txBox="1"/>
          <p:nvPr/>
        </p:nvSpPr>
        <p:spPr>
          <a:xfrm>
            <a:off x="6901979" y="1406286"/>
            <a:ext cx="166066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8A6100"/>
                </a:solidFill>
                <a:latin typeface="Open Sans 400"/>
                <a:cs typeface="Open Sans 400"/>
              </a:rPr>
              <a:t>Tonnage, route, laycan window, contract term</a:t>
            </a:r>
          </a:p>
        </p:txBody>
      </p:sp>
      <p:sp>
        <p:nvSpPr>
          <p:cNvPr id="17" name="Rect"/>
          <p:cNvSpPr/>
          <p:nvPr/>
        </p:nvSpPr>
        <p:spPr>
          <a:xfrm>
            <a:off x="9277350" y="1219200"/>
            <a:ext cx="2514600" cy="361950"/>
          </a:xfrm>
          <a:prstGeom prst="roundRect">
            <a:avLst>
              <a:gd name="adj" fmla="val 23684"/>
            </a:avLst>
          </a:prstGeom>
          <a:solidFill>
            <a:srgbClr val="FFF2CC"/>
          </a:solidFill>
          <a:ln w="1714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8" name="L"/>
          <p:cNvSpPr txBox="1"/>
          <p:nvPr/>
        </p:nvSpPr>
        <p:spPr>
          <a:xfrm>
            <a:off x="10137502" y="1271869"/>
            <a:ext cx="804763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8A6100"/>
                </a:solidFill>
                <a:latin typeface="Montserrat 800"/>
                <a:cs typeface="Montserrat 800"/>
              </a:rPr>
              <a:t>DATA ON DISK</a:t>
            </a:r>
          </a:p>
        </p:txBody>
      </p:sp>
      <p:sp>
        <p:nvSpPr>
          <p:cNvPr id="18" name="L"/>
          <p:cNvSpPr txBox="1"/>
          <p:nvPr/>
        </p:nvSpPr>
        <p:spPr>
          <a:xfrm>
            <a:off x="9612437" y="1406286"/>
            <a:ext cx="184610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8A6100"/>
                </a:solidFill>
                <a:latin typeface="Open Sans 400"/>
                <a:cs typeface="Open Sans 400"/>
              </a:rPr>
              <a:t>Baltic rates, satellite arrivals, storm tracks, port logs</a:t>
            </a:r>
          </a:p>
        </p:txBody>
      </p:sp>
      <p:sp>
        <p:nvSpPr>
          <p:cNvPr id="18" name="Path"/>
          <p:cNvSpPr/>
          <p:nvPr/>
        </p:nvSpPr>
        <p:spPr>
          <a:xfrm>
            <a:off x="7734300" y="1581150"/>
            <a:ext cx="95" cy="104775"/>
          </a:xfrm>
          <a:custGeom>
            <a:avLst/>
            <a:gdLst/>
            <a:ahLst/>
            <a:cxnLst/>
            <a:rect l="0" t="0" r="95" b="104775"/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19" name="Path"/>
          <p:cNvSpPr/>
          <p:nvPr/>
        </p:nvSpPr>
        <p:spPr>
          <a:xfrm>
            <a:off x="10534650" y="1581150"/>
            <a:ext cx="95" cy="104775"/>
          </a:xfrm>
          <a:custGeom>
            <a:avLst/>
            <a:gdLst/>
            <a:ahLst/>
            <a:cxnLst/>
            <a:rect l="0" t="0" r="95" b="104775"/>
            <a:pathLst>
              <a:path w="95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0" name="Path"/>
          <p:cNvSpPr/>
          <p:nvPr/>
        </p:nvSpPr>
        <p:spPr>
          <a:xfrm>
            <a:off x="6991350" y="1685925"/>
            <a:ext cx="4229100" cy="95"/>
          </a:xfrm>
          <a:custGeom>
            <a:avLst/>
            <a:gdLst/>
            <a:ahLst/>
            <a:cxnLst/>
            <a:rect l="0" t="0" r="4229100" b="95"/>
            <a:pathLst>
              <a:path w="4229100" h="95">
                <a:moveTo>
                  <a:pt x="0" y="0"/>
                </a:moveTo>
                <a:lnTo>
                  <a:pt x="4229100" y="0"/>
                </a:lnTo>
              </a:path>
            </a:pathLst>
          </a:custGeom>
          <a:noFill/>
          <a:ln w="16192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1" name="Path"/>
          <p:cNvSpPr/>
          <p:nvPr/>
        </p:nvSpPr>
        <p:spPr>
          <a:xfrm>
            <a:off x="6991350" y="1685925"/>
            <a:ext cx="95" cy="133350"/>
          </a:xfrm>
          <a:custGeom>
            <a:avLst/>
            <a:gdLst/>
            <a:ahLst/>
            <a:cxnLst/>
            <a:rect l="0" t="0" r="95" b="133350"/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2" name="Arrow"/>
          <p:cNvSpPr/>
          <p:nvPr/>
        </p:nvSpPr>
        <p:spPr>
          <a:xfrm>
            <a:off x="6948488" y="17335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Path"/>
          <p:cNvSpPr/>
          <p:nvPr/>
        </p:nvSpPr>
        <p:spPr>
          <a:xfrm>
            <a:off x="8401050" y="1685925"/>
            <a:ext cx="95" cy="133350"/>
          </a:xfrm>
          <a:custGeom>
            <a:avLst/>
            <a:gdLst/>
            <a:ahLst/>
            <a:cxnLst/>
            <a:rect l="0" t="0" r="95" b="133350"/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4" name="Arrow"/>
          <p:cNvSpPr/>
          <p:nvPr/>
        </p:nvSpPr>
        <p:spPr>
          <a:xfrm>
            <a:off x="8358188" y="17335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Path"/>
          <p:cNvSpPr/>
          <p:nvPr/>
        </p:nvSpPr>
        <p:spPr>
          <a:xfrm>
            <a:off x="9810750" y="1685925"/>
            <a:ext cx="95" cy="133350"/>
          </a:xfrm>
          <a:custGeom>
            <a:avLst/>
            <a:gdLst/>
            <a:ahLst/>
            <a:cxnLst/>
            <a:rect l="0" t="0" r="95" b="133350"/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Arrow"/>
          <p:cNvSpPr/>
          <p:nvPr/>
        </p:nvSpPr>
        <p:spPr>
          <a:xfrm>
            <a:off x="9767888" y="17335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Path"/>
          <p:cNvSpPr/>
          <p:nvPr/>
        </p:nvSpPr>
        <p:spPr>
          <a:xfrm>
            <a:off x="11220450" y="1685925"/>
            <a:ext cx="95" cy="133350"/>
          </a:xfrm>
          <a:custGeom>
            <a:avLst/>
            <a:gdLst/>
            <a:ahLst/>
            <a:cxnLst/>
            <a:rect l="0" t="0" r="95" b="133350"/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28" name="Arrow"/>
          <p:cNvSpPr/>
          <p:nvPr/>
        </p:nvSpPr>
        <p:spPr>
          <a:xfrm>
            <a:off x="11177588" y="17335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ect"/>
          <p:cNvSpPr/>
          <p:nvPr/>
        </p:nvSpPr>
        <p:spPr>
          <a:xfrm>
            <a:off x="6419850" y="1819275"/>
            <a:ext cx="1143000" cy="342900"/>
          </a:xfrm>
          <a:prstGeom prst="roundRect">
            <a:avLst>
              <a:gd name="adj" fmla="val 25000"/>
            </a:avLst>
          </a:prstGeom>
          <a:solidFill>
            <a:srgbClr val="E2F0D9"/>
          </a:solidFill>
          <a:ln w="1714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30" name="L"/>
          <p:cNvSpPr txBox="1"/>
          <p:nvPr/>
        </p:nvSpPr>
        <p:spPr>
          <a:xfrm>
            <a:off x="6698233" y="1871944"/>
            <a:ext cx="598833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2C6B2F"/>
                </a:solidFill>
                <a:latin typeface="Montserrat 800"/>
                <a:cs typeface="Montserrat 800"/>
              </a:rPr>
              <a:t>FORECAST</a:t>
            </a:r>
          </a:p>
        </p:txBody>
      </p:sp>
      <p:sp>
        <p:nvSpPr>
          <p:cNvPr id="30" name="L"/>
          <p:cNvSpPr txBox="1"/>
          <p:nvPr/>
        </p:nvSpPr>
        <p:spPr>
          <a:xfrm>
            <a:off x="6736482" y="2006575"/>
            <a:ext cx="507509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B8F5E"/>
                </a:solidFill>
                <a:latin typeface="Open Sans 400 It"/>
                <a:cs typeface="Open Sans 400 It"/>
              </a:rPr>
              <a:t>market models</a:t>
            </a:r>
          </a:p>
        </p:txBody>
      </p:sp>
      <p:sp>
        <p:nvSpPr>
          <p:cNvPr id="30" name="Rect"/>
          <p:cNvSpPr/>
          <p:nvPr/>
        </p:nvSpPr>
        <p:spPr>
          <a:xfrm>
            <a:off x="7829550" y="1819275"/>
            <a:ext cx="1143000" cy="342900"/>
          </a:xfrm>
          <a:prstGeom prst="roundRect">
            <a:avLst>
              <a:gd name="adj" fmla="val 25000"/>
            </a:avLst>
          </a:prstGeom>
          <a:solidFill>
            <a:srgbClr val="E2F0D9"/>
          </a:solidFill>
          <a:ln w="1714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31" name="L"/>
          <p:cNvSpPr txBox="1"/>
          <p:nvPr/>
        </p:nvSpPr>
        <p:spPr>
          <a:xfrm>
            <a:off x="8188226" y="1871944"/>
            <a:ext cx="43459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2C6B2F"/>
                </a:solidFill>
                <a:latin typeface="Montserrat 800"/>
                <a:cs typeface="Montserrat 800"/>
              </a:rPr>
              <a:t>DECIDE</a:t>
            </a:r>
          </a:p>
        </p:txBody>
      </p:sp>
      <p:sp>
        <p:nvSpPr>
          <p:cNvPr id="31" name="L"/>
          <p:cNvSpPr txBox="1"/>
          <p:nvPr/>
        </p:nvSpPr>
        <p:spPr>
          <a:xfrm>
            <a:off x="8192765" y="2006575"/>
            <a:ext cx="423025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B8F5E"/>
                </a:solidFill>
                <a:latin typeface="Open Sans 400 It"/>
                <a:cs typeface="Open Sans 400 It"/>
              </a:rPr>
              <a:t>optimisation</a:t>
            </a:r>
          </a:p>
        </p:txBody>
      </p:sp>
      <p:sp>
        <p:nvSpPr>
          <p:cNvPr id="31" name="Rect"/>
          <p:cNvSpPr/>
          <p:nvPr/>
        </p:nvSpPr>
        <p:spPr>
          <a:xfrm>
            <a:off x="9239250" y="1819275"/>
            <a:ext cx="1143000" cy="342900"/>
          </a:xfrm>
          <a:prstGeom prst="roundRect">
            <a:avLst>
              <a:gd name="adj" fmla="val 25000"/>
            </a:avLst>
          </a:prstGeom>
          <a:solidFill>
            <a:srgbClr val="E2F0D9"/>
          </a:solidFill>
          <a:ln w="1714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32" name="L"/>
          <p:cNvSpPr txBox="1"/>
          <p:nvPr/>
        </p:nvSpPr>
        <p:spPr>
          <a:xfrm>
            <a:off x="9486305" y="1871944"/>
            <a:ext cx="653933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2C6B2F"/>
                </a:solidFill>
                <a:latin typeface="Montserrat 800"/>
                <a:cs typeface="Montserrat 800"/>
              </a:rPr>
              <a:t>CONSTRAIN</a:t>
            </a:r>
          </a:p>
        </p:txBody>
      </p:sp>
      <p:sp>
        <p:nvSpPr>
          <p:cNvPr id="32" name="L"/>
          <p:cNvSpPr txBox="1"/>
          <p:nvPr/>
        </p:nvSpPr>
        <p:spPr>
          <a:xfrm>
            <a:off x="9548664" y="2006575"/>
            <a:ext cx="521915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B8F5E"/>
                </a:solidFill>
                <a:latin typeface="Open Sans 400 It"/>
                <a:cs typeface="Open Sans 400 It"/>
              </a:rPr>
              <a:t>ports and ships</a:t>
            </a:r>
          </a:p>
        </p:txBody>
      </p:sp>
      <p:sp>
        <p:nvSpPr>
          <p:cNvPr id="32" name="Rect"/>
          <p:cNvSpPr/>
          <p:nvPr/>
        </p:nvSpPr>
        <p:spPr>
          <a:xfrm>
            <a:off x="10648950" y="1819275"/>
            <a:ext cx="1143000" cy="342900"/>
          </a:xfrm>
          <a:prstGeom prst="roundRect">
            <a:avLst>
              <a:gd name="adj" fmla="val 25000"/>
            </a:avLst>
          </a:prstGeom>
          <a:solidFill>
            <a:srgbClr val="E2F0D9"/>
          </a:solidFill>
          <a:ln w="1714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33" name="L"/>
          <p:cNvSpPr txBox="1"/>
          <p:nvPr/>
        </p:nvSpPr>
        <p:spPr>
          <a:xfrm>
            <a:off x="10999068" y="1871944"/>
            <a:ext cx="44471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88" b="0" i="0" dirty="0">
                <a:solidFill>
                  <a:srgbClr val="2C6B2F"/>
                </a:solidFill>
                <a:latin typeface="Montserrat 800"/>
                <a:cs typeface="Montserrat 800"/>
              </a:rPr>
              <a:t>ASSESS</a:t>
            </a:r>
          </a:p>
        </p:txBody>
      </p:sp>
      <p:sp>
        <p:nvSpPr>
          <p:cNvPr id="33" name="L"/>
          <p:cNvSpPr txBox="1"/>
          <p:nvPr/>
        </p:nvSpPr>
        <p:spPr>
          <a:xfrm>
            <a:off x="10962680" y="2006575"/>
            <a:ext cx="520626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B8F5E"/>
                </a:solidFill>
                <a:latin typeface="Open Sans 400 It"/>
                <a:cs typeface="Open Sans 400 It"/>
              </a:rPr>
              <a:t>risk and supply</a:t>
            </a:r>
          </a:p>
        </p:txBody>
      </p:sp>
      <p:sp>
        <p:nvSpPr>
          <p:cNvPr id="33" name="Rect"/>
          <p:cNvSpPr/>
          <p:nvPr/>
        </p:nvSpPr>
        <p:spPr>
          <a:xfrm>
            <a:off x="6419850" y="23336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L"/>
          <p:cNvSpPr txBox="1"/>
          <p:nvPr/>
        </p:nvSpPr>
        <p:spPr>
          <a:xfrm>
            <a:off x="6748314" y="2425035"/>
            <a:ext cx="4918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37 features</a:t>
            </a:r>
          </a:p>
        </p:txBody>
      </p:sp>
      <p:sp>
        <p:nvSpPr>
          <p:cNvPr id="34" name="Rect"/>
          <p:cNvSpPr/>
          <p:nvPr/>
        </p:nvSpPr>
        <p:spPr>
          <a:xfrm>
            <a:off x="6419850" y="28479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35" name="L"/>
          <p:cNvSpPr txBox="1"/>
          <p:nvPr/>
        </p:nvSpPr>
        <p:spPr>
          <a:xfrm>
            <a:off x="6640785" y="2939385"/>
            <a:ext cx="70693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Quantile models</a:t>
            </a:r>
          </a:p>
        </p:txBody>
      </p:sp>
      <p:sp>
        <p:nvSpPr>
          <p:cNvPr id="35" name="Rect"/>
          <p:cNvSpPr/>
          <p:nvPr/>
        </p:nvSpPr>
        <p:spPr>
          <a:xfrm>
            <a:off x="6419850" y="33623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36" name="L"/>
          <p:cNvSpPr txBox="1"/>
          <p:nvPr/>
        </p:nvSpPr>
        <p:spPr>
          <a:xfrm>
            <a:off x="6581924" y="3453735"/>
            <a:ext cx="82692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Rate fan P10 to P90</a:t>
            </a:r>
          </a:p>
        </p:txBody>
      </p:sp>
      <p:sp>
        <p:nvSpPr>
          <p:cNvPr id="36" name="Rect"/>
          <p:cNvSpPr/>
          <p:nvPr/>
        </p:nvSpPr>
        <p:spPr>
          <a:xfrm>
            <a:off x="6419850" y="38766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37" name="L"/>
          <p:cNvSpPr txBox="1"/>
          <p:nvPr/>
        </p:nvSpPr>
        <p:spPr>
          <a:xfrm>
            <a:off x="6551712" y="3968085"/>
            <a:ext cx="88346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Frozen-split backtest</a:t>
            </a:r>
          </a:p>
        </p:txBody>
      </p:sp>
      <p:sp>
        <p:nvSpPr>
          <p:cNvPr id="37" name="Path"/>
          <p:cNvSpPr/>
          <p:nvPr/>
        </p:nvSpPr>
        <p:spPr>
          <a:xfrm>
            <a:off x="6991350" y="2162175"/>
            <a:ext cx="95" cy="171450"/>
          </a:xfrm>
          <a:custGeom>
            <a:avLst/>
            <a:gdLst/>
            <a:ahLst/>
            <a:cxnLst/>
            <a:rect l="0" t="0" r="95" b="171450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38" name="Arrow"/>
          <p:cNvSpPr/>
          <p:nvPr/>
        </p:nvSpPr>
        <p:spPr>
          <a:xfrm>
            <a:off x="6948488" y="22479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Path"/>
          <p:cNvSpPr/>
          <p:nvPr/>
        </p:nvSpPr>
        <p:spPr>
          <a:xfrm>
            <a:off x="6991350" y="26384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40" name="Arrow"/>
          <p:cNvSpPr/>
          <p:nvPr/>
        </p:nvSpPr>
        <p:spPr>
          <a:xfrm>
            <a:off x="6948488" y="27622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Path"/>
          <p:cNvSpPr/>
          <p:nvPr/>
        </p:nvSpPr>
        <p:spPr>
          <a:xfrm>
            <a:off x="6991350" y="315277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42" name="Arrow"/>
          <p:cNvSpPr/>
          <p:nvPr/>
        </p:nvSpPr>
        <p:spPr>
          <a:xfrm>
            <a:off x="6948488" y="32766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Path"/>
          <p:cNvSpPr/>
          <p:nvPr/>
        </p:nvSpPr>
        <p:spPr>
          <a:xfrm>
            <a:off x="6991350" y="36671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44" name="Arrow"/>
          <p:cNvSpPr/>
          <p:nvPr/>
        </p:nvSpPr>
        <p:spPr>
          <a:xfrm>
            <a:off x="6948488" y="37909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ect"/>
          <p:cNvSpPr/>
          <p:nvPr/>
        </p:nvSpPr>
        <p:spPr>
          <a:xfrm>
            <a:off x="7829550" y="23336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46" name="L"/>
          <p:cNvSpPr txBox="1"/>
          <p:nvPr/>
        </p:nvSpPr>
        <p:spPr>
          <a:xfrm>
            <a:off x="8156674" y="2425035"/>
            <a:ext cx="49649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Ceiling rate</a:t>
            </a:r>
          </a:p>
        </p:txBody>
      </p:sp>
      <p:sp>
        <p:nvSpPr>
          <p:cNvPr id="46" name="Rect"/>
          <p:cNvSpPr/>
          <p:nvPr/>
        </p:nvSpPr>
        <p:spPr>
          <a:xfrm>
            <a:off x="7829550" y="28479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L"/>
          <p:cNvSpPr txBox="1"/>
          <p:nvPr/>
        </p:nvSpPr>
        <p:spPr>
          <a:xfrm>
            <a:off x="8008962" y="2939385"/>
            <a:ext cx="79192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LSMC option value</a:t>
            </a:r>
          </a:p>
        </p:txBody>
      </p:sp>
      <p:sp>
        <p:nvSpPr>
          <p:cNvPr id="47" name="Rect"/>
          <p:cNvSpPr/>
          <p:nvPr/>
        </p:nvSpPr>
        <p:spPr>
          <a:xfrm>
            <a:off x="7829550" y="33623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48" name="L"/>
          <p:cNvSpPr txBox="1"/>
          <p:nvPr/>
        </p:nvSpPr>
        <p:spPr>
          <a:xfrm>
            <a:off x="8082930" y="3453735"/>
            <a:ext cx="6399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Savings spread</a:t>
            </a:r>
          </a:p>
        </p:txBody>
      </p:sp>
      <p:sp>
        <p:nvSpPr>
          <p:cNvPr id="48" name="Rect"/>
          <p:cNvSpPr/>
          <p:nvPr/>
        </p:nvSpPr>
        <p:spPr>
          <a:xfrm>
            <a:off x="7829550" y="38766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49" name="L"/>
          <p:cNvSpPr txBox="1"/>
          <p:nvPr/>
        </p:nvSpPr>
        <p:spPr>
          <a:xfrm>
            <a:off x="8124230" y="3968085"/>
            <a:ext cx="56355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Portfolio mix</a:t>
            </a:r>
          </a:p>
        </p:txBody>
      </p:sp>
      <p:sp>
        <p:nvSpPr>
          <p:cNvPr id="49" name="Path"/>
          <p:cNvSpPr/>
          <p:nvPr/>
        </p:nvSpPr>
        <p:spPr>
          <a:xfrm>
            <a:off x="8401050" y="2162175"/>
            <a:ext cx="95" cy="171450"/>
          </a:xfrm>
          <a:custGeom>
            <a:avLst/>
            <a:gdLst/>
            <a:ahLst/>
            <a:cxnLst/>
            <a:rect l="0" t="0" r="95" b="171450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50" name="Arrow"/>
          <p:cNvSpPr/>
          <p:nvPr/>
        </p:nvSpPr>
        <p:spPr>
          <a:xfrm>
            <a:off x="8358188" y="22479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Path"/>
          <p:cNvSpPr/>
          <p:nvPr/>
        </p:nvSpPr>
        <p:spPr>
          <a:xfrm>
            <a:off x="8401050" y="26384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52" name="Arrow"/>
          <p:cNvSpPr/>
          <p:nvPr/>
        </p:nvSpPr>
        <p:spPr>
          <a:xfrm>
            <a:off x="8358188" y="27622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Path"/>
          <p:cNvSpPr/>
          <p:nvPr/>
        </p:nvSpPr>
        <p:spPr>
          <a:xfrm>
            <a:off x="8401050" y="315277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54" name="Arrow"/>
          <p:cNvSpPr/>
          <p:nvPr/>
        </p:nvSpPr>
        <p:spPr>
          <a:xfrm>
            <a:off x="8358188" y="32766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Path"/>
          <p:cNvSpPr/>
          <p:nvPr/>
        </p:nvSpPr>
        <p:spPr>
          <a:xfrm>
            <a:off x="8401050" y="36671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56" name="Arrow"/>
          <p:cNvSpPr/>
          <p:nvPr/>
        </p:nvSpPr>
        <p:spPr>
          <a:xfrm>
            <a:off x="8358188" y="37909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Rect"/>
          <p:cNvSpPr/>
          <p:nvPr/>
        </p:nvSpPr>
        <p:spPr>
          <a:xfrm>
            <a:off x="9239250" y="23336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58" name="L"/>
          <p:cNvSpPr txBox="1"/>
          <p:nvPr/>
        </p:nvSpPr>
        <p:spPr>
          <a:xfrm>
            <a:off x="9542562" y="2425035"/>
            <a:ext cx="54756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Berth reality</a:t>
            </a:r>
          </a:p>
        </p:txBody>
      </p:sp>
      <p:sp>
        <p:nvSpPr>
          <p:cNvPr id="58" name="Rect"/>
          <p:cNvSpPr/>
          <p:nvPr/>
        </p:nvSpPr>
        <p:spPr>
          <a:xfrm>
            <a:off x="9239250" y="28479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59" name="L"/>
          <p:cNvSpPr txBox="1"/>
          <p:nvPr/>
        </p:nvSpPr>
        <p:spPr>
          <a:xfrm>
            <a:off x="9439201" y="2939385"/>
            <a:ext cx="74416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Fleet-mix frontier</a:t>
            </a:r>
          </a:p>
        </p:txBody>
      </p:sp>
      <p:sp>
        <p:nvSpPr>
          <p:cNvPr id="59" name="Rect"/>
          <p:cNvSpPr/>
          <p:nvPr/>
        </p:nvSpPr>
        <p:spPr>
          <a:xfrm>
            <a:off x="9239250" y="33623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60" name="L"/>
          <p:cNvSpPr txBox="1"/>
          <p:nvPr/>
        </p:nvSpPr>
        <p:spPr>
          <a:xfrm>
            <a:off x="9461971" y="3453735"/>
            <a:ext cx="70519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CP-SAT schedule</a:t>
            </a:r>
          </a:p>
        </p:txBody>
      </p:sp>
      <p:sp>
        <p:nvSpPr>
          <p:cNvPr id="60" name="Rect"/>
          <p:cNvSpPr/>
          <p:nvPr/>
        </p:nvSpPr>
        <p:spPr>
          <a:xfrm>
            <a:off x="9239250" y="38766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61" name="L"/>
          <p:cNvSpPr txBox="1"/>
          <p:nvPr/>
        </p:nvSpPr>
        <p:spPr>
          <a:xfrm>
            <a:off x="9390980" y="3968085"/>
            <a:ext cx="845316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Route · chokepoints</a:t>
            </a:r>
          </a:p>
        </p:txBody>
      </p:sp>
      <p:sp>
        <p:nvSpPr>
          <p:cNvPr id="61" name="Path"/>
          <p:cNvSpPr/>
          <p:nvPr/>
        </p:nvSpPr>
        <p:spPr>
          <a:xfrm>
            <a:off x="9810750" y="2162175"/>
            <a:ext cx="95" cy="171450"/>
          </a:xfrm>
          <a:custGeom>
            <a:avLst/>
            <a:gdLst/>
            <a:ahLst/>
            <a:cxnLst/>
            <a:rect l="0" t="0" r="95" b="171450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62" name="Arrow"/>
          <p:cNvSpPr/>
          <p:nvPr/>
        </p:nvSpPr>
        <p:spPr>
          <a:xfrm>
            <a:off x="9767888" y="22479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Path"/>
          <p:cNvSpPr/>
          <p:nvPr/>
        </p:nvSpPr>
        <p:spPr>
          <a:xfrm>
            <a:off x="9810750" y="26384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64" name="Arrow"/>
          <p:cNvSpPr/>
          <p:nvPr/>
        </p:nvSpPr>
        <p:spPr>
          <a:xfrm>
            <a:off x="9767888" y="27622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65" name="Path"/>
          <p:cNvSpPr/>
          <p:nvPr/>
        </p:nvSpPr>
        <p:spPr>
          <a:xfrm>
            <a:off x="9810750" y="315277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66" name="Arrow"/>
          <p:cNvSpPr/>
          <p:nvPr/>
        </p:nvSpPr>
        <p:spPr>
          <a:xfrm>
            <a:off x="9767888" y="32766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67" name="Path"/>
          <p:cNvSpPr/>
          <p:nvPr/>
        </p:nvSpPr>
        <p:spPr>
          <a:xfrm>
            <a:off x="9810750" y="36671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68" name="Arrow"/>
          <p:cNvSpPr/>
          <p:nvPr/>
        </p:nvSpPr>
        <p:spPr>
          <a:xfrm>
            <a:off x="9767888" y="37909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ect"/>
          <p:cNvSpPr/>
          <p:nvPr/>
        </p:nvSpPr>
        <p:spPr>
          <a:xfrm>
            <a:off x="10648950" y="23336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70" name="L"/>
          <p:cNvSpPr txBox="1"/>
          <p:nvPr/>
        </p:nvSpPr>
        <p:spPr>
          <a:xfrm>
            <a:off x="10884991" y="2425035"/>
            <a:ext cx="67135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Queue from AIS</a:t>
            </a:r>
          </a:p>
        </p:txBody>
      </p:sp>
      <p:sp>
        <p:nvSpPr>
          <p:cNvPr id="70" name="Rect"/>
          <p:cNvSpPr/>
          <p:nvPr/>
        </p:nvSpPr>
        <p:spPr>
          <a:xfrm>
            <a:off x="10648950" y="28479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71" name="L"/>
          <p:cNvSpPr txBox="1"/>
          <p:nvPr/>
        </p:nvSpPr>
        <p:spPr>
          <a:xfrm>
            <a:off x="10908581" y="2939385"/>
            <a:ext cx="629580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Cyclone weeks</a:t>
            </a:r>
          </a:p>
        </p:txBody>
      </p:sp>
      <p:sp>
        <p:nvSpPr>
          <p:cNvPr id="71" name="Rect"/>
          <p:cNvSpPr/>
          <p:nvPr/>
        </p:nvSpPr>
        <p:spPr>
          <a:xfrm>
            <a:off x="10648950" y="33623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72" name="L"/>
          <p:cNvSpPr txBox="1"/>
          <p:nvPr/>
        </p:nvSpPr>
        <p:spPr>
          <a:xfrm>
            <a:off x="10937230" y="3453735"/>
            <a:ext cx="56271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4 risk signals</a:t>
            </a:r>
          </a:p>
        </p:txBody>
      </p:sp>
      <p:sp>
        <p:nvSpPr>
          <p:cNvPr id="72" name="Rect"/>
          <p:cNvSpPr/>
          <p:nvPr/>
        </p:nvSpPr>
        <p:spPr>
          <a:xfrm>
            <a:off x="10648950" y="387667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73" name="L"/>
          <p:cNvSpPr txBox="1"/>
          <p:nvPr/>
        </p:nvSpPr>
        <p:spPr>
          <a:xfrm>
            <a:off x="10821591" y="3968085"/>
            <a:ext cx="794021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Tonnage tightness</a:t>
            </a:r>
          </a:p>
        </p:txBody>
      </p:sp>
      <p:sp>
        <p:nvSpPr>
          <p:cNvPr id="73" name="Rect"/>
          <p:cNvSpPr/>
          <p:nvPr/>
        </p:nvSpPr>
        <p:spPr>
          <a:xfrm>
            <a:off x="10648950" y="4391025"/>
            <a:ext cx="1143000" cy="304800"/>
          </a:xfrm>
          <a:prstGeom prst="roundRect">
            <a:avLst>
              <a:gd name="adj" fmla="val 21875"/>
            </a:avLst>
          </a:prstGeom>
          <a:solidFill>
            <a:srgbClr val="FBE5D6"/>
          </a:solidFill>
          <a:ln w="14288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74" name="L"/>
          <p:cNvSpPr txBox="1"/>
          <p:nvPr/>
        </p:nvSpPr>
        <p:spPr>
          <a:xfrm>
            <a:off x="10902181" y="4482435"/>
            <a:ext cx="64027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A3B0C"/>
                </a:solidFill>
                <a:latin typeface="Open Sans 600"/>
                <a:cs typeface="Open Sans 600"/>
              </a:rPr>
              <a:t>Fragility sweep</a:t>
            </a:r>
          </a:p>
        </p:txBody>
      </p:sp>
      <p:sp>
        <p:nvSpPr>
          <p:cNvPr id="74" name="Path"/>
          <p:cNvSpPr/>
          <p:nvPr/>
        </p:nvSpPr>
        <p:spPr>
          <a:xfrm>
            <a:off x="11220450" y="2162175"/>
            <a:ext cx="95" cy="171450"/>
          </a:xfrm>
          <a:custGeom>
            <a:avLst/>
            <a:gdLst/>
            <a:ahLst/>
            <a:cxnLst/>
            <a:rect l="0" t="0" r="95" b="171450"/>
            <a:pathLst>
              <a:path w="9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75" name="Arrow"/>
          <p:cNvSpPr/>
          <p:nvPr/>
        </p:nvSpPr>
        <p:spPr>
          <a:xfrm>
            <a:off x="11177588" y="22479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76" name="Path"/>
          <p:cNvSpPr/>
          <p:nvPr/>
        </p:nvSpPr>
        <p:spPr>
          <a:xfrm>
            <a:off x="11220450" y="26384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77" name="Arrow"/>
          <p:cNvSpPr/>
          <p:nvPr/>
        </p:nvSpPr>
        <p:spPr>
          <a:xfrm>
            <a:off x="11177588" y="27622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78" name="Path"/>
          <p:cNvSpPr/>
          <p:nvPr/>
        </p:nvSpPr>
        <p:spPr>
          <a:xfrm>
            <a:off x="11220450" y="315277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79" name="Arrow"/>
          <p:cNvSpPr/>
          <p:nvPr/>
        </p:nvSpPr>
        <p:spPr>
          <a:xfrm>
            <a:off x="11177588" y="32766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80" name="Path"/>
          <p:cNvSpPr/>
          <p:nvPr/>
        </p:nvSpPr>
        <p:spPr>
          <a:xfrm>
            <a:off x="11220450" y="366712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81" name="Arrow"/>
          <p:cNvSpPr/>
          <p:nvPr/>
        </p:nvSpPr>
        <p:spPr>
          <a:xfrm>
            <a:off x="11177588" y="379095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Path"/>
          <p:cNvSpPr/>
          <p:nvPr/>
        </p:nvSpPr>
        <p:spPr>
          <a:xfrm>
            <a:off x="11220450" y="4181475"/>
            <a:ext cx="95" cy="209550"/>
          </a:xfrm>
          <a:custGeom>
            <a:avLst/>
            <a:gdLst/>
            <a:ahLst/>
            <a:cxnLst/>
            <a:rect l="0" t="0" r="95" b="20955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83" name="Arrow"/>
          <p:cNvSpPr/>
          <p:nvPr/>
        </p:nvSpPr>
        <p:spPr>
          <a:xfrm>
            <a:off x="11177588" y="43053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84" name="Path"/>
          <p:cNvSpPr/>
          <p:nvPr/>
        </p:nvSpPr>
        <p:spPr>
          <a:xfrm>
            <a:off x="6991350" y="4181475"/>
            <a:ext cx="95" cy="742950"/>
          </a:xfrm>
          <a:custGeom>
            <a:avLst/>
            <a:gdLst/>
            <a:ahLst/>
            <a:cxnLst/>
            <a:rect l="0" t="0" r="95" b="742950"/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85" name="Arrow"/>
          <p:cNvSpPr/>
          <p:nvPr/>
        </p:nvSpPr>
        <p:spPr>
          <a:xfrm>
            <a:off x="6948488" y="48387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Path"/>
          <p:cNvSpPr/>
          <p:nvPr/>
        </p:nvSpPr>
        <p:spPr>
          <a:xfrm>
            <a:off x="8401050" y="4181475"/>
            <a:ext cx="95" cy="742950"/>
          </a:xfrm>
          <a:custGeom>
            <a:avLst/>
            <a:gdLst/>
            <a:ahLst/>
            <a:cxnLst/>
            <a:rect l="0" t="0" r="95" b="742950"/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87" name="Arrow"/>
          <p:cNvSpPr/>
          <p:nvPr/>
        </p:nvSpPr>
        <p:spPr>
          <a:xfrm>
            <a:off x="8358188" y="48387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88" name="Path"/>
          <p:cNvSpPr/>
          <p:nvPr/>
        </p:nvSpPr>
        <p:spPr>
          <a:xfrm>
            <a:off x="9810750" y="4181475"/>
            <a:ext cx="95" cy="742950"/>
          </a:xfrm>
          <a:custGeom>
            <a:avLst/>
            <a:gdLst/>
            <a:ahLst/>
            <a:cxnLst/>
            <a:rect l="0" t="0" r="95" b="742950"/>
            <a:pathLst>
              <a:path w="95" h="742950">
                <a:moveTo>
                  <a:pt x="0" y="0"/>
                </a:moveTo>
                <a:lnTo>
                  <a:pt x="0" y="7429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89" name="Arrow"/>
          <p:cNvSpPr/>
          <p:nvPr/>
        </p:nvSpPr>
        <p:spPr>
          <a:xfrm>
            <a:off x="9767888" y="48387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90" name="Path"/>
          <p:cNvSpPr/>
          <p:nvPr/>
        </p:nvSpPr>
        <p:spPr>
          <a:xfrm>
            <a:off x="11220450" y="4695825"/>
            <a:ext cx="95" cy="228600"/>
          </a:xfrm>
          <a:custGeom>
            <a:avLst/>
            <a:gdLst/>
            <a:ahLst/>
            <a:cxnLst/>
            <a:rect l="0" t="0" r="95" b="228600"/>
            <a:pathLst>
              <a:path w="9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91" name="Arrow"/>
          <p:cNvSpPr/>
          <p:nvPr/>
        </p:nvSpPr>
        <p:spPr>
          <a:xfrm>
            <a:off x="11177588" y="48387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92" name="Path"/>
          <p:cNvSpPr/>
          <p:nvPr/>
        </p:nvSpPr>
        <p:spPr>
          <a:xfrm>
            <a:off x="7562850" y="2486025"/>
            <a:ext cx="266700" cy="1028700"/>
          </a:xfrm>
          <a:custGeom>
            <a:avLst/>
            <a:gdLst/>
            <a:ahLst/>
            <a:cxnLst/>
            <a:rect l="0" t="0" r="266700" b="1028700"/>
            <a:pathLst>
              <a:path w="266700" h="1028700">
                <a:moveTo>
                  <a:pt x="0" y="1028700"/>
                </a:moveTo>
                <a:lnTo>
                  <a:pt x="133350" y="1028700"/>
                </a:lnTo>
                <a:lnTo>
                  <a:pt x="133350" y="0"/>
                </a:lnTo>
                <a:lnTo>
                  <a:pt x="266700" y="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93" name="Arrow"/>
          <p:cNvSpPr/>
          <p:nvPr/>
        </p:nvSpPr>
        <p:spPr>
          <a:xfrm>
            <a:off x="7743825" y="2443162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85725" y="42862"/>
                </a:moveTo>
                <a:lnTo>
                  <a:pt x="0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94" name="Path"/>
          <p:cNvSpPr/>
          <p:nvPr/>
        </p:nvSpPr>
        <p:spPr>
          <a:xfrm>
            <a:off x="7562850" y="3514725"/>
            <a:ext cx="266700" cy="514350"/>
          </a:xfrm>
          <a:custGeom>
            <a:avLst/>
            <a:gdLst/>
            <a:ahLst/>
            <a:cxnLst/>
            <a:rect l="0" t="0" r="266700" b="514350"/>
            <a:pathLst>
              <a:path w="266700" h="514350">
                <a:moveTo>
                  <a:pt x="0" y="0"/>
                </a:moveTo>
                <a:lnTo>
                  <a:pt x="133350" y="0"/>
                </a:lnTo>
                <a:lnTo>
                  <a:pt x="133350" y="514350"/>
                </a:lnTo>
                <a:lnTo>
                  <a:pt x="266700" y="51435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95" name="Arrow"/>
          <p:cNvSpPr/>
          <p:nvPr/>
        </p:nvSpPr>
        <p:spPr>
          <a:xfrm>
            <a:off x="7743825" y="3986212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85725" y="42862"/>
                </a:moveTo>
                <a:lnTo>
                  <a:pt x="0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96" name="Path"/>
          <p:cNvSpPr/>
          <p:nvPr/>
        </p:nvSpPr>
        <p:spPr>
          <a:xfrm>
            <a:off x="10382250" y="2486025"/>
            <a:ext cx="266700" cy="1028700"/>
          </a:xfrm>
          <a:custGeom>
            <a:avLst/>
            <a:gdLst/>
            <a:ahLst/>
            <a:cxnLst/>
            <a:rect l="0" t="0" r="266700" b="1028700"/>
            <a:pathLst>
              <a:path w="266700" h="1028700">
                <a:moveTo>
                  <a:pt x="266700" y="0"/>
                </a:moveTo>
                <a:lnTo>
                  <a:pt x="85725" y="0"/>
                </a:lnTo>
                <a:lnTo>
                  <a:pt x="85725" y="1028700"/>
                </a:lnTo>
                <a:lnTo>
                  <a:pt x="0" y="1028700"/>
                </a:lnTo>
              </a:path>
            </a:pathLst>
          </a:custGeom>
          <a:noFill/>
          <a:ln w="14288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97" name="Arrow"/>
          <p:cNvSpPr/>
          <p:nvPr/>
        </p:nvSpPr>
        <p:spPr>
          <a:xfrm>
            <a:off x="10382250" y="3471862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0" y="42862"/>
                </a:moveTo>
                <a:lnTo>
                  <a:pt x="85725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7F9BB0"/>
          </a:solidFill>
          <a:ln>
            <a:noFill/>
          </a:ln>
        </p:spPr>
        <p:txBody>
          <a:bodyPr/>
          <a:lstStyle/>
          <a:p/>
        </p:txBody>
      </p:sp>
      <p:sp>
        <p:nvSpPr>
          <p:cNvPr id="98" name="Path"/>
          <p:cNvSpPr/>
          <p:nvPr/>
        </p:nvSpPr>
        <p:spPr>
          <a:xfrm>
            <a:off x="8972550" y="3000375"/>
            <a:ext cx="1676400" cy="200025"/>
          </a:xfrm>
          <a:custGeom>
            <a:avLst/>
            <a:gdLst/>
            <a:ahLst/>
            <a:cxnLst/>
            <a:rect l="0" t="0" r="1676400" b="200025"/>
            <a:pathLst>
              <a:path w="1676400" h="200025">
                <a:moveTo>
                  <a:pt x="1676400" y="0"/>
                </a:moveTo>
                <a:lnTo>
                  <a:pt x="1600200" y="0"/>
                </a:lnTo>
                <a:lnTo>
                  <a:pt x="1600200" y="200025"/>
                </a:lnTo>
                <a:lnTo>
                  <a:pt x="180975" y="200025"/>
                </a:lnTo>
                <a:lnTo>
                  <a:pt x="180975" y="66675"/>
                </a:lnTo>
                <a:lnTo>
                  <a:pt x="0" y="66675"/>
                </a:lnTo>
              </a:path>
            </a:pathLst>
          </a:custGeom>
          <a:noFill/>
          <a:ln w="1714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99" name="Arrow"/>
          <p:cNvSpPr/>
          <p:nvPr/>
        </p:nvSpPr>
        <p:spPr>
          <a:xfrm>
            <a:off x="8972550" y="3015615"/>
            <a:ext cx="102870" cy="102870"/>
          </a:xfrm>
          <a:custGeom>
            <a:avLst/>
            <a:gdLst/>
            <a:ahLst/>
            <a:cxnLst/>
            <a:rect l="0" t="0" r="102870" b="102870"/>
            <a:pathLst>
              <a:path w="102870" h="102870">
                <a:moveTo>
                  <a:pt x="0" y="51435"/>
                </a:moveTo>
                <a:lnTo>
                  <a:pt x="102870" y="0"/>
                </a:lnTo>
                <a:lnTo>
                  <a:pt x="102870" y="102870"/>
                </a:lnTo>
                <a:close/>
              </a:path>
            </a:pathLst>
          </a:cu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L"/>
          <p:cNvSpPr txBox="1"/>
          <p:nvPr/>
        </p:nvSpPr>
        <p:spPr>
          <a:xfrm>
            <a:off x="9151144" y="3235726"/>
            <a:ext cx="645714" cy="857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675"/>
              </a:lnSpc>
            </a:pPr>
            <a:r>
              <a:rPr lang="en-US" sz="488" b="0" i="0" dirty="0">
                <a:solidFill>
                  <a:srgbClr val="B4520A"/>
                </a:solidFill>
                <a:latin typeface="Segoe UI Symbol"/>
                <a:cs typeface="Segoe UI Symbol"/>
              </a:rPr>
              <a:t>→</a:t>
            </a:r>
            <a:r>
              <a:rPr lang="en-US" sz="488" b="0" i="0" dirty="0">
                <a:solidFill>
                  <a:srgbClr val="B4520A"/>
                </a:solidFill>
                <a:latin typeface="Open Sans 700"/>
                <a:cs typeface="Open Sans 700"/>
              </a:rPr>
              <a:t> WAIT branch only</a:t>
            </a:r>
          </a:p>
        </p:txBody>
      </p:sp>
      <p:sp>
        <p:nvSpPr>
          <p:cNvPr id="100" name="Path"/>
          <p:cNvSpPr/>
          <p:nvPr/>
        </p:nvSpPr>
        <p:spPr>
          <a:xfrm>
            <a:off x="6334125" y="3000375"/>
            <a:ext cx="4314825" cy="1257300"/>
          </a:xfrm>
          <a:custGeom>
            <a:avLst/>
            <a:gdLst/>
            <a:ahLst/>
            <a:cxnLst/>
            <a:rect l="0" t="0" r="4314825" b="1257300"/>
            <a:pathLst>
              <a:path w="4314825" h="1257300">
                <a:moveTo>
                  <a:pt x="4314825" y="1028700"/>
                </a:moveTo>
                <a:lnTo>
                  <a:pt x="4257675" y="1028700"/>
                </a:lnTo>
                <a:lnTo>
                  <a:pt x="4257675" y="1257300"/>
                </a:lnTo>
                <a:lnTo>
                  <a:pt x="0" y="1257300"/>
                </a:lnTo>
                <a:lnTo>
                  <a:pt x="0" y="0"/>
                </a:lnTo>
                <a:lnTo>
                  <a:pt x="85725" y="0"/>
                </a:lnTo>
              </a:path>
            </a:pathLst>
          </a:custGeom>
          <a:noFill/>
          <a:ln w="13335" cap="flat">
            <a:solidFill>
              <a:srgbClr val="A9A9A9"/>
            </a:solidFill>
            <a:prstDash val="dash"/>
          </a:ln>
        </p:spPr>
        <p:txBody>
          <a:bodyPr/>
          <a:lstStyle/>
          <a:p/>
        </p:txBody>
      </p:sp>
      <p:sp>
        <p:nvSpPr>
          <p:cNvPr id="101" name="Arrow"/>
          <p:cNvSpPr/>
          <p:nvPr/>
        </p:nvSpPr>
        <p:spPr>
          <a:xfrm>
            <a:off x="6339840" y="2960370"/>
            <a:ext cx="80010" cy="80010"/>
          </a:xfrm>
          <a:custGeom>
            <a:avLst/>
            <a:gdLst/>
            <a:ahLst/>
            <a:cxnLst/>
            <a:rect l="0" t="0" r="80010" b="80010"/>
            <a:pathLst>
              <a:path w="80010" h="80010">
                <a:moveTo>
                  <a:pt x="80010" y="40005"/>
                </a:moveTo>
                <a:lnTo>
                  <a:pt x="0" y="80010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L"/>
          <p:cNvSpPr txBox="1"/>
          <p:nvPr/>
        </p:nvSpPr>
        <p:spPr>
          <a:xfrm>
            <a:off x="7221885" y="4292788"/>
            <a:ext cx="941389" cy="857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675"/>
              </a:lnSpc>
            </a:pPr>
            <a:r>
              <a:rPr lang="en-US" sz="525" b="0" i="0" dirty="0">
                <a:solidFill>
                  <a:srgbClr val="7A7A7A"/>
                </a:solidFill>
                <a:latin typeface="Open Sans 400 It"/>
                <a:cs typeface="Open Sans 400 It"/>
              </a:rPr>
              <a:t>A/B tested against the forecast:</a:t>
            </a:r>
          </a:p>
        </p:txBody>
      </p:sp>
      <p:sp>
        <p:nvSpPr>
          <p:cNvPr id="102" name="L"/>
          <p:cNvSpPr txBox="1"/>
          <p:nvPr/>
        </p:nvSpPr>
        <p:spPr>
          <a:xfrm>
            <a:off x="7214071" y="4388038"/>
            <a:ext cx="955198" cy="857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675"/>
              </a:lnSpc>
            </a:pPr>
            <a:r>
              <a:rPr lang="en-US" sz="525" b="0" i="0" dirty="0">
                <a:solidFill>
                  <a:srgbClr val="7A7A7A"/>
                </a:solidFill>
                <a:latin typeface="Open Sans 400 It"/>
                <a:cs typeface="Open Sans 400 It"/>
              </a:rPr>
              <a:t>no measured lift, and we say so</a:t>
            </a:r>
          </a:p>
        </p:txBody>
      </p:sp>
      <p:sp>
        <p:nvSpPr>
          <p:cNvPr id="102" name="Path"/>
          <p:cNvSpPr/>
          <p:nvPr/>
        </p:nvSpPr>
        <p:spPr>
          <a:xfrm>
            <a:off x="8972550" y="2047875"/>
            <a:ext cx="1676400" cy="2781300"/>
          </a:xfrm>
          <a:custGeom>
            <a:avLst/>
            <a:gdLst/>
            <a:ahLst/>
            <a:cxnLst/>
            <a:rect l="0" t="0" r="1676400" b="2781300"/>
            <a:pathLst>
              <a:path w="1676400" h="2781300">
                <a:moveTo>
                  <a:pt x="1676400" y="2495550"/>
                </a:moveTo>
                <a:lnTo>
                  <a:pt x="1562100" y="2495550"/>
                </a:lnTo>
                <a:lnTo>
                  <a:pt x="1562100" y="2781300"/>
                </a:lnTo>
                <a:lnTo>
                  <a:pt x="47625" y="2781300"/>
                </a:lnTo>
                <a:lnTo>
                  <a:pt x="47625" y="0"/>
                </a:lnTo>
                <a:lnTo>
                  <a:pt x="0" y="0"/>
                </a:lnTo>
              </a:path>
            </a:pathLst>
          </a:custGeom>
          <a:noFill/>
          <a:ln w="14288" cap="flat">
            <a:solidFill>
              <a:srgbClr val="7B6096"/>
            </a:solidFill>
            <a:prstDash val="dash"/>
          </a:ln>
        </p:spPr>
        <p:txBody>
          <a:bodyPr/>
          <a:lstStyle/>
          <a:p/>
        </p:txBody>
      </p:sp>
      <p:sp>
        <p:nvSpPr>
          <p:cNvPr id="103" name="Arrow"/>
          <p:cNvSpPr/>
          <p:nvPr/>
        </p:nvSpPr>
        <p:spPr>
          <a:xfrm>
            <a:off x="8972550" y="2005012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0" y="42862"/>
                </a:moveTo>
                <a:lnTo>
                  <a:pt x="85725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L"/>
          <p:cNvSpPr txBox="1"/>
          <p:nvPr/>
        </p:nvSpPr>
        <p:spPr>
          <a:xfrm>
            <a:off x="9450214" y="4721413"/>
            <a:ext cx="686642" cy="857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675"/>
              </a:lnSpc>
            </a:pPr>
            <a:r>
              <a:rPr lang="en-US" sz="525" b="0" i="0" dirty="0">
                <a:solidFill>
                  <a:srgbClr val="5B4477"/>
                </a:solidFill>
                <a:latin typeface="Open Sans 700"/>
                <a:cs typeface="Open Sans 700"/>
              </a:rPr>
              <a:t>re-runs the decision</a:t>
            </a:r>
          </a:p>
        </p:txBody>
      </p:sp>
      <p:sp>
        <p:nvSpPr>
          <p:cNvPr id="104" name="Rect"/>
          <p:cNvSpPr/>
          <p:nvPr/>
        </p:nvSpPr>
        <p:spPr>
          <a:xfrm>
            <a:off x="6419850" y="4924425"/>
            <a:ext cx="5372100" cy="476250"/>
          </a:xfrm>
          <a:prstGeom prst="roundRect">
            <a:avLst>
              <a:gd name="adj" fmla="val 20000"/>
            </a:avLst>
          </a:prstGeom>
          <a:solidFill>
            <a:srgbClr val="DCEEF8"/>
          </a:solidFill>
          <a:ln w="1714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05" name="L"/>
          <p:cNvSpPr txBox="1"/>
          <p:nvPr/>
        </p:nvSpPr>
        <p:spPr>
          <a:xfrm>
            <a:off x="6543675" y="4994864"/>
            <a:ext cx="1000010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1012" b="0" i="0" dirty="0">
                <a:solidFill>
                  <a:srgbClr val="1F4E79"/>
                </a:solidFill>
                <a:latin typeface="Montserrat 800"/>
                <a:cs typeface="Montserrat 800"/>
              </a:rPr>
              <a:t>LOCK or WAIT</a:t>
            </a:r>
          </a:p>
        </p:txBody>
      </p:sp>
      <p:sp>
        <p:nvSpPr>
          <p:cNvPr id="105" name="L"/>
          <p:cNvSpPr txBox="1"/>
          <p:nvPr/>
        </p:nvSpPr>
        <p:spPr>
          <a:xfrm>
            <a:off x="6543675" y="5168661"/>
            <a:ext cx="89464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3A6E9E"/>
                </a:solidFill>
                <a:latin typeface="Open Sans 400 It"/>
                <a:cs typeface="Open Sans 400 It"/>
              </a:rPr>
              <a:t>with the arithmetic shown</a:t>
            </a:r>
          </a:p>
        </p:txBody>
      </p:sp>
      <p:sp>
        <p:nvSpPr>
          <p:cNvPr id="105" name="Rect"/>
          <p:cNvSpPr/>
          <p:nvPr/>
        </p:nvSpPr>
        <p:spPr>
          <a:xfrm>
            <a:off x="7943850" y="5067300"/>
            <a:ext cx="71247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06" name="L"/>
          <p:cNvSpPr txBox="1"/>
          <p:nvPr/>
        </p:nvSpPr>
        <p:spPr>
          <a:xfrm>
            <a:off x="8070369" y="5106749"/>
            <a:ext cx="45080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1F4E79"/>
                </a:solidFill>
                <a:latin typeface="Open Sans 600"/>
                <a:cs typeface="Open Sans 600"/>
              </a:rPr>
              <a:t>vessel class</a:t>
            </a:r>
          </a:p>
        </p:txBody>
      </p:sp>
      <p:sp>
        <p:nvSpPr>
          <p:cNvPr id="106" name="Rect"/>
          <p:cNvSpPr/>
          <p:nvPr/>
        </p:nvSpPr>
        <p:spPr>
          <a:xfrm>
            <a:off x="8722995" y="5067300"/>
            <a:ext cx="852488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07" name="L"/>
          <p:cNvSpPr txBox="1"/>
          <p:nvPr/>
        </p:nvSpPr>
        <p:spPr>
          <a:xfrm>
            <a:off x="8826951" y="5106749"/>
            <a:ext cx="638659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1F4E79"/>
                </a:solidFill>
                <a:latin typeface="Open Sans 600"/>
                <a:cs typeface="Open Sans 600"/>
              </a:rPr>
              <a:t>voyage schedule</a:t>
            </a:r>
          </a:p>
        </p:txBody>
      </p:sp>
      <p:sp>
        <p:nvSpPr>
          <p:cNvPr id="107" name="Rect"/>
          <p:cNvSpPr/>
          <p:nvPr/>
        </p:nvSpPr>
        <p:spPr>
          <a:xfrm>
            <a:off x="9642158" y="5067300"/>
            <a:ext cx="665798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08" name="L"/>
          <p:cNvSpPr txBox="1"/>
          <p:nvPr/>
        </p:nvSpPr>
        <p:spPr>
          <a:xfrm>
            <a:off x="9753526" y="5106749"/>
            <a:ext cx="45102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1F4E79"/>
                </a:solidFill>
                <a:latin typeface="Open Sans 600"/>
                <a:cs typeface="Open Sans 600"/>
              </a:rPr>
              <a:t>landed cost</a:t>
            </a:r>
          </a:p>
        </p:txBody>
      </p:sp>
      <p:sp>
        <p:nvSpPr>
          <p:cNvPr id="108" name="Rect"/>
          <p:cNvSpPr/>
          <p:nvPr/>
        </p:nvSpPr>
        <p:spPr>
          <a:xfrm>
            <a:off x="10374630" y="5067300"/>
            <a:ext cx="52578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09" name="L"/>
          <p:cNvSpPr txBox="1"/>
          <p:nvPr/>
        </p:nvSpPr>
        <p:spPr>
          <a:xfrm>
            <a:off x="10476935" y="5106749"/>
            <a:ext cx="32132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1F4E79"/>
                </a:solidFill>
                <a:latin typeface="Open Sans 600"/>
                <a:cs typeface="Open Sans 600"/>
              </a:rPr>
              <a:t>CII band</a:t>
            </a:r>
          </a:p>
        </p:txBody>
      </p:sp>
      <p:sp>
        <p:nvSpPr>
          <p:cNvPr id="109" name="Rect"/>
          <p:cNvSpPr/>
          <p:nvPr/>
        </p:nvSpPr>
        <p:spPr>
          <a:xfrm>
            <a:off x="10967085" y="5067300"/>
            <a:ext cx="572452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10" name="L"/>
          <p:cNvSpPr txBox="1"/>
          <p:nvPr/>
        </p:nvSpPr>
        <p:spPr>
          <a:xfrm>
            <a:off x="11050756" y="5106749"/>
            <a:ext cx="405222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00" b="0" i="0" dirty="0">
                <a:solidFill>
                  <a:srgbClr val="1F4E79"/>
                </a:solidFill>
                <a:latin typeface="Open Sans 600"/>
                <a:cs typeface="Open Sans 600"/>
              </a:rPr>
              <a:t>route map</a:t>
            </a:r>
          </a:p>
        </p:txBody>
      </p:sp>
      <p:sp>
        <p:nvSpPr>
          <p:cNvPr id="110" name="Path"/>
          <p:cNvSpPr/>
          <p:nvPr/>
        </p:nvSpPr>
        <p:spPr>
          <a:xfrm>
            <a:off x="10534650" y="5400675"/>
            <a:ext cx="95" cy="133350"/>
          </a:xfrm>
          <a:custGeom>
            <a:avLst/>
            <a:gdLst/>
            <a:ahLst/>
            <a:cxnLst/>
            <a:rect l="0" t="0" r="95" b="133350"/>
            <a:pathLst>
              <a:path w="9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4288" cap="flat">
            <a:solidFill>
              <a:srgbClr val="7B6096"/>
            </a:solidFill>
            <a:prstDash val="dash"/>
          </a:ln>
        </p:spPr>
        <p:txBody>
          <a:bodyPr/>
          <a:lstStyle/>
          <a:p/>
        </p:txBody>
      </p:sp>
      <p:sp>
        <p:nvSpPr>
          <p:cNvPr id="111" name="Arrow"/>
          <p:cNvSpPr/>
          <p:nvPr/>
        </p:nvSpPr>
        <p:spPr>
          <a:xfrm>
            <a:off x="10491788" y="5448300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42862" y="85725"/>
                </a:moveTo>
                <a:lnTo>
                  <a:pt x="0" y="0"/>
                </a:lnTo>
                <a:lnTo>
                  <a:pt x="85725" y="0"/>
                </a:lnTo>
                <a:close/>
              </a:path>
            </a:pathLst>
          </a:cu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Rect"/>
          <p:cNvSpPr/>
          <p:nvPr/>
        </p:nvSpPr>
        <p:spPr>
          <a:xfrm>
            <a:off x="9277350" y="5534025"/>
            <a:ext cx="2514600" cy="400050"/>
          </a:xfrm>
          <a:prstGeom prst="roundRect">
            <a:avLst>
              <a:gd name="adj" fmla="val 21429"/>
            </a:avLst>
          </a:prstGeom>
          <a:solidFill>
            <a:srgbClr val="EDE7F2"/>
          </a:solidFill>
          <a:ln w="17145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13" name="L"/>
          <p:cNvSpPr txBox="1"/>
          <p:nvPr/>
        </p:nvSpPr>
        <p:spPr>
          <a:xfrm>
            <a:off x="9954518" y="5606171"/>
            <a:ext cx="115993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2" b="0" i="0" dirty="0">
                <a:solidFill>
                  <a:srgbClr val="5B4477"/>
                </a:solidFill>
                <a:latin typeface="Montserrat 800"/>
                <a:cs typeface="Montserrat 800"/>
              </a:rPr>
              <a:t>APPEND-ONLY LEDGER</a:t>
            </a:r>
          </a:p>
        </p:txBody>
      </p:sp>
      <p:sp>
        <p:nvSpPr>
          <p:cNvPr id="113" name="L"/>
          <p:cNvSpPr txBox="1"/>
          <p:nvPr/>
        </p:nvSpPr>
        <p:spPr>
          <a:xfrm>
            <a:off x="9643542" y="5740375"/>
            <a:ext cx="1790974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6B5A85"/>
                </a:solidFill>
                <a:latin typeface="Open Sans 400"/>
                <a:cs typeface="Open Sans 400"/>
              </a:rPr>
              <a:t>Entries cannot be edited or deleted, only scored later</a:t>
            </a:r>
          </a:p>
        </p:txBody>
      </p:sp>
      <p:sp>
        <p:nvSpPr>
          <p:cNvPr id="113" name="Path"/>
          <p:cNvSpPr/>
          <p:nvPr/>
        </p:nvSpPr>
        <p:spPr>
          <a:xfrm>
            <a:off x="11791950" y="1390650"/>
            <a:ext cx="76200" cy="4343400"/>
          </a:xfrm>
          <a:custGeom>
            <a:avLst/>
            <a:gdLst/>
            <a:ahLst/>
            <a:cxnLst/>
            <a:rect l="0" t="0" r="76200" b="4343400"/>
            <a:pathLst>
              <a:path w="76200" h="4343400">
                <a:moveTo>
                  <a:pt x="0" y="4343400"/>
                </a:moveTo>
                <a:lnTo>
                  <a:pt x="76200" y="4343400"/>
                </a:lnTo>
                <a:lnTo>
                  <a:pt x="76200" y="0"/>
                </a:lnTo>
                <a:lnTo>
                  <a:pt x="0" y="0"/>
                </a:lnTo>
              </a:path>
            </a:pathLst>
          </a:custGeom>
          <a:noFill/>
          <a:ln w="14288" cap="flat">
            <a:solidFill>
              <a:srgbClr val="7B6096"/>
            </a:solidFill>
            <a:prstDash val="dash"/>
          </a:ln>
        </p:spPr>
        <p:txBody>
          <a:bodyPr/>
          <a:lstStyle/>
          <a:p/>
        </p:txBody>
      </p:sp>
      <p:sp>
        <p:nvSpPr>
          <p:cNvPr id="114" name="Arrow"/>
          <p:cNvSpPr/>
          <p:nvPr/>
        </p:nvSpPr>
        <p:spPr>
          <a:xfrm>
            <a:off x="11791950" y="1347788"/>
            <a:ext cx="85725" cy="85725"/>
          </a:xfrm>
          <a:custGeom>
            <a:avLst/>
            <a:gdLst/>
            <a:ahLst/>
            <a:cxnLst/>
            <a:rect l="0" t="0" r="85725" b="85725"/>
            <a:pathLst>
              <a:path w="85725" h="85725">
                <a:moveTo>
                  <a:pt x="0" y="42862"/>
                </a:moveTo>
                <a:lnTo>
                  <a:pt x="85725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Rect"/>
          <p:cNvSpPr/>
          <p:nvPr/>
        </p:nvSpPr>
        <p:spPr>
          <a:xfrm>
            <a:off x="6419850" y="5534025"/>
            <a:ext cx="251460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3335" cap="flat">
            <a:solidFill>
              <a:srgbClr val="C9C9C9"/>
            </a:solidFill>
            <a:prstDash val="dash"/>
          </a:ln>
        </p:spPr>
        <p:txBody>
          <a:bodyPr/>
          <a:lstStyle/>
          <a:p/>
        </p:txBody>
      </p:sp>
      <p:sp>
        <p:nvSpPr>
          <p:cNvPr id="116" name="L"/>
          <p:cNvSpPr txBox="1"/>
          <p:nvPr/>
        </p:nvSpPr>
        <p:spPr>
          <a:xfrm>
            <a:off x="6971556" y="5577810"/>
            <a:ext cx="140166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75" b="0" i="0" dirty="0">
                <a:solidFill>
                  <a:srgbClr val="5A5A5A"/>
                </a:solidFill>
                <a:latin typeface="Montserrat 800"/>
                <a:cs typeface="Montserrat 800"/>
              </a:rPr>
              <a:t>SEVEN SCREENS, ONE ENGINE</a:t>
            </a:r>
          </a:p>
        </p:txBody>
      </p:sp>
      <p:sp>
        <p:nvSpPr>
          <p:cNvPr id="116" name="L"/>
          <p:cNvSpPr txBox="1"/>
          <p:nvPr/>
        </p:nvSpPr>
        <p:spPr>
          <a:xfrm>
            <a:off x="6860604" y="5692750"/>
            <a:ext cx="1627315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6E6E6E"/>
                </a:solidFill>
                <a:latin typeface="Open Sans 400"/>
                <a:cs typeface="Open Sans 400"/>
              </a:rPr>
              <a:t>Voyage Desk · Portfolio · Season Plan · Port Twin</a:t>
            </a:r>
          </a:p>
        </p:txBody>
      </p:sp>
      <p:sp>
        <p:nvSpPr>
          <p:cNvPr id="116" name="L"/>
          <p:cNvSpPr txBox="1"/>
          <p:nvPr/>
        </p:nvSpPr>
        <p:spPr>
          <a:xfrm>
            <a:off x="7125667" y="5788000"/>
            <a:ext cx="1102205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6E6E6E"/>
                </a:solidFill>
                <a:latin typeface="Open Sans 400"/>
                <a:cs typeface="Open Sans 400"/>
              </a:rPr>
              <a:t>Tonnage Field · Fragility · Ledger</a:t>
            </a:r>
          </a:p>
        </p:txBody>
      </p:sp>
      <p:sp>
        <p:nvSpPr>
          <p:cNvPr id="116" name="Path"/>
          <p:cNvSpPr/>
          <p:nvPr/>
        </p:nvSpPr>
        <p:spPr>
          <a:xfrm>
            <a:off x="6419850" y="6353175"/>
            <a:ext cx="171450" cy="95"/>
          </a:xfrm>
          <a:custGeom>
            <a:avLst/>
            <a:gdLst/>
            <a:ahLst/>
            <a:cxnLst/>
            <a:rect l="0" t="0" r="171450" b="95"/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7145" cap="flat">
            <a:solidFill>
              <a:srgbClr val="7F9BB0"/>
            </a:solidFill>
            <a:prstDash val="solid"/>
          </a:ln>
        </p:spPr>
        <p:txBody>
          <a:bodyPr/>
          <a:lstStyle/>
          <a:p/>
        </p:txBody>
      </p:sp>
      <p:sp>
        <p:nvSpPr>
          <p:cNvPr id="117" name="L"/>
          <p:cNvSpPr txBox="1"/>
          <p:nvPr/>
        </p:nvSpPr>
        <p:spPr>
          <a:xfrm>
            <a:off x="6629400" y="6302350"/>
            <a:ext cx="337884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A5A5A"/>
                </a:solidFill>
                <a:latin typeface="Open Sans 400"/>
                <a:cs typeface="Open Sans 400"/>
              </a:rPr>
              <a:t>data flow</a:t>
            </a:r>
          </a:p>
        </p:txBody>
      </p:sp>
      <p:sp>
        <p:nvSpPr>
          <p:cNvPr id="117" name="Path"/>
          <p:cNvSpPr/>
          <p:nvPr/>
        </p:nvSpPr>
        <p:spPr>
          <a:xfrm>
            <a:off x="7202329" y="6353175"/>
            <a:ext cx="171450" cy="95"/>
          </a:xfrm>
          <a:custGeom>
            <a:avLst/>
            <a:gdLst/>
            <a:ahLst/>
            <a:cxnLst/>
            <a:rect l="0" t="0" r="171450" b="95"/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714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18" name="L"/>
          <p:cNvSpPr txBox="1"/>
          <p:nvPr/>
        </p:nvSpPr>
        <p:spPr>
          <a:xfrm>
            <a:off x="7411879" y="6302350"/>
            <a:ext cx="488568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A5A5A"/>
                </a:solidFill>
                <a:latin typeface="Open Sans 400"/>
                <a:cs typeface="Open Sans 400"/>
              </a:rPr>
              <a:t>one-way edge</a:t>
            </a:r>
          </a:p>
        </p:txBody>
      </p:sp>
      <p:sp>
        <p:nvSpPr>
          <p:cNvPr id="118" name="Path"/>
          <p:cNvSpPr/>
          <p:nvPr/>
        </p:nvSpPr>
        <p:spPr>
          <a:xfrm>
            <a:off x="8109109" y="6353175"/>
            <a:ext cx="171450" cy="95"/>
          </a:xfrm>
          <a:custGeom>
            <a:avLst/>
            <a:gdLst/>
            <a:ahLst/>
            <a:cxnLst/>
            <a:rect l="0" t="0" r="171450" b="95"/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7145" cap="flat">
            <a:solidFill>
              <a:srgbClr val="7B6096"/>
            </a:solidFill>
            <a:prstDash val="dash"/>
          </a:ln>
        </p:spPr>
        <p:txBody>
          <a:bodyPr/>
          <a:lstStyle/>
          <a:p/>
        </p:txBody>
      </p:sp>
      <p:sp>
        <p:nvSpPr>
          <p:cNvPr id="119" name="L"/>
          <p:cNvSpPr txBox="1"/>
          <p:nvPr/>
        </p:nvSpPr>
        <p:spPr>
          <a:xfrm>
            <a:off x="8309134" y="6302350"/>
            <a:ext cx="501860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A5A5A"/>
                </a:solidFill>
                <a:latin typeface="Open Sans 400"/>
                <a:cs typeface="Open Sans 400"/>
              </a:rPr>
              <a:t>feedback loop</a:t>
            </a:r>
          </a:p>
        </p:txBody>
      </p:sp>
      <p:sp>
        <p:nvSpPr>
          <p:cNvPr id="119" name="Path"/>
          <p:cNvSpPr/>
          <p:nvPr/>
        </p:nvSpPr>
        <p:spPr>
          <a:xfrm>
            <a:off x="9057322" y="6353175"/>
            <a:ext cx="171450" cy="95"/>
          </a:xfrm>
          <a:custGeom>
            <a:avLst/>
            <a:gdLst/>
            <a:ahLst/>
            <a:cxnLst/>
            <a:rect l="0" t="0" r="171450" b="95"/>
            <a:pathLst>
              <a:path w="171450" h="95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7145" cap="flat">
            <a:solidFill>
              <a:srgbClr val="A9A9A9"/>
            </a:solidFill>
            <a:prstDash val="dash"/>
          </a:ln>
        </p:spPr>
        <p:txBody>
          <a:bodyPr/>
          <a:lstStyle/>
          <a:p/>
        </p:txBody>
      </p:sp>
      <p:sp>
        <p:nvSpPr>
          <p:cNvPr id="120" name="L"/>
          <p:cNvSpPr txBox="1"/>
          <p:nvPr/>
        </p:nvSpPr>
        <p:spPr>
          <a:xfrm>
            <a:off x="9266873" y="6302350"/>
            <a:ext cx="689342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A5A5A"/>
                </a:solidFill>
                <a:latin typeface="Open Sans 400"/>
                <a:cs typeface="Open Sans 400"/>
              </a:rPr>
              <a:t>measured, no effect</a:t>
            </a:r>
          </a:p>
        </p:txBody>
      </p:sp>
      <p:sp>
        <p:nvSpPr>
          <p:cNvPr id="120" name="L"/>
          <p:cNvSpPr txBox="1"/>
          <p:nvPr/>
        </p:nvSpPr>
        <p:spPr>
          <a:xfrm>
            <a:off x="10276880" y="6302350"/>
            <a:ext cx="1525249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62" b="0" i="0" dirty="0">
                <a:solidFill>
                  <a:srgbClr val="5A5A5A"/>
                </a:solidFill>
                <a:latin typeface="Open Sans 700"/>
                <a:cs typeface="Open Sans 700"/>
              </a:rPr>
              <a:t>21 endpoints · 7 screens · 1,130 tests green</a:t>
            </a:r>
          </a:p>
        </p:txBody>
      </p:sp>
      <p:sp>
        <p:nvSpPr>
          <p:cNvPr id="120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121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1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Box"/>
          <p:cNvSpPr/>
          <p:nvPr/>
        </p:nvSpPr>
        <p:spPr>
          <a:xfrm>
            <a:off x="257175" y="180975"/>
            <a:ext cx="1181100" cy="552450"/>
          </a:xfrm>
          <a:prstGeom prst="ellipse">
            <a:avLst/>
          </a:prstGeom>
          <a:noFill/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23" name="T"/>
          <p:cNvSpPr txBox="1"/>
          <p:nvPr/>
        </p:nvSpPr>
        <p:spPr>
          <a:xfrm>
            <a:off x="661690" y="313543"/>
            <a:ext cx="37177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CODE</a:t>
            </a:r>
          </a:p>
        </p:txBody>
      </p:sp>
      <p:sp>
        <p:nvSpPr>
          <p:cNvPr id="123" name="T"/>
          <p:cNvSpPr txBox="1"/>
          <p:nvPr/>
        </p:nvSpPr>
        <p:spPr>
          <a:xfrm>
            <a:off x="539502" y="450614"/>
            <a:ext cx="6162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HACKERZ</a:t>
            </a:r>
          </a:p>
        </p:txBody>
      </p:sp>
      <p:sp>
        <p:nvSpPr>
          <p:cNvPr id="123" name="T"/>
          <p:cNvSpPr txBox="1"/>
          <p:nvPr/>
        </p:nvSpPr>
        <p:spPr>
          <a:xfrm>
            <a:off x="3750915" y="124052"/>
            <a:ext cx="4537770" cy="4476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3525"/>
              </a:lnSpc>
            </a:pPr>
            <a:r>
              <a:rPr lang="en-US" sz="2850" b="0" i="0" dirty="0" spc="-29">
                <a:solidFill>
                  <a:srgbClr val="000000"/>
                </a:solidFill>
                <a:latin typeface="Montserrat 900"/>
                <a:cs typeface="Montserrat 900"/>
              </a:rPr>
              <a:t>TECHNICAL APPROACH</a:t>
            </a:r>
          </a:p>
        </p:txBody>
      </p:sp>
      <p:sp>
        <p:nvSpPr>
          <p:cNvPr id="123" name="T"/>
          <p:cNvSpPr txBox="1"/>
          <p:nvPr/>
        </p:nvSpPr>
        <p:spPr>
          <a:xfrm>
            <a:off x="2540645" y="584103"/>
            <a:ext cx="6958310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125" b="0" i="0" dirty="0">
                <a:solidFill>
                  <a:srgbClr val="111111"/>
                </a:solidFill>
                <a:latin typeface="Montserrat 700"/>
                <a:cs typeface="Montserrat 700"/>
              </a:rPr>
              <a:t>One rule holds at every stage: never fabricate a number. Verified today by 1,130 passing tests.</a:t>
            </a:r>
          </a:p>
        </p:txBody>
      </p:sp>
      <p:pic>
        <p:nvPicPr>
          <p:cNvPr id="124" name="Picture 123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136326"/>
            <a:ext cx="1352550" cy="641746"/>
          </a:xfrm>
          <a:prstGeom prst="rect">
            <a:avLst/>
          </a:prstGeom>
        </p:spPr>
      </p:pic>
      <p:sp>
        <p:nvSpPr>
          <p:cNvPr id="123" name="Box"/>
          <p:cNvSpPr/>
          <p:nvPr/>
        </p:nvSpPr>
        <p:spPr>
          <a:xfrm>
            <a:off x="247650" y="857250"/>
            <a:ext cx="1886843" cy="266700"/>
          </a:xfrm>
          <a:prstGeom prst="roundRect">
            <a:avLst>
              <a:gd name="adj" fmla="val 14286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T"/>
          <p:cNvSpPr txBox="1"/>
          <p:nvPr/>
        </p:nvSpPr>
        <p:spPr>
          <a:xfrm>
            <a:off x="390525" y="908303"/>
            <a:ext cx="1601093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 spc="21">
                <a:solidFill>
                  <a:srgbClr val="FFFFFF"/>
                </a:solidFill>
                <a:latin typeface="Montserrat 700"/>
                <a:cs typeface="Montserrat 700"/>
              </a:rPr>
              <a:t>TECHNOLOGIES USED</a:t>
            </a:r>
          </a:p>
        </p:txBody>
      </p:sp>
      <p:sp>
        <p:nvSpPr>
          <p:cNvPr id="124" name="T"/>
          <p:cNvSpPr txBox="1"/>
          <p:nvPr/>
        </p:nvSpPr>
        <p:spPr>
          <a:xfrm>
            <a:off x="238125" y="1212736"/>
            <a:ext cx="119776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38" b="0" i="0" dirty="0" spc="28">
                <a:solidFill>
                  <a:srgbClr val="1F4E79"/>
                </a:solidFill>
                <a:latin typeface="Montserrat 700"/>
                <a:cs typeface="Montserrat 700"/>
              </a:rPr>
              <a:t>DATA &amp; BACKEND</a:t>
            </a:r>
          </a:p>
        </p:txBody>
      </p:sp>
      <p:sp>
        <p:nvSpPr>
          <p:cNvPr id="124" name="Box"/>
          <p:cNvSpPr/>
          <p:nvPr/>
        </p:nvSpPr>
        <p:spPr>
          <a:xfrm>
            <a:off x="252412" y="1395412"/>
            <a:ext cx="729555" cy="200025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952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25" name="T"/>
          <p:cNvSpPr txBox="1"/>
          <p:nvPr/>
        </p:nvSpPr>
        <p:spPr>
          <a:xfrm>
            <a:off x="323850" y="1431321"/>
            <a:ext cx="586680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FFFFFF"/>
                </a:solidFill>
                <a:latin typeface="Open Sans 600"/>
                <a:cs typeface="Open Sans 600"/>
              </a:rPr>
              <a:t>Python 3.12</a:t>
            </a:r>
          </a:p>
        </p:txBody>
      </p:sp>
      <p:sp>
        <p:nvSpPr>
          <p:cNvPr id="125" name="Box"/>
          <p:cNvSpPr/>
          <p:nvPr/>
        </p:nvSpPr>
        <p:spPr>
          <a:xfrm>
            <a:off x="1029593" y="1395412"/>
            <a:ext cx="519708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26" name="T"/>
          <p:cNvSpPr txBox="1"/>
          <p:nvPr/>
        </p:nvSpPr>
        <p:spPr>
          <a:xfrm>
            <a:off x="1101030" y="1431321"/>
            <a:ext cx="376833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1F4E79"/>
                </a:solidFill>
                <a:latin typeface="Open Sans 600"/>
                <a:cs typeface="Open Sans 600"/>
              </a:rPr>
              <a:t>FastAPI</a:t>
            </a:r>
          </a:p>
        </p:txBody>
      </p:sp>
      <p:sp>
        <p:nvSpPr>
          <p:cNvPr id="126" name="Box"/>
          <p:cNvSpPr/>
          <p:nvPr/>
        </p:nvSpPr>
        <p:spPr>
          <a:xfrm>
            <a:off x="1596926" y="1395412"/>
            <a:ext cx="462260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27" name="T"/>
          <p:cNvSpPr txBox="1"/>
          <p:nvPr/>
        </p:nvSpPr>
        <p:spPr>
          <a:xfrm>
            <a:off x="1668363" y="1431321"/>
            <a:ext cx="319385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1F4E79"/>
                </a:solidFill>
                <a:latin typeface="Open Sans 600"/>
                <a:cs typeface="Open Sans 600"/>
              </a:rPr>
              <a:t>Polars</a:t>
            </a:r>
          </a:p>
        </p:txBody>
      </p:sp>
      <p:sp>
        <p:nvSpPr>
          <p:cNvPr id="127" name="Box"/>
          <p:cNvSpPr/>
          <p:nvPr/>
        </p:nvSpPr>
        <p:spPr>
          <a:xfrm>
            <a:off x="252412" y="1643062"/>
            <a:ext cx="714524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28" name="T"/>
          <p:cNvSpPr txBox="1"/>
          <p:nvPr/>
        </p:nvSpPr>
        <p:spPr>
          <a:xfrm>
            <a:off x="323850" y="1678971"/>
            <a:ext cx="571649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1F4E79"/>
                </a:solidFill>
                <a:latin typeface="Open Sans 600"/>
                <a:cs typeface="Open Sans 600"/>
              </a:rPr>
              <a:t>Pydantic v2</a:t>
            </a:r>
          </a:p>
        </p:txBody>
      </p:sp>
      <p:sp>
        <p:nvSpPr>
          <p:cNvPr id="128" name="Box"/>
          <p:cNvSpPr/>
          <p:nvPr/>
        </p:nvSpPr>
        <p:spPr>
          <a:xfrm>
            <a:off x="1014561" y="1643062"/>
            <a:ext cx="547688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1085999" y="1678971"/>
            <a:ext cx="404812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1F4E79"/>
                </a:solidFill>
                <a:latin typeface="Open Sans 600"/>
                <a:cs typeface="Open Sans 600"/>
              </a:rPr>
              <a:t>Parquet</a:t>
            </a:r>
          </a:p>
        </p:txBody>
      </p:sp>
      <p:sp>
        <p:nvSpPr>
          <p:cNvPr id="129" name="T"/>
          <p:cNvSpPr txBox="1"/>
          <p:nvPr/>
        </p:nvSpPr>
        <p:spPr>
          <a:xfrm>
            <a:off x="2594521" y="1212736"/>
            <a:ext cx="136505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38" b="0" i="0" dirty="0" spc="28">
                <a:solidFill>
                  <a:srgbClr val="8A6100"/>
                </a:solidFill>
                <a:latin typeface="Montserrat 700"/>
                <a:cs typeface="Montserrat 700"/>
              </a:rPr>
              <a:t>MACHINE LEARNING</a:t>
            </a:r>
          </a:p>
        </p:txBody>
      </p:sp>
      <p:sp>
        <p:nvSpPr>
          <p:cNvPr id="129" name="Box"/>
          <p:cNvSpPr/>
          <p:nvPr/>
        </p:nvSpPr>
        <p:spPr>
          <a:xfrm>
            <a:off x="2608808" y="1395412"/>
            <a:ext cx="999381" cy="200025"/>
          </a:xfrm>
          <a:prstGeom prst="roundRect">
            <a:avLst>
              <a:gd name="adj" fmla="val 50000"/>
            </a:avLst>
          </a:prstGeom>
          <a:solidFill>
            <a:srgbClr val="E8A200"/>
          </a:solidFill>
          <a:ln w="952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30" name="T"/>
          <p:cNvSpPr txBox="1"/>
          <p:nvPr/>
        </p:nvSpPr>
        <p:spPr>
          <a:xfrm>
            <a:off x="2680246" y="1431321"/>
            <a:ext cx="856506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FFFFFF"/>
                </a:solidFill>
                <a:latin typeface="Open Sans 600"/>
                <a:cs typeface="Open Sans 600"/>
              </a:rPr>
              <a:t>XGBoost quantile</a:t>
            </a:r>
          </a:p>
        </p:txBody>
      </p:sp>
      <p:sp>
        <p:nvSpPr>
          <p:cNvPr id="130" name="Box"/>
          <p:cNvSpPr/>
          <p:nvPr/>
        </p:nvSpPr>
        <p:spPr>
          <a:xfrm>
            <a:off x="3655814" y="1395412"/>
            <a:ext cx="633412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31" name="T"/>
          <p:cNvSpPr txBox="1"/>
          <p:nvPr/>
        </p:nvSpPr>
        <p:spPr>
          <a:xfrm>
            <a:off x="3727252" y="1431321"/>
            <a:ext cx="490538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8A6100"/>
                </a:solidFill>
                <a:latin typeface="Open Sans 600"/>
                <a:cs typeface="Open Sans 600"/>
              </a:rPr>
              <a:t>LightGBM</a:t>
            </a:r>
          </a:p>
        </p:txBody>
      </p:sp>
      <p:sp>
        <p:nvSpPr>
          <p:cNvPr id="131" name="Box"/>
          <p:cNvSpPr/>
          <p:nvPr/>
        </p:nvSpPr>
        <p:spPr>
          <a:xfrm>
            <a:off x="2608808" y="1643062"/>
            <a:ext cx="834926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32" name="T"/>
          <p:cNvSpPr txBox="1"/>
          <p:nvPr/>
        </p:nvSpPr>
        <p:spPr>
          <a:xfrm>
            <a:off x="2680246" y="1678971"/>
            <a:ext cx="692051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8A6100"/>
                </a:solidFill>
                <a:latin typeface="Open Sans 600"/>
                <a:cs typeface="Open Sans 600"/>
              </a:rPr>
              <a:t>PyTorch LSTM</a:t>
            </a:r>
          </a:p>
        </p:txBody>
      </p:sp>
      <p:sp>
        <p:nvSpPr>
          <p:cNvPr id="132" name="Box"/>
          <p:cNvSpPr/>
          <p:nvPr/>
        </p:nvSpPr>
        <p:spPr>
          <a:xfrm>
            <a:off x="3491359" y="1643062"/>
            <a:ext cx="703957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133" name="T"/>
          <p:cNvSpPr txBox="1"/>
          <p:nvPr/>
        </p:nvSpPr>
        <p:spPr>
          <a:xfrm>
            <a:off x="3562796" y="1678971"/>
            <a:ext cx="561082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8A6100"/>
                </a:solidFill>
                <a:latin typeface="Open Sans 600"/>
                <a:cs typeface="Open Sans 600"/>
              </a:rPr>
              <a:t>pinball loss</a:t>
            </a:r>
          </a:p>
        </p:txBody>
      </p:sp>
      <p:sp>
        <p:nvSpPr>
          <p:cNvPr id="133" name="T"/>
          <p:cNvSpPr txBox="1"/>
          <p:nvPr/>
        </p:nvSpPr>
        <p:spPr>
          <a:xfrm>
            <a:off x="4951065" y="1212736"/>
            <a:ext cx="98673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38" b="0" i="0" dirty="0" spc="28">
                <a:solidFill>
                  <a:srgbClr val="2C6B2F"/>
                </a:solidFill>
                <a:latin typeface="Montserrat 700"/>
                <a:cs typeface="Montserrat 700"/>
              </a:rPr>
              <a:t>OPTIMIZATION</a:t>
            </a:r>
          </a:p>
        </p:txBody>
      </p:sp>
      <p:sp>
        <p:nvSpPr>
          <p:cNvPr id="133" name="Box"/>
          <p:cNvSpPr/>
          <p:nvPr/>
        </p:nvSpPr>
        <p:spPr>
          <a:xfrm>
            <a:off x="4965353" y="1395412"/>
            <a:ext cx="952649" cy="200025"/>
          </a:xfrm>
          <a:prstGeom prst="roundRect">
            <a:avLst>
              <a:gd name="adj" fmla="val 50000"/>
            </a:avLst>
          </a:prstGeom>
          <a:solidFill>
            <a:srgbClr val="3E8E41"/>
          </a:solidFill>
          <a:ln w="952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34" name="T"/>
          <p:cNvSpPr txBox="1"/>
          <p:nvPr/>
        </p:nvSpPr>
        <p:spPr>
          <a:xfrm>
            <a:off x="5036790" y="1431321"/>
            <a:ext cx="809774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FFFFFF"/>
                </a:solidFill>
                <a:latin typeface="Open Sans 600"/>
                <a:cs typeface="Open Sans 600"/>
              </a:rPr>
              <a:t>OR-Tools CP-SAT</a:t>
            </a:r>
          </a:p>
        </p:txBody>
      </p:sp>
      <p:sp>
        <p:nvSpPr>
          <p:cNvPr id="134" name="Box"/>
          <p:cNvSpPr/>
          <p:nvPr/>
        </p:nvSpPr>
        <p:spPr>
          <a:xfrm>
            <a:off x="5965627" y="1395412"/>
            <a:ext cx="426839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35" name="T"/>
          <p:cNvSpPr txBox="1"/>
          <p:nvPr/>
        </p:nvSpPr>
        <p:spPr>
          <a:xfrm>
            <a:off x="6037064" y="1431321"/>
            <a:ext cx="283964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2C6B2F"/>
                </a:solidFill>
                <a:latin typeface="Open Sans 600"/>
                <a:cs typeface="Open Sans 600"/>
              </a:rPr>
              <a:t>LSMC</a:t>
            </a:r>
          </a:p>
        </p:txBody>
      </p:sp>
      <p:sp>
        <p:nvSpPr>
          <p:cNvPr id="135" name="Box"/>
          <p:cNvSpPr/>
          <p:nvPr/>
        </p:nvSpPr>
        <p:spPr>
          <a:xfrm>
            <a:off x="4965353" y="1643062"/>
            <a:ext cx="1312069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36" name="T"/>
          <p:cNvSpPr txBox="1"/>
          <p:nvPr/>
        </p:nvSpPr>
        <p:spPr>
          <a:xfrm>
            <a:off x="5036790" y="1678971"/>
            <a:ext cx="1169194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2C6B2F"/>
                </a:solidFill>
                <a:latin typeface="Open Sans 600"/>
                <a:cs typeface="Open Sans 600"/>
              </a:rPr>
              <a:t>Ornstein-Uhlenbeck MC</a:t>
            </a:r>
          </a:p>
        </p:txBody>
      </p:sp>
      <p:sp>
        <p:nvSpPr>
          <p:cNvPr id="136" name="Box"/>
          <p:cNvSpPr/>
          <p:nvPr/>
        </p:nvSpPr>
        <p:spPr>
          <a:xfrm>
            <a:off x="6325046" y="1643062"/>
            <a:ext cx="748903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37" name="T"/>
          <p:cNvSpPr txBox="1"/>
          <p:nvPr/>
        </p:nvSpPr>
        <p:spPr>
          <a:xfrm>
            <a:off x="6396484" y="1678971"/>
            <a:ext cx="606028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2C6B2F"/>
                </a:solidFill>
                <a:latin typeface="Open Sans 600"/>
                <a:cs typeface="Open Sans 600"/>
              </a:rPr>
              <a:t>grid frontier</a:t>
            </a:r>
          </a:p>
        </p:txBody>
      </p:sp>
      <p:sp>
        <p:nvSpPr>
          <p:cNvPr id="137" name="T"/>
          <p:cNvSpPr txBox="1"/>
          <p:nvPr/>
        </p:nvSpPr>
        <p:spPr>
          <a:xfrm>
            <a:off x="7307461" y="1212736"/>
            <a:ext cx="157281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38" b="0" i="0" dirty="0" spc="28">
                <a:solidFill>
                  <a:srgbClr val="5B4477"/>
                </a:solidFill>
                <a:latin typeface="Montserrat 700"/>
                <a:cs typeface="Montserrat 700"/>
              </a:rPr>
              <a:t>GEOSPATIAL &amp; DOMAIN</a:t>
            </a:r>
          </a:p>
        </p:txBody>
      </p:sp>
      <p:sp>
        <p:nvSpPr>
          <p:cNvPr id="137" name="Box"/>
          <p:cNvSpPr/>
          <p:nvPr/>
        </p:nvSpPr>
        <p:spPr>
          <a:xfrm>
            <a:off x="7321748" y="1395412"/>
            <a:ext cx="1091654" cy="200025"/>
          </a:xfrm>
          <a:prstGeom prst="roundRect">
            <a:avLst>
              <a:gd name="adj" fmla="val 50000"/>
            </a:avLst>
          </a:prstGeom>
          <a:solidFill>
            <a:srgbClr val="7B6096"/>
          </a:solidFill>
          <a:ln w="9525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38" name="T"/>
          <p:cNvSpPr txBox="1"/>
          <p:nvPr/>
        </p:nvSpPr>
        <p:spPr>
          <a:xfrm>
            <a:off x="7393186" y="1431321"/>
            <a:ext cx="948779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FFFFFF"/>
                </a:solidFill>
                <a:latin typeface="Open Sans 600"/>
                <a:cs typeface="Open Sans 600"/>
              </a:rPr>
              <a:t>searoute / Eurostat</a:t>
            </a:r>
          </a:p>
        </p:txBody>
      </p:sp>
      <p:sp>
        <p:nvSpPr>
          <p:cNvPr id="138" name="Box"/>
          <p:cNvSpPr/>
          <p:nvPr/>
        </p:nvSpPr>
        <p:spPr>
          <a:xfrm>
            <a:off x="8461028" y="1395412"/>
            <a:ext cx="783729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39" name="T"/>
          <p:cNvSpPr txBox="1"/>
          <p:nvPr/>
        </p:nvSpPr>
        <p:spPr>
          <a:xfrm>
            <a:off x="8532465" y="1431321"/>
            <a:ext cx="640854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5B4477"/>
                </a:solidFill>
                <a:latin typeface="Open Sans 600"/>
                <a:cs typeface="Open Sans 600"/>
              </a:rPr>
              <a:t>AIS port calls</a:t>
            </a:r>
          </a:p>
        </p:txBody>
      </p:sp>
      <p:sp>
        <p:nvSpPr>
          <p:cNvPr id="139" name="Box"/>
          <p:cNvSpPr/>
          <p:nvPr/>
        </p:nvSpPr>
        <p:spPr>
          <a:xfrm>
            <a:off x="7321748" y="1643062"/>
            <a:ext cx="513755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40" name="T"/>
          <p:cNvSpPr txBox="1"/>
          <p:nvPr/>
        </p:nvSpPr>
        <p:spPr>
          <a:xfrm>
            <a:off x="7393186" y="1678971"/>
            <a:ext cx="370880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5B4477"/>
                </a:solidFill>
                <a:latin typeface="Open Sans 600"/>
                <a:cs typeface="Open Sans 600"/>
              </a:rPr>
              <a:t>IMO CII</a:t>
            </a:r>
          </a:p>
        </p:txBody>
      </p:sp>
      <p:sp>
        <p:nvSpPr>
          <p:cNvPr id="140" name="Box"/>
          <p:cNvSpPr/>
          <p:nvPr/>
        </p:nvSpPr>
        <p:spPr>
          <a:xfrm>
            <a:off x="7883128" y="1643062"/>
            <a:ext cx="542627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41" name="T"/>
          <p:cNvSpPr txBox="1"/>
          <p:nvPr/>
        </p:nvSpPr>
        <p:spPr>
          <a:xfrm>
            <a:off x="7954566" y="1678971"/>
            <a:ext cx="399752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5B4477"/>
                </a:solidFill>
                <a:latin typeface="Open Sans 600"/>
                <a:cs typeface="Open Sans 600"/>
              </a:rPr>
              <a:t>IBTrACS</a:t>
            </a:r>
          </a:p>
        </p:txBody>
      </p:sp>
      <p:sp>
        <p:nvSpPr>
          <p:cNvPr id="141" name="T"/>
          <p:cNvSpPr txBox="1"/>
          <p:nvPr/>
        </p:nvSpPr>
        <p:spPr>
          <a:xfrm>
            <a:off x="9664005" y="1212736"/>
            <a:ext cx="75634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38" b="0" i="0" dirty="0" spc="28">
                <a:solidFill>
                  <a:srgbClr val="B4520A"/>
                </a:solidFill>
                <a:latin typeface="Montserrat 700"/>
                <a:cs typeface="Montserrat 700"/>
              </a:rPr>
              <a:t>INTERFACE</a:t>
            </a:r>
          </a:p>
        </p:txBody>
      </p:sp>
      <p:sp>
        <p:nvSpPr>
          <p:cNvPr id="141" name="Box"/>
          <p:cNvSpPr/>
          <p:nvPr/>
        </p:nvSpPr>
        <p:spPr>
          <a:xfrm>
            <a:off x="9678293" y="1395412"/>
            <a:ext cx="1047304" cy="200025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 w="952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42" name="T"/>
          <p:cNvSpPr txBox="1"/>
          <p:nvPr/>
        </p:nvSpPr>
        <p:spPr>
          <a:xfrm>
            <a:off x="9749730" y="1431321"/>
            <a:ext cx="904429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FFFFFF"/>
                </a:solidFill>
                <a:latin typeface="Open Sans 600"/>
                <a:cs typeface="Open Sans 600"/>
              </a:rPr>
              <a:t>React + TypeScript</a:t>
            </a:r>
          </a:p>
        </p:txBody>
      </p:sp>
      <p:sp>
        <p:nvSpPr>
          <p:cNvPr id="142" name="Box"/>
          <p:cNvSpPr/>
          <p:nvPr/>
        </p:nvSpPr>
        <p:spPr>
          <a:xfrm>
            <a:off x="10773221" y="1395412"/>
            <a:ext cx="349448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43" name="T"/>
          <p:cNvSpPr txBox="1"/>
          <p:nvPr/>
        </p:nvSpPr>
        <p:spPr>
          <a:xfrm>
            <a:off x="10844659" y="1431321"/>
            <a:ext cx="206573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B4520A"/>
                </a:solidFill>
                <a:latin typeface="Open Sans 600"/>
                <a:cs typeface="Open Sans 600"/>
              </a:rPr>
              <a:t>Vite</a:t>
            </a:r>
          </a:p>
        </p:txBody>
      </p:sp>
      <p:sp>
        <p:nvSpPr>
          <p:cNvPr id="143" name="Box"/>
          <p:cNvSpPr/>
          <p:nvPr/>
        </p:nvSpPr>
        <p:spPr>
          <a:xfrm>
            <a:off x="9678293" y="1643062"/>
            <a:ext cx="1265783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44" name="T"/>
          <p:cNvSpPr txBox="1"/>
          <p:nvPr/>
        </p:nvSpPr>
        <p:spPr>
          <a:xfrm>
            <a:off x="9749730" y="1678971"/>
            <a:ext cx="1122908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B4520A"/>
                </a:solidFill>
                <a:latin typeface="Open Sans 600"/>
                <a:cs typeface="Open Sans 600"/>
              </a:rPr>
              <a:t>hand-rolled SVG charts</a:t>
            </a:r>
          </a:p>
        </p:txBody>
      </p:sp>
      <p:sp>
        <p:nvSpPr>
          <p:cNvPr id="144" name="Box"/>
          <p:cNvSpPr/>
          <p:nvPr/>
        </p:nvSpPr>
        <p:spPr>
          <a:xfrm>
            <a:off x="10991701" y="1643062"/>
            <a:ext cx="843111" cy="2000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45" name="T"/>
          <p:cNvSpPr txBox="1"/>
          <p:nvPr/>
        </p:nvSpPr>
        <p:spPr>
          <a:xfrm>
            <a:off x="11063139" y="1678971"/>
            <a:ext cx="700236" cy="1333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050"/>
              </a:lnSpc>
            </a:pPr>
            <a:r>
              <a:rPr lang="en-US" sz="788" b="0" i="0" dirty="0">
                <a:solidFill>
                  <a:srgbClr val="B4520A"/>
                </a:solidFill>
                <a:latin typeface="Open Sans 600"/>
                <a:cs typeface="Open Sans 600"/>
              </a:rPr>
              <a:t>SSE streaming</a:t>
            </a:r>
          </a:p>
        </p:txBody>
      </p:sp>
      <p:sp>
        <p:nvSpPr>
          <p:cNvPr id="145" name="Box"/>
          <p:cNvSpPr/>
          <p:nvPr/>
        </p:nvSpPr>
        <p:spPr>
          <a:xfrm>
            <a:off x="247650" y="1933575"/>
            <a:ext cx="4256038" cy="26670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T"/>
          <p:cNvSpPr txBox="1"/>
          <p:nvPr/>
        </p:nvSpPr>
        <p:spPr>
          <a:xfrm>
            <a:off x="390525" y="1984628"/>
            <a:ext cx="397028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 spc="21">
                <a:solidFill>
                  <a:srgbClr val="FFFFFF"/>
                </a:solidFill>
                <a:latin typeface="Montserrat 700"/>
                <a:cs typeface="Montserrat 700"/>
              </a:rPr>
              <a:t>METHODOLOGY AND PROCESS FOR IMPLEMENTATION</a:t>
            </a:r>
          </a:p>
        </p:txBody>
      </p:sp>
      <p:sp>
        <p:nvSpPr>
          <p:cNvPr id="146" name="Rect"/>
          <p:cNvSpPr/>
          <p:nvPr/>
        </p:nvSpPr>
        <p:spPr>
          <a:xfrm>
            <a:off x="400216" y="2286000"/>
            <a:ext cx="11391569" cy="241190"/>
          </a:xfrm>
          <a:prstGeom prst="roundRect">
            <a:avLst>
              <a:gd name="adj" fmla="val 30769"/>
            </a:avLst>
          </a:prstGeom>
          <a:solidFill>
            <a:srgbClr val="EEF3F7"/>
          </a:solidFill>
          <a:ln w="9277" cap="flat">
            <a:solidFill>
              <a:srgbClr val="C9D9E6"/>
            </a:solidFill>
            <a:prstDash val="solid"/>
          </a:ln>
        </p:spPr>
        <p:txBody>
          <a:bodyPr/>
          <a:lstStyle/>
          <a:p/>
        </p:txBody>
      </p:sp>
      <p:sp>
        <p:nvSpPr>
          <p:cNvPr id="147" name="L"/>
          <p:cNvSpPr txBox="1"/>
          <p:nvPr/>
        </p:nvSpPr>
        <p:spPr>
          <a:xfrm>
            <a:off x="520562" y="2354111"/>
            <a:ext cx="202302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79" b="0" i="0" dirty="0">
                <a:solidFill>
                  <a:srgbClr val="1F4E79"/>
                </a:solidFill>
                <a:latin typeface="Montserrat 800"/>
                <a:cs typeface="Montserrat 800"/>
              </a:rPr>
              <a:t>HOUSE RULES, ENFORCED AT EVERY STAGE</a:t>
            </a:r>
          </a:p>
        </p:txBody>
      </p:sp>
      <p:sp>
        <p:nvSpPr>
          <p:cNvPr id="147" name="L"/>
          <p:cNvSpPr txBox="1"/>
          <p:nvPr/>
        </p:nvSpPr>
        <p:spPr>
          <a:xfrm>
            <a:off x="2876799" y="2354319"/>
            <a:ext cx="277960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43" b="0" i="0" dirty="0">
                <a:solidFill>
                  <a:srgbClr val="42606F"/>
                </a:solidFill>
                <a:latin typeface="Open Sans 400"/>
                <a:cs typeface="Open Sans 400"/>
              </a:rPr>
              <a:t>Never fabricate a number: a build-failing check scans the whole interface</a:t>
            </a:r>
          </a:p>
        </p:txBody>
      </p:sp>
      <p:sp>
        <p:nvSpPr>
          <p:cNvPr id="147" name="Dot"/>
          <p:cNvSpPr/>
          <p:nvPr/>
        </p:nvSpPr>
        <p:spPr>
          <a:xfrm>
            <a:off x="5895627" y="2396391"/>
            <a:ext cx="29685" cy="29685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8" name="L"/>
          <p:cNvSpPr txBox="1"/>
          <p:nvPr/>
        </p:nvSpPr>
        <p:spPr>
          <a:xfrm>
            <a:off x="5946151" y="2354319"/>
            <a:ext cx="1288406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43" b="0" i="0" dirty="0">
                <a:solidFill>
                  <a:srgbClr val="42606F"/>
                </a:solidFill>
                <a:latin typeface="Open Sans 400"/>
                <a:cs typeface="Open Sans 400"/>
              </a:rPr>
              <a:t>A provenance label on every field</a:t>
            </a:r>
          </a:p>
        </p:txBody>
      </p:sp>
      <p:sp>
        <p:nvSpPr>
          <p:cNvPr id="148" name="Dot"/>
          <p:cNvSpPr/>
          <p:nvPr/>
        </p:nvSpPr>
        <p:spPr>
          <a:xfrm>
            <a:off x="7314935" y="2396391"/>
            <a:ext cx="29685" cy="29685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9" name="L"/>
          <p:cNvSpPr txBox="1"/>
          <p:nvPr/>
        </p:nvSpPr>
        <p:spPr>
          <a:xfrm>
            <a:off x="7370561" y="2354319"/>
            <a:ext cx="1452735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43" b="0" i="0" dirty="0">
                <a:solidFill>
                  <a:srgbClr val="42606F"/>
                </a:solidFill>
                <a:latin typeface="Open Sans 400"/>
                <a:cs typeface="Open Sans 400"/>
              </a:rPr>
              <a:t>A named error, never a silent fallback</a:t>
            </a:r>
          </a:p>
        </p:txBody>
      </p:sp>
      <p:sp>
        <p:nvSpPr>
          <p:cNvPr id="149" name="Dot"/>
          <p:cNvSpPr/>
          <p:nvPr/>
        </p:nvSpPr>
        <p:spPr>
          <a:xfrm>
            <a:off x="8947603" y="2396391"/>
            <a:ext cx="29685" cy="29685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L"/>
          <p:cNvSpPr txBox="1"/>
          <p:nvPr/>
        </p:nvSpPr>
        <p:spPr>
          <a:xfrm>
            <a:off x="9006260" y="2354319"/>
            <a:ext cx="217049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43" b="0" i="0" dirty="0">
                <a:solidFill>
                  <a:srgbClr val="42606F"/>
                </a:solidFill>
                <a:latin typeface="Open Sans 400"/>
                <a:cs typeface="Open Sans 400"/>
              </a:rPr>
              <a:t>Deterministic: the same request returns identical figures</a:t>
            </a:r>
          </a:p>
        </p:txBody>
      </p:sp>
      <p:sp>
        <p:nvSpPr>
          <p:cNvPr id="150" name="Rect"/>
          <p:cNvSpPr/>
          <p:nvPr/>
        </p:nvSpPr>
        <p:spPr>
          <a:xfrm>
            <a:off x="400216" y="2601402"/>
            <a:ext cx="1632668" cy="20408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L"/>
          <p:cNvSpPr txBox="1"/>
          <p:nvPr/>
        </p:nvSpPr>
        <p:spPr>
          <a:xfrm>
            <a:off x="881910" y="2650668"/>
            <a:ext cx="67702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30" b="0" i="0" dirty="0">
                <a:solidFill>
                  <a:srgbClr val="FFFFFF"/>
                </a:solidFill>
                <a:latin typeface="Montserrat 800"/>
                <a:cs typeface="Montserrat 800"/>
              </a:rPr>
              <a:t>01 · HARVEST</a:t>
            </a:r>
          </a:p>
        </p:txBody>
      </p:sp>
      <p:sp>
        <p:nvSpPr>
          <p:cNvPr id="151" name="Rect"/>
          <p:cNvSpPr/>
          <p:nvPr/>
        </p:nvSpPr>
        <p:spPr>
          <a:xfrm>
            <a:off x="2274073" y="2601402"/>
            <a:ext cx="1855304" cy="204083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L"/>
          <p:cNvSpPr txBox="1"/>
          <p:nvPr/>
        </p:nvSpPr>
        <p:spPr>
          <a:xfrm>
            <a:off x="2923565" y="2650668"/>
            <a:ext cx="55772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30" b="0" i="0" dirty="0">
                <a:solidFill>
                  <a:srgbClr val="FFFFFF"/>
                </a:solidFill>
                <a:latin typeface="Montserrat 800"/>
                <a:cs typeface="Montserrat 800"/>
              </a:rPr>
              <a:t>02 · LEARN</a:t>
            </a:r>
          </a:p>
        </p:txBody>
      </p:sp>
      <p:sp>
        <p:nvSpPr>
          <p:cNvPr id="152" name="Rect"/>
          <p:cNvSpPr/>
          <p:nvPr/>
        </p:nvSpPr>
        <p:spPr>
          <a:xfrm>
            <a:off x="4370567" y="2601402"/>
            <a:ext cx="2708744" cy="204083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L"/>
          <p:cNvSpPr txBox="1"/>
          <p:nvPr/>
        </p:nvSpPr>
        <p:spPr>
          <a:xfrm>
            <a:off x="5425869" y="2650668"/>
            <a:ext cx="602498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30" b="0" i="0" dirty="0">
                <a:solidFill>
                  <a:srgbClr val="FFFFFF"/>
                </a:solidFill>
                <a:latin typeface="Montserrat 800"/>
                <a:cs typeface="Montserrat 800"/>
              </a:rPr>
              <a:t>03 · DECIDE</a:t>
            </a:r>
          </a:p>
        </p:txBody>
      </p:sp>
      <p:sp>
        <p:nvSpPr>
          <p:cNvPr id="153" name="Rect"/>
          <p:cNvSpPr/>
          <p:nvPr/>
        </p:nvSpPr>
        <p:spPr>
          <a:xfrm>
            <a:off x="7320501" y="2601402"/>
            <a:ext cx="2152153" cy="204083"/>
          </a:xfrm>
          <a:prstGeom prst="roundRect">
            <a:avLst>
              <a:gd name="adj" fmla="val 50000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4" name="L"/>
          <p:cNvSpPr txBox="1"/>
          <p:nvPr/>
        </p:nvSpPr>
        <p:spPr>
          <a:xfrm>
            <a:off x="7739278" y="2650668"/>
            <a:ext cx="131599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30" b="0" i="0" dirty="0">
                <a:solidFill>
                  <a:srgbClr val="FFFFFF"/>
                </a:solidFill>
                <a:latin typeface="Montserrat 800"/>
                <a:cs typeface="Montserrat 800"/>
              </a:rPr>
              <a:t>04 · CONSTRAIN &amp; WATCH</a:t>
            </a:r>
          </a:p>
        </p:txBody>
      </p:sp>
      <p:sp>
        <p:nvSpPr>
          <p:cNvPr id="154" name="Rect"/>
          <p:cNvSpPr/>
          <p:nvPr/>
        </p:nvSpPr>
        <p:spPr>
          <a:xfrm>
            <a:off x="9713843" y="2601402"/>
            <a:ext cx="2077941" cy="204083"/>
          </a:xfrm>
          <a:prstGeom prst="roundRect">
            <a:avLst>
              <a:gd name="adj" fmla="val 50000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5" name="L"/>
          <p:cNvSpPr txBox="1"/>
          <p:nvPr/>
        </p:nvSpPr>
        <p:spPr>
          <a:xfrm>
            <a:off x="10250817" y="2650668"/>
            <a:ext cx="1005442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30" b="0" i="0" dirty="0">
                <a:solidFill>
                  <a:srgbClr val="FFFFFF"/>
                </a:solidFill>
                <a:latin typeface="Montserrat 800"/>
                <a:cs typeface="Montserrat 800"/>
              </a:rPr>
              <a:t>05 · SERVE &amp; LEARN</a:t>
            </a:r>
          </a:p>
        </p:txBody>
      </p:sp>
      <p:sp>
        <p:nvSpPr>
          <p:cNvPr id="155" name="Rect"/>
          <p:cNvSpPr/>
          <p:nvPr/>
        </p:nvSpPr>
        <p:spPr>
          <a:xfrm>
            <a:off x="2079266" y="2916803"/>
            <a:ext cx="148424" cy="3042699"/>
          </a:xfrm>
          <a:prstGeom prst="roundRect">
            <a:avLst>
              <a:gd name="adj" fmla="val 50000"/>
            </a:avLst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6" name="Path"/>
          <p:cNvSpPr/>
          <p:nvPr/>
        </p:nvSpPr>
        <p:spPr>
          <a:xfrm>
            <a:off x="2107096" y="4271176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57" name="Path"/>
          <p:cNvSpPr/>
          <p:nvPr/>
        </p:nvSpPr>
        <p:spPr>
          <a:xfrm>
            <a:off x="2107096" y="4104198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158" name="L"/>
          <p:cNvSpPr txBox="1"/>
          <p:nvPr/>
        </p:nvSpPr>
        <p:spPr>
          <a:xfrm rot="-5400000">
            <a:off x="1676725" y="3432134"/>
            <a:ext cx="886832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8" b="0" i="0" dirty="0">
                <a:solidFill>
                  <a:srgbClr val="2E75B6"/>
                </a:solidFill>
                <a:latin typeface="Open Sans 700"/>
                <a:cs typeface="Open Sans 700"/>
              </a:rPr>
              <a:t>clean parquet on disk</a:t>
            </a:r>
          </a:p>
        </p:txBody>
      </p:sp>
      <p:sp>
        <p:nvSpPr>
          <p:cNvPr id="158" name="Rect"/>
          <p:cNvSpPr/>
          <p:nvPr/>
        </p:nvSpPr>
        <p:spPr>
          <a:xfrm>
            <a:off x="4175760" y="2916803"/>
            <a:ext cx="148424" cy="3042699"/>
          </a:xfrm>
          <a:prstGeom prst="roundRect">
            <a:avLst>
              <a:gd name="adj" fmla="val 50000"/>
            </a:avLst>
          </a:prstGeom>
          <a:solidFill>
            <a:srgbClr val="F58220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9" name="Path"/>
          <p:cNvSpPr/>
          <p:nvPr/>
        </p:nvSpPr>
        <p:spPr>
          <a:xfrm>
            <a:off x="4203590" y="4271176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60" name="Path"/>
          <p:cNvSpPr/>
          <p:nvPr/>
        </p:nvSpPr>
        <p:spPr>
          <a:xfrm>
            <a:off x="4203590" y="4104198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61" name="L"/>
          <p:cNvSpPr txBox="1"/>
          <p:nvPr/>
        </p:nvSpPr>
        <p:spPr>
          <a:xfrm rot="-5400000">
            <a:off x="3728718" y="3435036"/>
            <a:ext cx="97583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8" b="0" i="0" dirty="0">
                <a:solidFill>
                  <a:srgbClr val="F58220"/>
                </a:solidFill>
                <a:latin typeface="Open Sans 700"/>
                <a:cs typeface="Open Sans 700"/>
              </a:rPr>
              <a:t>rate fan · P10 / P50 / P90</a:t>
            </a:r>
          </a:p>
        </p:txBody>
      </p:sp>
      <p:sp>
        <p:nvSpPr>
          <p:cNvPr id="161" name="Rect"/>
          <p:cNvSpPr/>
          <p:nvPr/>
        </p:nvSpPr>
        <p:spPr>
          <a:xfrm>
            <a:off x="7125694" y="2916803"/>
            <a:ext cx="148424" cy="3042699"/>
          </a:xfrm>
          <a:prstGeom prst="roundRect">
            <a:avLst>
              <a:gd name="adj" fmla="val 50000"/>
            </a:avLst>
          </a:prstGeom>
          <a:solidFill>
            <a:srgbClr val="3E8E41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62" name="Path"/>
          <p:cNvSpPr/>
          <p:nvPr/>
        </p:nvSpPr>
        <p:spPr>
          <a:xfrm>
            <a:off x="7153523" y="4271176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63" name="Path"/>
          <p:cNvSpPr/>
          <p:nvPr/>
        </p:nvSpPr>
        <p:spPr>
          <a:xfrm>
            <a:off x="7153523" y="4104198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164" name="L"/>
          <p:cNvSpPr txBox="1"/>
          <p:nvPr/>
        </p:nvSpPr>
        <p:spPr>
          <a:xfrm rot="-5400000">
            <a:off x="6779897" y="3434259"/>
            <a:ext cx="77334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8" b="0" i="0" dirty="0">
                <a:solidFill>
                  <a:srgbClr val="3E8E41"/>
                </a:solidFill>
                <a:latin typeface="Open Sans 700"/>
                <a:cs typeface="Open Sans 700"/>
              </a:rPr>
              <a:t>boundary + verdict</a:t>
            </a:r>
          </a:p>
        </p:txBody>
      </p:sp>
      <p:sp>
        <p:nvSpPr>
          <p:cNvPr id="164" name="Rect"/>
          <p:cNvSpPr/>
          <p:nvPr/>
        </p:nvSpPr>
        <p:spPr>
          <a:xfrm>
            <a:off x="9519037" y="2916803"/>
            <a:ext cx="148424" cy="3042699"/>
          </a:xfrm>
          <a:prstGeom prst="roundRect">
            <a:avLst>
              <a:gd name="adj" fmla="val 50000"/>
            </a:avLst>
          </a:prstGeom>
          <a:solidFill>
            <a:srgbClr val="7B6096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65" name="Path"/>
          <p:cNvSpPr/>
          <p:nvPr/>
        </p:nvSpPr>
        <p:spPr>
          <a:xfrm>
            <a:off x="9546866" y="4271176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66" name="Path"/>
          <p:cNvSpPr/>
          <p:nvPr/>
        </p:nvSpPr>
        <p:spPr>
          <a:xfrm>
            <a:off x="9546866" y="4104198"/>
            <a:ext cx="64936" cy="148424"/>
          </a:xfrm>
          <a:custGeom>
            <a:avLst/>
            <a:gdLst/>
            <a:ahLst/>
            <a:cxnLst/>
            <a:rect l="0" t="0" r="64936" b="148424"/>
            <a:pathLst>
              <a:path w="64936" h="148424">
                <a:moveTo>
                  <a:pt x="0" y="0"/>
                </a:moveTo>
                <a:lnTo>
                  <a:pt x="64936" y="74212"/>
                </a:lnTo>
                <a:lnTo>
                  <a:pt x="0" y="148424"/>
                </a:lnTo>
              </a:path>
            </a:pathLst>
          </a:custGeom>
          <a:noFill/>
          <a:ln w="20408" cap="rnd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167" name="L"/>
          <p:cNvSpPr txBox="1"/>
          <p:nvPr/>
        </p:nvSpPr>
        <p:spPr>
          <a:xfrm rot="-5400000">
            <a:off x="9160085" y="3440748"/>
            <a:ext cx="79965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8" b="0" i="0" dirty="0">
                <a:solidFill>
                  <a:srgbClr val="7B6096"/>
                </a:solidFill>
                <a:latin typeface="Open Sans 700"/>
                <a:cs typeface="Open Sans 700"/>
              </a:rPr>
              <a:t>feasible set + alerts</a:t>
            </a:r>
          </a:p>
        </p:txBody>
      </p:sp>
      <p:sp>
        <p:nvSpPr>
          <p:cNvPr id="167" name="Path"/>
          <p:cNvSpPr/>
          <p:nvPr/>
        </p:nvSpPr>
        <p:spPr>
          <a:xfrm>
            <a:off x="411347" y="2935357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68" name="Dot"/>
          <p:cNvSpPr/>
          <p:nvPr/>
        </p:nvSpPr>
        <p:spPr>
          <a:xfrm>
            <a:off x="464224" y="2999365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69" name="L"/>
          <p:cNvSpPr txBox="1"/>
          <p:nvPr/>
        </p:nvSpPr>
        <p:spPr>
          <a:xfrm>
            <a:off x="613327" y="2901219"/>
            <a:ext cx="692546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Baltic Exchange</a:t>
            </a:r>
          </a:p>
        </p:txBody>
      </p:sp>
      <p:sp>
        <p:nvSpPr>
          <p:cNvPr id="169" name="L"/>
          <p:cNvSpPr txBox="1"/>
          <p:nvPr/>
        </p:nvSpPr>
        <p:spPr>
          <a:xfrm>
            <a:off x="613327" y="3013118"/>
            <a:ext cx="88750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136,933 rows · 79 series</a:t>
            </a:r>
          </a:p>
        </p:txBody>
      </p:sp>
      <p:sp>
        <p:nvSpPr>
          <p:cNvPr id="169" name="Path"/>
          <p:cNvSpPr/>
          <p:nvPr/>
        </p:nvSpPr>
        <p:spPr>
          <a:xfrm>
            <a:off x="411347" y="3269311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70" name="Dot"/>
          <p:cNvSpPr/>
          <p:nvPr/>
        </p:nvSpPr>
        <p:spPr>
          <a:xfrm>
            <a:off x="464224" y="3333319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1" name="L"/>
          <p:cNvSpPr txBox="1"/>
          <p:nvPr/>
        </p:nvSpPr>
        <p:spPr>
          <a:xfrm>
            <a:off x="613327" y="3235173"/>
            <a:ext cx="86335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IMF PortWatch (AIS)</a:t>
            </a:r>
          </a:p>
        </p:txBody>
      </p:sp>
      <p:sp>
        <p:nvSpPr>
          <p:cNvPr id="171" name="L"/>
          <p:cNvSpPr txBox="1"/>
          <p:nvPr/>
        </p:nvSpPr>
        <p:spPr>
          <a:xfrm>
            <a:off x="613327" y="3347073"/>
            <a:ext cx="979035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161 ports · 28 chokepoints</a:t>
            </a:r>
          </a:p>
        </p:txBody>
      </p:sp>
      <p:sp>
        <p:nvSpPr>
          <p:cNvPr id="171" name="Path"/>
          <p:cNvSpPr/>
          <p:nvPr/>
        </p:nvSpPr>
        <p:spPr>
          <a:xfrm>
            <a:off x="411347" y="3603266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72" name="Dot"/>
          <p:cNvSpPr/>
          <p:nvPr/>
        </p:nvSpPr>
        <p:spPr>
          <a:xfrm>
            <a:off x="464224" y="3667274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L"/>
          <p:cNvSpPr txBox="1"/>
          <p:nvPr/>
        </p:nvSpPr>
        <p:spPr>
          <a:xfrm>
            <a:off x="613327" y="3569128"/>
            <a:ext cx="93404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NOAA IBTrACS v04r01</a:t>
            </a:r>
          </a:p>
        </p:txBody>
      </p:sp>
      <p:sp>
        <p:nvSpPr>
          <p:cNvPr id="173" name="L"/>
          <p:cNvSpPr txBox="1"/>
          <p:nvPr/>
        </p:nvSpPr>
        <p:spPr>
          <a:xfrm>
            <a:off x="613327" y="3681027"/>
            <a:ext cx="73125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726,241 storm fixes</a:t>
            </a:r>
          </a:p>
        </p:txBody>
      </p:sp>
      <p:sp>
        <p:nvSpPr>
          <p:cNvPr id="173" name="Path"/>
          <p:cNvSpPr/>
          <p:nvPr/>
        </p:nvSpPr>
        <p:spPr>
          <a:xfrm>
            <a:off x="411347" y="3937221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74" name="Dot"/>
          <p:cNvSpPr/>
          <p:nvPr/>
        </p:nvSpPr>
        <p:spPr>
          <a:xfrm>
            <a:off x="464224" y="4001229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5" name="L"/>
          <p:cNvSpPr txBox="1"/>
          <p:nvPr/>
        </p:nvSpPr>
        <p:spPr>
          <a:xfrm>
            <a:off x="613327" y="3903083"/>
            <a:ext cx="968071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Port authority reports</a:t>
            </a:r>
          </a:p>
        </p:txBody>
      </p:sp>
      <p:sp>
        <p:nvSpPr>
          <p:cNvPr id="175" name="L"/>
          <p:cNvSpPr txBox="1"/>
          <p:nvPr/>
        </p:nvSpPr>
        <p:spPr>
          <a:xfrm>
            <a:off x="613327" y="4014982"/>
            <a:ext cx="99973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1,211 rows to 334 real calls</a:t>
            </a:r>
          </a:p>
        </p:txBody>
      </p:sp>
      <p:sp>
        <p:nvSpPr>
          <p:cNvPr id="175" name="Path"/>
          <p:cNvSpPr/>
          <p:nvPr/>
        </p:nvSpPr>
        <p:spPr>
          <a:xfrm>
            <a:off x="411347" y="4271176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76" name="Dot"/>
          <p:cNvSpPr/>
          <p:nvPr/>
        </p:nvSpPr>
        <p:spPr>
          <a:xfrm>
            <a:off x="464224" y="4335184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L"/>
          <p:cNvSpPr txBox="1"/>
          <p:nvPr/>
        </p:nvSpPr>
        <p:spPr>
          <a:xfrm>
            <a:off x="613327" y="4237037"/>
            <a:ext cx="65991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Berth registers</a:t>
            </a:r>
          </a:p>
        </p:txBody>
      </p:sp>
      <p:sp>
        <p:nvSpPr>
          <p:cNvPr id="177" name="L"/>
          <p:cNvSpPr txBox="1"/>
          <p:nvPr/>
        </p:nvSpPr>
        <p:spPr>
          <a:xfrm>
            <a:off x="613327" y="4348938"/>
            <a:ext cx="895452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58 berths across 3 ports</a:t>
            </a:r>
          </a:p>
        </p:txBody>
      </p:sp>
      <p:sp>
        <p:nvSpPr>
          <p:cNvPr id="177" name="Path"/>
          <p:cNvSpPr/>
          <p:nvPr/>
        </p:nvSpPr>
        <p:spPr>
          <a:xfrm>
            <a:off x="411347" y="4605130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78" name="Dot"/>
          <p:cNvSpPr/>
          <p:nvPr/>
        </p:nvSpPr>
        <p:spPr>
          <a:xfrm>
            <a:off x="464224" y="4669138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79" name="L"/>
          <p:cNvSpPr txBox="1"/>
          <p:nvPr/>
        </p:nvSpPr>
        <p:spPr>
          <a:xfrm>
            <a:off x="603802" y="4570993"/>
            <a:ext cx="996793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World Bank Pink Sheet</a:t>
            </a:r>
          </a:p>
        </p:txBody>
      </p:sp>
      <p:sp>
        <p:nvSpPr>
          <p:cNvPr id="179" name="L"/>
          <p:cNvSpPr txBox="1"/>
          <p:nvPr/>
        </p:nvSpPr>
        <p:spPr>
          <a:xfrm>
            <a:off x="613327" y="4682892"/>
            <a:ext cx="596135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ore, coal and FX</a:t>
            </a:r>
          </a:p>
        </p:txBody>
      </p:sp>
      <p:sp>
        <p:nvSpPr>
          <p:cNvPr id="179" name="Path"/>
          <p:cNvSpPr/>
          <p:nvPr/>
        </p:nvSpPr>
        <p:spPr>
          <a:xfrm>
            <a:off x="411347" y="4939085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80" name="Dot"/>
          <p:cNvSpPr/>
          <p:nvPr/>
        </p:nvSpPr>
        <p:spPr>
          <a:xfrm>
            <a:off x="464224" y="5003093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L"/>
          <p:cNvSpPr txBox="1"/>
          <p:nvPr/>
        </p:nvSpPr>
        <p:spPr>
          <a:xfrm>
            <a:off x="613327" y="4904947"/>
            <a:ext cx="96149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IMO MEPC resolutions</a:t>
            </a:r>
          </a:p>
        </p:txBody>
      </p:sp>
      <p:sp>
        <p:nvSpPr>
          <p:cNvPr id="181" name="L"/>
          <p:cNvSpPr txBox="1"/>
          <p:nvPr/>
        </p:nvSpPr>
        <p:spPr>
          <a:xfrm>
            <a:off x="613327" y="5016847"/>
            <a:ext cx="101259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CII constants, primary PDFs</a:t>
            </a:r>
          </a:p>
        </p:txBody>
      </p:sp>
      <p:sp>
        <p:nvSpPr>
          <p:cNvPr id="181" name="Path"/>
          <p:cNvSpPr/>
          <p:nvPr/>
        </p:nvSpPr>
        <p:spPr>
          <a:xfrm>
            <a:off x="411347" y="5273040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82" name="Dot"/>
          <p:cNvSpPr/>
          <p:nvPr/>
        </p:nvSpPr>
        <p:spPr>
          <a:xfrm>
            <a:off x="464224" y="5337048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3" name="L"/>
          <p:cNvSpPr txBox="1"/>
          <p:nvPr/>
        </p:nvSpPr>
        <p:spPr>
          <a:xfrm>
            <a:off x="613327" y="5238903"/>
            <a:ext cx="44150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GDELT 2.0</a:t>
            </a:r>
          </a:p>
        </p:txBody>
      </p:sp>
      <p:sp>
        <p:nvSpPr>
          <p:cNvPr id="183" name="L"/>
          <p:cNvSpPr txBox="1"/>
          <p:nvPr/>
        </p:nvSpPr>
        <p:spPr>
          <a:xfrm>
            <a:off x="613327" y="5350801"/>
            <a:ext cx="96545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1,484 weekly conflict rows</a:t>
            </a:r>
          </a:p>
        </p:txBody>
      </p:sp>
      <p:sp>
        <p:nvSpPr>
          <p:cNvPr id="183" name="Path"/>
          <p:cNvSpPr/>
          <p:nvPr/>
        </p:nvSpPr>
        <p:spPr>
          <a:xfrm>
            <a:off x="411347" y="5606995"/>
            <a:ext cx="144714" cy="166977"/>
          </a:xfrm>
          <a:custGeom>
            <a:avLst/>
            <a:gdLst/>
            <a:ahLst/>
            <a:cxnLst/>
            <a:rect l="0" t="0" r="144714" b="166977"/>
            <a:pathLst>
              <a:path w="144714" h="166977">
                <a:moveTo>
                  <a:pt x="72357" y="0"/>
                </a:moveTo>
                <a:lnTo>
                  <a:pt x="144714" y="41744"/>
                </a:lnTo>
                <a:lnTo>
                  <a:pt x="144714" y="125233"/>
                </a:lnTo>
                <a:lnTo>
                  <a:pt x="72357" y="166977"/>
                </a:lnTo>
                <a:lnTo>
                  <a:pt x="0" y="125233"/>
                </a:lnTo>
                <a:lnTo>
                  <a:pt x="0" y="41744"/>
                </a:lnTo>
                <a:close/>
              </a:path>
            </a:pathLst>
          </a:custGeom>
          <a:solidFill>
            <a:srgbClr val="1F4E79">
              <a:alpha val="14000"/>
            </a:srgbClr>
          </a:solidFill>
          <a:ln w="10204" cap="flat">
            <a:solidFill>
              <a:srgbClr val="1F4E79"/>
            </a:solidFill>
            <a:prstDash val="solid"/>
          </a:ln>
        </p:spPr>
        <p:txBody>
          <a:bodyPr/>
          <a:lstStyle/>
          <a:p/>
        </p:txBody>
      </p:sp>
      <p:sp>
        <p:nvSpPr>
          <p:cNvPr id="184" name="Dot"/>
          <p:cNvSpPr/>
          <p:nvPr/>
        </p:nvSpPr>
        <p:spPr>
          <a:xfrm>
            <a:off x="464224" y="5671003"/>
            <a:ext cx="38961" cy="38961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185" name="L"/>
          <p:cNvSpPr txBox="1"/>
          <p:nvPr/>
        </p:nvSpPr>
        <p:spPr>
          <a:xfrm>
            <a:off x="613327" y="5572857"/>
            <a:ext cx="94380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2" b="0" i="0" dirty="0">
                <a:solidFill>
                  <a:srgbClr val="1A1A1A"/>
                </a:solidFill>
                <a:latin typeface="Open Sans 700"/>
                <a:cs typeface="Open Sans 700"/>
              </a:rPr>
              <a:t>Open-Meteo marine </a:t>
            </a:r>
            <a:r>
              <a:rPr lang="en-US" sz="672" b="0" i="0" dirty="0">
                <a:solidFill>
                  <a:srgbClr val="1A1A1A"/>
                </a:solidFill>
                <a:latin typeface="Segoe UI Symbol"/>
                <a:cs typeface="Segoe UI Symbol"/>
              </a:rPr>
              <a:t>†</a:t>
            </a:r>
          </a:p>
        </p:txBody>
      </p:sp>
      <p:sp>
        <p:nvSpPr>
          <p:cNvPr id="185" name="L"/>
          <p:cNvSpPr txBox="1"/>
          <p:nvPr/>
        </p:nvSpPr>
        <p:spPr>
          <a:xfrm>
            <a:off x="613327" y="5684757"/>
            <a:ext cx="93732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7-day waves, cached 12 h</a:t>
            </a:r>
          </a:p>
        </p:txBody>
      </p:sp>
      <p:sp>
        <p:nvSpPr>
          <p:cNvPr id="185" name="Rect"/>
          <p:cNvSpPr/>
          <p:nvPr/>
        </p:nvSpPr>
        <p:spPr>
          <a:xfrm>
            <a:off x="2274073" y="2861144"/>
            <a:ext cx="1855304" cy="644718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86" name="Rect"/>
          <p:cNvSpPr/>
          <p:nvPr/>
        </p:nvSpPr>
        <p:spPr>
          <a:xfrm>
            <a:off x="2274073" y="2888974"/>
            <a:ext cx="41744" cy="589059"/>
          </a:xfrm>
          <a:prstGeom prst="roundRect">
            <a:avLst>
              <a:gd name="adj" fmla="val 48889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7" name="L"/>
          <p:cNvSpPr txBox="1"/>
          <p:nvPr/>
        </p:nvSpPr>
        <p:spPr>
          <a:xfrm>
            <a:off x="2385143" y="2938324"/>
            <a:ext cx="802519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2E75B6"/>
                </a:solidFill>
                <a:latin typeface="Montserrat 800"/>
                <a:cs typeface="Montserrat 800"/>
              </a:rPr>
              <a:t>FEATURE BUILD</a:t>
            </a:r>
          </a:p>
        </p:txBody>
      </p:sp>
      <p:sp>
        <p:nvSpPr>
          <p:cNvPr id="187" name="L"/>
          <p:cNvSpPr txBox="1"/>
          <p:nvPr/>
        </p:nvSpPr>
        <p:spPr>
          <a:xfrm>
            <a:off x="2385143" y="3068528"/>
            <a:ext cx="138315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37 features: lags to 63 d, 30/90-day</a:t>
            </a:r>
          </a:p>
        </p:txBody>
      </p:sp>
      <p:sp>
        <p:nvSpPr>
          <p:cNvPr id="187" name="L"/>
          <p:cNvSpPr txBox="1"/>
          <p:nvPr/>
        </p:nvSpPr>
        <p:spPr>
          <a:xfrm>
            <a:off x="2385143" y="3175208"/>
            <a:ext cx="1252984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rolling mean, std and z, returns,</a:t>
            </a:r>
          </a:p>
        </p:txBody>
      </p:sp>
      <p:sp>
        <p:nvSpPr>
          <p:cNvPr id="187" name="L"/>
          <p:cNvSpPr txBox="1"/>
          <p:nvPr/>
        </p:nvSpPr>
        <p:spPr>
          <a:xfrm>
            <a:off x="2385143" y="3281888"/>
            <a:ext cx="122068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calendar, AIS calls, cross-index.</a:t>
            </a:r>
          </a:p>
        </p:txBody>
      </p:sp>
      <p:sp>
        <p:nvSpPr>
          <p:cNvPr id="187" name="Rect"/>
          <p:cNvSpPr/>
          <p:nvPr/>
        </p:nvSpPr>
        <p:spPr>
          <a:xfrm>
            <a:off x="2274073" y="3561522"/>
            <a:ext cx="1855304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88" name="Rect"/>
          <p:cNvSpPr/>
          <p:nvPr/>
        </p:nvSpPr>
        <p:spPr>
          <a:xfrm>
            <a:off x="2274073" y="3589351"/>
            <a:ext cx="41744" cy="482379"/>
          </a:xfrm>
          <a:prstGeom prst="roundRect">
            <a:avLst>
              <a:gd name="adj" fmla="val 48889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L"/>
          <p:cNvSpPr txBox="1"/>
          <p:nvPr/>
        </p:nvSpPr>
        <p:spPr>
          <a:xfrm>
            <a:off x="2385143" y="3638701"/>
            <a:ext cx="1019990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2E75B6"/>
                </a:solidFill>
                <a:latin typeface="Montserrat 800"/>
                <a:cs typeface="Montserrat 800"/>
              </a:rPr>
              <a:t>EMBARGOED SPLITS</a:t>
            </a:r>
          </a:p>
        </p:txBody>
      </p:sp>
      <p:sp>
        <p:nvSpPr>
          <p:cNvPr id="189" name="L"/>
          <p:cNvSpPr txBox="1"/>
          <p:nvPr/>
        </p:nvSpPr>
        <p:spPr>
          <a:xfrm>
            <a:off x="2385143" y="3768905"/>
            <a:ext cx="124226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9,512 train · 1,413 val · 818 test.</a:t>
            </a:r>
          </a:p>
        </p:txBody>
      </p:sp>
      <p:sp>
        <p:nvSpPr>
          <p:cNvPr id="189" name="L"/>
          <p:cNvSpPr txBox="1"/>
          <p:nvPr/>
        </p:nvSpPr>
        <p:spPr>
          <a:xfrm>
            <a:off x="2385143" y="3875586"/>
            <a:ext cx="1395412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Guarded: touched once, at the end.</a:t>
            </a:r>
          </a:p>
        </p:txBody>
      </p:sp>
      <p:sp>
        <p:nvSpPr>
          <p:cNvPr id="189" name="Rect"/>
          <p:cNvSpPr/>
          <p:nvPr/>
        </p:nvSpPr>
        <p:spPr>
          <a:xfrm>
            <a:off x="2274073" y="4155219"/>
            <a:ext cx="1855304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90" name="Rect"/>
          <p:cNvSpPr/>
          <p:nvPr/>
        </p:nvSpPr>
        <p:spPr>
          <a:xfrm>
            <a:off x="2274073" y="4183049"/>
            <a:ext cx="41744" cy="482379"/>
          </a:xfrm>
          <a:prstGeom prst="roundRect">
            <a:avLst>
              <a:gd name="adj" fmla="val 48889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1" name="L"/>
          <p:cNvSpPr txBox="1"/>
          <p:nvPr/>
        </p:nvSpPr>
        <p:spPr>
          <a:xfrm>
            <a:off x="2385143" y="4232399"/>
            <a:ext cx="908448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2E75B6"/>
                </a:solidFill>
                <a:latin typeface="Montserrat 800"/>
                <a:cs typeface="Montserrat 800"/>
              </a:rPr>
              <a:t>QUANTILE MODEL</a:t>
            </a:r>
          </a:p>
        </p:txBody>
      </p:sp>
      <p:sp>
        <p:nvSpPr>
          <p:cNvPr id="191" name="L"/>
          <p:cNvSpPr txBox="1"/>
          <p:nvPr/>
        </p:nvSpPr>
        <p:spPr>
          <a:xfrm>
            <a:off x="2375618" y="4362602"/>
            <a:ext cx="128643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XGBoost, pinball objective. P10 /</a:t>
            </a:r>
          </a:p>
        </p:txBody>
      </p:sp>
      <p:sp>
        <p:nvSpPr>
          <p:cNvPr id="191" name="L"/>
          <p:cNvSpPr txBox="1"/>
          <p:nvPr/>
        </p:nvSpPr>
        <p:spPr>
          <a:xfrm>
            <a:off x="2385143" y="4469282"/>
            <a:ext cx="1332161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P50 / P90 at 7/30/90 d × 4 classes.</a:t>
            </a:r>
          </a:p>
        </p:txBody>
      </p:sp>
      <p:sp>
        <p:nvSpPr>
          <p:cNvPr id="191" name="Rect"/>
          <p:cNvSpPr/>
          <p:nvPr/>
        </p:nvSpPr>
        <p:spPr>
          <a:xfrm>
            <a:off x="2274073" y="4748917"/>
            <a:ext cx="1855304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92" name="Rect"/>
          <p:cNvSpPr/>
          <p:nvPr/>
        </p:nvSpPr>
        <p:spPr>
          <a:xfrm>
            <a:off x="2274073" y="4776746"/>
            <a:ext cx="41744" cy="482379"/>
          </a:xfrm>
          <a:prstGeom prst="roundRect">
            <a:avLst>
              <a:gd name="adj" fmla="val 48889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L"/>
          <p:cNvSpPr txBox="1"/>
          <p:nvPr/>
        </p:nvSpPr>
        <p:spPr>
          <a:xfrm>
            <a:off x="2385143" y="4826096"/>
            <a:ext cx="66319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2E75B6"/>
                </a:solidFill>
                <a:latin typeface="Montserrat 800"/>
                <a:cs typeface="Montserrat 800"/>
              </a:rPr>
              <a:t>MODEL GATE</a:t>
            </a:r>
          </a:p>
        </p:txBody>
      </p:sp>
      <p:sp>
        <p:nvSpPr>
          <p:cNvPr id="193" name="L"/>
          <p:cNvSpPr txBox="1"/>
          <p:nvPr/>
        </p:nvSpPr>
        <p:spPr>
          <a:xfrm>
            <a:off x="2385143" y="4956300"/>
            <a:ext cx="1394623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Beat random walk, AR(1), LightGBM</a:t>
            </a:r>
          </a:p>
        </p:txBody>
      </p:sp>
      <p:sp>
        <p:nvSpPr>
          <p:cNvPr id="193" name="L"/>
          <p:cNvSpPr txBox="1"/>
          <p:nvPr/>
        </p:nvSpPr>
        <p:spPr>
          <a:xfrm>
            <a:off x="2385143" y="5062980"/>
            <a:ext cx="1265039" cy="114301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(tuned + untuned) and an LSTM.</a:t>
            </a:r>
          </a:p>
        </p:txBody>
      </p:sp>
      <p:sp>
        <p:nvSpPr>
          <p:cNvPr id="193" name="Rect"/>
          <p:cNvSpPr/>
          <p:nvPr/>
        </p:nvSpPr>
        <p:spPr>
          <a:xfrm>
            <a:off x="2274073" y="5342614"/>
            <a:ext cx="1855304" cy="66791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94" name="Rect"/>
          <p:cNvSpPr/>
          <p:nvPr/>
        </p:nvSpPr>
        <p:spPr>
          <a:xfrm>
            <a:off x="2274073" y="5370443"/>
            <a:ext cx="41744" cy="612250"/>
          </a:xfrm>
          <a:prstGeom prst="roundRect">
            <a:avLst>
              <a:gd name="adj" fmla="val 48889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5" name="L"/>
          <p:cNvSpPr txBox="1"/>
          <p:nvPr/>
        </p:nvSpPr>
        <p:spPr>
          <a:xfrm>
            <a:off x="2385143" y="5410518"/>
            <a:ext cx="158506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2E75B6"/>
                </a:solidFill>
                <a:latin typeface="Montserrat 800"/>
                <a:cs typeface="Montserrat 800"/>
              </a:rPr>
              <a:t>MEASURED, FROZEN TEST SPLIT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385143" y="5550828"/>
            <a:ext cx="171152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55" b="0" i="0" dirty="0">
                <a:solidFill>
                  <a:srgbClr val="5A5A5A"/>
                </a:solidFill>
                <a:latin typeface="Open Sans 700"/>
                <a:cs typeface="Open Sans 700"/>
              </a:rPr>
              <a:t>HZN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839692" y="5550828"/>
            <a:ext cx="319683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55" b="0" i="0" dirty="0">
                <a:solidFill>
                  <a:srgbClr val="5A5A5A"/>
                </a:solidFill>
                <a:latin typeface="Open Sans 700"/>
                <a:cs typeface="Open Sans 700"/>
              </a:rPr>
              <a:t>PINBALL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266412" y="5550828"/>
            <a:ext cx="141781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55" b="0" i="0" dirty="0">
                <a:solidFill>
                  <a:srgbClr val="5A5A5A"/>
                </a:solidFill>
                <a:latin typeface="Open Sans 700"/>
                <a:cs typeface="Open Sans 700"/>
              </a:rPr>
              <a:t>RW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702409" y="5550828"/>
            <a:ext cx="143940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555" b="0" i="0" dirty="0">
                <a:solidFill>
                  <a:srgbClr val="5A5A5A"/>
                </a:solidFill>
                <a:latin typeface="Open Sans 700"/>
                <a:cs typeface="Open Sans 700"/>
              </a:rPr>
              <a:t>HIT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375618" y="5652289"/>
            <a:ext cx="142726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1A1A1A"/>
                </a:solidFill>
                <a:latin typeface="Open Sans 700"/>
                <a:cs typeface="Open Sans 700"/>
              </a:rPr>
              <a:t>7 d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839692" y="5652289"/>
            <a:ext cx="26709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0.0357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266412" y="5652289"/>
            <a:ext cx="26238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0.0391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702409" y="5652289"/>
            <a:ext cx="251117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68.2%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385143" y="5754330"/>
            <a:ext cx="17770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1A1A1A"/>
                </a:solidFill>
                <a:latin typeface="Open Sans 700"/>
                <a:cs typeface="Open Sans 700"/>
              </a:rPr>
              <a:t>30 d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839692" y="5754330"/>
            <a:ext cx="26709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0.0849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266412" y="5754330"/>
            <a:ext cx="26534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0.0925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702409" y="5754330"/>
            <a:ext cx="251117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63.0%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385143" y="5856372"/>
            <a:ext cx="17770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1A1A1A"/>
                </a:solidFill>
                <a:latin typeface="Open Sans 700"/>
                <a:cs typeface="Open Sans 700"/>
              </a:rPr>
              <a:t>90 d</a:t>
            </a:r>
          </a:p>
        </p:txBody>
      </p:sp>
      <p:sp>
        <p:nvSpPr>
          <p:cNvPr id="195" name="L"/>
          <p:cNvSpPr txBox="1"/>
          <p:nvPr/>
        </p:nvSpPr>
        <p:spPr>
          <a:xfrm>
            <a:off x="2839692" y="5856372"/>
            <a:ext cx="26709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0.0886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266412" y="5856372"/>
            <a:ext cx="26238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5A5A5A"/>
                </a:solidFill>
                <a:latin typeface="Open Sans 400"/>
                <a:cs typeface="Open Sans 400"/>
              </a:rPr>
              <a:t>0.1181</a:t>
            </a:r>
          </a:p>
        </p:txBody>
      </p:sp>
      <p:sp>
        <p:nvSpPr>
          <p:cNvPr id="195" name="L"/>
          <p:cNvSpPr txBox="1"/>
          <p:nvPr/>
        </p:nvSpPr>
        <p:spPr>
          <a:xfrm>
            <a:off x="3702409" y="5856372"/>
            <a:ext cx="251117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2C6B2F"/>
                </a:solidFill>
                <a:latin typeface="Open Sans 700"/>
                <a:cs typeface="Open Sans 700"/>
              </a:rPr>
              <a:t>89.7%</a:t>
            </a:r>
          </a:p>
        </p:txBody>
      </p:sp>
      <p:sp>
        <p:nvSpPr>
          <p:cNvPr id="195" name="Rect"/>
          <p:cNvSpPr/>
          <p:nvPr/>
        </p:nvSpPr>
        <p:spPr>
          <a:xfrm>
            <a:off x="4324184" y="2759103"/>
            <a:ext cx="2801510" cy="3302442"/>
          </a:xfrm>
          <a:prstGeom prst="roundRect">
            <a:avLst>
              <a:gd name="adj" fmla="val 5629"/>
            </a:avLst>
          </a:prstGeom>
          <a:solidFill>
            <a:srgbClr val="F5822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96" name="Rect"/>
          <p:cNvSpPr/>
          <p:nvPr/>
        </p:nvSpPr>
        <p:spPr>
          <a:xfrm>
            <a:off x="4370567" y="2805485"/>
            <a:ext cx="2708744" cy="3209677"/>
          </a:xfrm>
          <a:prstGeom prst="roundRect">
            <a:avLst>
              <a:gd name="adj" fmla="val 4452"/>
            </a:avLst>
          </a:prstGeom>
          <a:solidFill>
            <a:srgbClr val="FFF8F2"/>
          </a:solidFill>
          <a:ln w="22264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197" name="Rect"/>
          <p:cNvSpPr/>
          <p:nvPr/>
        </p:nvSpPr>
        <p:spPr>
          <a:xfrm>
            <a:off x="4472609" y="2916803"/>
            <a:ext cx="250466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198" name="Rect"/>
          <p:cNvSpPr/>
          <p:nvPr/>
        </p:nvSpPr>
        <p:spPr>
          <a:xfrm>
            <a:off x="4472609" y="2944633"/>
            <a:ext cx="41744" cy="482379"/>
          </a:xfrm>
          <a:prstGeom prst="roundRect">
            <a:avLst>
              <a:gd name="adj" fmla="val 48889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9" name="L"/>
          <p:cNvSpPr txBox="1"/>
          <p:nvPr/>
        </p:nvSpPr>
        <p:spPr>
          <a:xfrm>
            <a:off x="4583678" y="2993983"/>
            <a:ext cx="692999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F58220"/>
                </a:solidFill>
                <a:latin typeface="Montserrat 800"/>
                <a:cs typeface="Montserrat 800"/>
              </a:rPr>
              <a:t>CEILING RATE</a:t>
            </a:r>
          </a:p>
        </p:txBody>
      </p:sp>
      <p:sp>
        <p:nvSpPr>
          <p:cNvPr id="199" name="L"/>
          <p:cNvSpPr txBox="1"/>
          <p:nvPr/>
        </p:nvSpPr>
        <p:spPr>
          <a:xfrm>
            <a:off x="4583678" y="3124187"/>
            <a:ext cx="1787575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Highest daily rate at which locking beats spot,</a:t>
            </a:r>
          </a:p>
        </p:txBody>
      </p:sp>
      <p:sp>
        <p:nvSpPr>
          <p:cNvPr id="199" name="L"/>
          <p:cNvSpPr txBox="1"/>
          <p:nvPr/>
        </p:nvSpPr>
        <p:spPr>
          <a:xfrm>
            <a:off x="4583678" y="3230867"/>
            <a:ext cx="199533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blended over the term across 7 / 30 / 90-day views.</a:t>
            </a:r>
          </a:p>
        </p:txBody>
      </p:sp>
      <p:sp>
        <p:nvSpPr>
          <p:cNvPr id="199" name="Rect"/>
          <p:cNvSpPr/>
          <p:nvPr/>
        </p:nvSpPr>
        <p:spPr>
          <a:xfrm>
            <a:off x="4472609" y="3510501"/>
            <a:ext cx="2504661" cy="802419"/>
          </a:xfrm>
          <a:prstGeom prst="roundRect">
            <a:avLst>
              <a:gd name="adj" fmla="val 9249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00" name="Rect"/>
          <p:cNvSpPr/>
          <p:nvPr/>
        </p:nvSpPr>
        <p:spPr>
          <a:xfrm>
            <a:off x="4472609" y="3538330"/>
            <a:ext cx="41744" cy="746760"/>
          </a:xfrm>
          <a:prstGeom prst="roundRect">
            <a:avLst>
              <a:gd name="adj" fmla="val 48889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L"/>
          <p:cNvSpPr txBox="1"/>
          <p:nvPr/>
        </p:nvSpPr>
        <p:spPr>
          <a:xfrm>
            <a:off x="4583678" y="3587680"/>
            <a:ext cx="1344899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F58220"/>
                </a:solidFill>
                <a:latin typeface="Montserrat 800"/>
                <a:cs typeface="Montserrat 800"/>
              </a:rPr>
              <a:t>OPTIMAL STOPPING · LSMC</a:t>
            </a:r>
          </a:p>
        </p:txBody>
      </p:sp>
      <p:sp>
        <p:nvSpPr>
          <p:cNvPr id="201" name="L"/>
          <p:cNvSpPr txBox="1"/>
          <p:nvPr/>
        </p:nvSpPr>
        <p:spPr>
          <a:xfrm>
            <a:off x="4583678" y="3717884"/>
            <a:ext cx="1807963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Longstaff-Schwartz least-squares Monte Carlo</a:t>
            </a:r>
          </a:p>
        </p:txBody>
      </p:sp>
      <p:sp>
        <p:nvSpPr>
          <p:cNvPr id="201" name="L"/>
          <p:cNvSpPr txBox="1"/>
          <p:nvPr/>
        </p:nvSpPr>
        <p:spPr>
          <a:xfrm>
            <a:off x="4583678" y="3824564"/>
            <a:ext cx="183913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returns an exercise boundary: a lock/wait price</a:t>
            </a:r>
          </a:p>
        </p:txBody>
      </p:sp>
      <p:sp>
        <p:nvSpPr>
          <p:cNvPr id="201" name="L"/>
          <p:cNvSpPr txBox="1"/>
          <p:nvPr/>
        </p:nvSpPr>
        <p:spPr>
          <a:xfrm>
            <a:off x="4574153" y="3931244"/>
            <a:ext cx="186585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for every day of the horizon, not one threshold.</a:t>
            </a:r>
          </a:p>
        </p:txBody>
      </p:sp>
      <p:sp>
        <p:nvSpPr>
          <p:cNvPr id="201" name="Rect"/>
          <p:cNvSpPr/>
          <p:nvPr/>
        </p:nvSpPr>
        <p:spPr>
          <a:xfrm>
            <a:off x="4593203" y="4090283"/>
            <a:ext cx="1103906" cy="139148"/>
          </a:xfrm>
          <a:prstGeom prst="roundRect">
            <a:avLst>
              <a:gd name="adj" fmla="val 50000"/>
            </a:avLst>
          </a:prstGeom>
          <a:solidFill>
            <a:srgbClr val="F58220">
              <a:alpha val="13000"/>
            </a:srgbClr>
          </a:solidFill>
          <a:ln w="9277" cap="flat">
            <a:solidFill>
              <a:srgbClr val="F58220">
                <a:alpha val="55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02" name="L"/>
          <p:cNvSpPr txBox="1"/>
          <p:nvPr/>
        </p:nvSpPr>
        <p:spPr>
          <a:xfrm>
            <a:off x="4699995" y="4099398"/>
            <a:ext cx="879872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F58220"/>
                </a:solidFill>
                <a:latin typeface="Open Sans 700"/>
                <a:cs typeface="Open Sans 700"/>
              </a:rPr>
              <a:t>4,000 simulated paths</a:t>
            </a:r>
          </a:p>
        </p:txBody>
      </p:sp>
      <p:sp>
        <p:nvSpPr>
          <p:cNvPr id="202" name="Rect"/>
          <p:cNvSpPr/>
          <p:nvPr/>
        </p:nvSpPr>
        <p:spPr>
          <a:xfrm>
            <a:off x="4472609" y="4368579"/>
            <a:ext cx="250466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03" name="Rect"/>
          <p:cNvSpPr/>
          <p:nvPr/>
        </p:nvSpPr>
        <p:spPr>
          <a:xfrm>
            <a:off x="4472609" y="4396409"/>
            <a:ext cx="41744" cy="482379"/>
          </a:xfrm>
          <a:prstGeom prst="roundRect">
            <a:avLst>
              <a:gd name="adj" fmla="val 48889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L"/>
          <p:cNvSpPr txBox="1"/>
          <p:nvPr/>
        </p:nvSpPr>
        <p:spPr>
          <a:xfrm>
            <a:off x="4574153" y="4445759"/>
            <a:ext cx="748474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F58220"/>
                </a:solidFill>
                <a:latin typeface="Montserrat 800"/>
                <a:cs typeface="Montserrat 800"/>
              </a:rPr>
              <a:t>WEATHER TAX</a:t>
            </a:r>
          </a:p>
        </p:txBody>
      </p:sp>
      <p:sp>
        <p:nvSpPr>
          <p:cNvPr id="204" name="L"/>
          <p:cNvSpPr txBox="1"/>
          <p:nvPr/>
        </p:nvSpPr>
        <p:spPr>
          <a:xfrm>
            <a:off x="4583678" y="4575963"/>
            <a:ext cx="1892511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Expected delay days × today's rate, added to the</a:t>
            </a:r>
          </a:p>
        </p:txBody>
      </p:sp>
      <p:sp>
        <p:nvSpPr>
          <p:cNvPr id="204" name="L"/>
          <p:cNvSpPr txBox="1"/>
          <p:nvPr/>
        </p:nvSpPr>
        <p:spPr>
          <a:xfrm>
            <a:off x="4574153" y="4682642"/>
            <a:ext cx="2001441" cy="114301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WAIT branch only. One-directional by construction.</a:t>
            </a:r>
          </a:p>
        </p:txBody>
      </p:sp>
      <p:sp>
        <p:nvSpPr>
          <p:cNvPr id="204" name="Rect"/>
          <p:cNvSpPr/>
          <p:nvPr/>
        </p:nvSpPr>
        <p:spPr>
          <a:xfrm>
            <a:off x="4472609" y="4962277"/>
            <a:ext cx="250466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05" name="Rect"/>
          <p:cNvSpPr/>
          <p:nvPr/>
        </p:nvSpPr>
        <p:spPr>
          <a:xfrm>
            <a:off x="4472609" y="4990106"/>
            <a:ext cx="41744" cy="482379"/>
          </a:xfrm>
          <a:prstGeom prst="roundRect">
            <a:avLst>
              <a:gd name="adj" fmla="val 48889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L"/>
          <p:cNvSpPr txBox="1"/>
          <p:nvPr/>
        </p:nvSpPr>
        <p:spPr>
          <a:xfrm>
            <a:off x="4574153" y="5039457"/>
            <a:ext cx="1183797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F58220"/>
                </a:solidFill>
                <a:latin typeface="Montserrat 800"/>
                <a:cs typeface="Montserrat 800"/>
              </a:rPr>
              <a:t>SAVINGS DISTRIBUTION</a:t>
            </a:r>
          </a:p>
        </p:txBody>
      </p:sp>
      <p:sp>
        <p:nvSpPr>
          <p:cNvPr id="206" name="L"/>
          <p:cNvSpPr txBox="1"/>
          <p:nvPr/>
        </p:nvSpPr>
        <p:spPr>
          <a:xfrm>
            <a:off x="4583678" y="5169660"/>
            <a:ext cx="2054423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2,000 Ornstein-Uhlenbeck paths give P10 / P50 / P90</a:t>
            </a:r>
          </a:p>
        </p:txBody>
      </p:sp>
      <p:sp>
        <p:nvSpPr>
          <p:cNvPr id="206" name="L"/>
          <p:cNvSpPr txBox="1"/>
          <p:nvPr/>
        </p:nvSpPr>
        <p:spPr>
          <a:xfrm>
            <a:off x="4583678" y="5276340"/>
            <a:ext cx="184918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saving and P(locking wins), seeded per request.</a:t>
            </a:r>
          </a:p>
        </p:txBody>
      </p:sp>
      <p:sp>
        <p:nvSpPr>
          <p:cNvPr id="206" name="Rect"/>
          <p:cNvSpPr/>
          <p:nvPr/>
        </p:nvSpPr>
        <p:spPr>
          <a:xfrm>
            <a:off x="4472609" y="5555974"/>
            <a:ext cx="2504661" cy="371061"/>
          </a:xfrm>
          <a:prstGeom prst="roundRect">
            <a:avLst>
              <a:gd name="adj" fmla="val 22500"/>
            </a:avLst>
          </a:prstGeom>
          <a:solidFill>
            <a:srgbClr val="1F4E79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L"/>
          <p:cNvSpPr txBox="1"/>
          <p:nvPr/>
        </p:nvSpPr>
        <p:spPr>
          <a:xfrm>
            <a:off x="4555600" y="5614684"/>
            <a:ext cx="445935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01" b="0" i="0" dirty="0">
                <a:solidFill>
                  <a:srgbClr val="FFFFFF"/>
                </a:solidFill>
                <a:latin typeface="Montserrat 800"/>
                <a:cs typeface="Montserrat 800"/>
              </a:rPr>
              <a:t>VERDICT</a:t>
            </a:r>
          </a:p>
        </p:txBody>
      </p:sp>
      <p:sp>
        <p:nvSpPr>
          <p:cNvPr id="207" name="Rect"/>
          <p:cNvSpPr/>
          <p:nvPr/>
        </p:nvSpPr>
        <p:spPr>
          <a:xfrm>
            <a:off x="5075583" y="5611633"/>
            <a:ext cx="482379" cy="139148"/>
          </a:xfrm>
          <a:prstGeom prst="roundRect">
            <a:avLst>
              <a:gd name="adj" fmla="val 50000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L"/>
          <p:cNvSpPr txBox="1"/>
          <p:nvPr/>
        </p:nvSpPr>
        <p:spPr>
          <a:xfrm>
            <a:off x="5187738" y="5631962"/>
            <a:ext cx="272798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643" b="0" i="0" dirty="0">
                <a:solidFill>
                  <a:srgbClr val="FFFFFF"/>
                </a:solidFill>
                <a:latin typeface="Montserrat 800"/>
                <a:cs typeface="Montserrat 800"/>
              </a:rPr>
              <a:t>LOCK</a:t>
            </a:r>
          </a:p>
        </p:txBody>
      </p:sp>
      <p:sp>
        <p:nvSpPr>
          <p:cNvPr id="208" name="Rect"/>
          <p:cNvSpPr/>
          <p:nvPr/>
        </p:nvSpPr>
        <p:spPr>
          <a:xfrm>
            <a:off x="5613621" y="5611633"/>
            <a:ext cx="482379" cy="139148"/>
          </a:xfrm>
          <a:prstGeom prst="roundRect">
            <a:avLst>
              <a:gd name="adj" fmla="val 50000"/>
            </a:avLst>
          </a:pr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L"/>
          <p:cNvSpPr txBox="1"/>
          <p:nvPr/>
        </p:nvSpPr>
        <p:spPr>
          <a:xfrm>
            <a:off x="5717144" y="5631962"/>
            <a:ext cx="271017" cy="952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lang="en-US" sz="643" b="0" i="0" dirty="0">
                <a:solidFill>
                  <a:srgbClr val="FFFFFF"/>
                </a:solidFill>
                <a:latin typeface="Montserrat 800"/>
                <a:cs typeface="Montserrat 800"/>
              </a:rPr>
              <a:t>WAIT</a:t>
            </a:r>
          </a:p>
        </p:txBody>
      </p:sp>
      <p:sp>
        <p:nvSpPr>
          <p:cNvPr id="209" name="L"/>
          <p:cNvSpPr txBox="1"/>
          <p:nvPr/>
        </p:nvSpPr>
        <p:spPr>
          <a:xfrm>
            <a:off x="4565125" y="5763564"/>
            <a:ext cx="1862435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1" b="0" i="0" dirty="0">
                <a:solidFill>
                  <a:srgbClr val="B7D2E4"/>
                </a:solidFill>
                <a:latin typeface="Open Sans 400"/>
                <a:cs typeface="Open Sans 400"/>
              </a:rPr>
              <a:t>plus the boundary and the exact move that flips it.</a:t>
            </a:r>
          </a:p>
        </p:txBody>
      </p:sp>
      <p:sp>
        <p:nvSpPr>
          <p:cNvPr id="209" name="Rect"/>
          <p:cNvSpPr/>
          <p:nvPr/>
        </p:nvSpPr>
        <p:spPr>
          <a:xfrm>
            <a:off x="7320501" y="2861144"/>
            <a:ext cx="2152153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10" name="Rect"/>
          <p:cNvSpPr/>
          <p:nvPr/>
        </p:nvSpPr>
        <p:spPr>
          <a:xfrm>
            <a:off x="7320501" y="2888974"/>
            <a:ext cx="41744" cy="482379"/>
          </a:xfrm>
          <a:prstGeom prst="roundRect">
            <a:avLst>
              <a:gd name="adj" fmla="val 48889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1" name="L"/>
          <p:cNvSpPr txBox="1"/>
          <p:nvPr/>
        </p:nvSpPr>
        <p:spPr>
          <a:xfrm>
            <a:off x="7431570" y="2938324"/>
            <a:ext cx="108854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3E8E41"/>
                </a:solidFill>
                <a:latin typeface="Montserrat 800"/>
                <a:cs typeface="Montserrat 800"/>
              </a:rPr>
              <a:t>PORT FIT, BOTH ENDS</a:t>
            </a:r>
          </a:p>
        </p:txBody>
      </p:sp>
      <p:sp>
        <p:nvSpPr>
          <p:cNvPr id="211" name="L"/>
          <p:cNvSpPr txBox="1"/>
          <p:nvPr/>
        </p:nvSpPr>
        <p:spPr>
          <a:xfrm>
            <a:off x="7431570" y="3068528"/>
            <a:ext cx="151402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Draft · LOA · beam · DWT at both ends;</a:t>
            </a:r>
          </a:p>
        </p:txBody>
      </p:sp>
      <p:sp>
        <p:nvSpPr>
          <p:cNvPr id="211" name="L"/>
          <p:cNvSpPr txBox="1"/>
          <p:nvPr/>
        </p:nvSpPr>
        <p:spPr>
          <a:xfrm>
            <a:off x="7431570" y="3175208"/>
            <a:ext cx="1623864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rejected classes carry the binding reason.</a:t>
            </a:r>
          </a:p>
        </p:txBody>
      </p:sp>
      <p:sp>
        <p:nvSpPr>
          <p:cNvPr id="211" name="Rect"/>
          <p:cNvSpPr/>
          <p:nvPr/>
        </p:nvSpPr>
        <p:spPr>
          <a:xfrm>
            <a:off x="7320501" y="3454842"/>
            <a:ext cx="2152153" cy="644718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12" name="Rect"/>
          <p:cNvSpPr/>
          <p:nvPr/>
        </p:nvSpPr>
        <p:spPr>
          <a:xfrm>
            <a:off x="7320501" y="3482671"/>
            <a:ext cx="41744" cy="589059"/>
          </a:xfrm>
          <a:prstGeom prst="roundRect">
            <a:avLst>
              <a:gd name="adj" fmla="val 48889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L"/>
          <p:cNvSpPr txBox="1"/>
          <p:nvPr/>
        </p:nvSpPr>
        <p:spPr>
          <a:xfrm>
            <a:off x="7431570" y="3532021"/>
            <a:ext cx="1054990" cy="104776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3E8E41"/>
                </a:solidFill>
                <a:latin typeface="Montserrat 800"/>
                <a:cs typeface="Montserrat 800"/>
              </a:rPr>
              <a:t>FLEET-MIX FRONTIER</a:t>
            </a:r>
          </a:p>
        </p:txBody>
      </p:sp>
      <p:sp>
        <p:nvSpPr>
          <p:cNvPr id="213" name="L"/>
          <p:cNvSpPr txBox="1"/>
          <p:nvPr/>
        </p:nvSpPr>
        <p:spPr>
          <a:xfrm>
            <a:off x="7431570" y="3662225"/>
            <a:ext cx="1624512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One configuration per class priced on the</a:t>
            </a:r>
          </a:p>
        </p:txBody>
      </p:sp>
      <p:sp>
        <p:nvSpPr>
          <p:cNvPr id="213" name="L"/>
          <p:cNvSpPr txBox="1"/>
          <p:nvPr/>
        </p:nvSpPr>
        <p:spPr>
          <a:xfrm>
            <a:off x="7431570" y="3768905"/>
            <a:ext cx="1418332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real forecast, cheapest feasible first.</a:t>
            </a:r>
          </a:p>
        </p:txBody>
      </p:sp>
      <p:sp>
        <p:nvSpPr>
          <p:cNvPr id="213" name="L"/>
          <p:cNvSpPr txBox="1"/>
          <p:nvPr/>
        </p:nvSpPr>
        <p:spPr>
          <a:xfrm>
            <a:off x="7422046" y="3875586"/>
            <a:ext cx="1481435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The verdict's class is taken from here.</a:t>
            </a:r>
          </a:p>
        </p:txBody>
      </p:sp>
      <p:sp>
        <p:nvSpPr>
          <p:cNvPr id="213" name="Rect"/>
          <p:cNvSpPr/>
          <p:nvPr/>
        </p:nvSpPr>
        <p:spPr>
          <a:xfrm>
            <a:off x="7320501" y="4155219"/>
            <a:ext cx="2152153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14" name="Rect"/>
          <p:cNvSpPr/>
          <p:nvPr/>
        </p:nvSpPr>
        <p:spPr>
          <a:xfrm>
            <a:off x="7320501" y="4183049"/>
            <a:ext cx="41744" cy="482379"/>
          </a:xfrm>
          <a:prstGeom prst="roundRect">
            <a:avLst>
              <a:gd name="adj" fmla="val 48889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L"/>
          <p:cNvSpPr txBox="1"/>
          <p:nvPr/>
        </p:nvSpPr>
        <p:spPr>
          <a:xfrm>
            <a:off x="7431570" y="4232399"/>
            <a:ext cx="995687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3E8E41"/>
                </a:solidFill>
                <a:latin typeface="Montserrat 800"/>
                <a:cs typeface="Montserrat 800"/>
              </a:rPr>
              <a:t>CP-SAT SCHEDULER</a:t>
            </a:r>
          </a:p>
        </p:txBody>
      </p:sp>
      <p:sp>
        <p:nvSpPr>
          <p:cNvPr id="215" name="L"/>
          <p:cNvSpPr txBox="1"/>
          <p:nvPr/>
        </p:nvSpPr>
        <p:spPr>
          <a:xfrm>
            <a:off x="7431570" y="4362602"/>
            <a:ext cx="1664552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OR-Tools vessel-to-parcel assignment with</a:t>
            </a:r>
          </a:p>
        </p:txBody>
      </p:sp>
      <p:sp>
        <p:nvSpPr>
          <p:cNvPr id="215" name="L"/>
          <p:cNvSpPr txBox="1"/>
          <p:nvPr/>
        </p:nvSpPr>
        <p:spPr>
          <a:xfrm>
            <a:off x="7431570" y="4469282"/>
            <a:ext cx="1667916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sequencing, real bunker price, demurrage.</a:t>
            </a:r>
          </a:p>
        </p:txBody>
      </p:sp>
      <p:sp>
        <p:nvSpPr>
          <p:cNvPr id="215" name="Rect"/>
          <p:cNvSpPr/>
          <p:nvPr/>
        </p:nvSpPr>
        <p:spPr>
          <a:xfrm>
            <a:off x="7320501" y="4748917"/>
            <a:ext cx="2152153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16" name="Rect"/>
          <p:cNvSpPr/>
          <p:nvPr/>
        </p:nvSpPr>
        <p:spPr>
          <a:xfrm>
            <a:off x="7320501" y="4776746"/>
            <a:ext cx="41744" cy="482379"/>
          </a:xfrm>
          <a:prstGeom prst="roundRect">
            <a:avLst>
              <a:gd name="adj" fmla="val 48889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L"/>
          <p:cNvSpPr txBox="1"/>
          <p:nvPr/>
        </p:nvSpPr>
        <p:spPr>
          <a:xfrm>
            <a:off x="7431570" y="4826096"/>
            <a:ext cx="130410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3E8E41"/>
                </a:solidFill>
                <a:latin typeface="Montserrat 800"/>
                <a:cs typeface="Montserrat 800"/>
              </a:rPr>
              <a:t>ROUTING &amp; CHOKEPOINTS</a:t>
            </a:r>
          </a:p>
        </p:txBody>
      </p:sp>
      <p:sp>
        <p:nvSpPr>
          <p:cNvPr id="217" name="L"/>
          <p:cNvSpPr txBox="1"/>
          <p:nvPr/>
        </p:nvSpPr>
        <p:spPr>
          <a:xfrm>
            <a:off x="7431570" y="4956300"/>
            <a:ext cx="1658391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Eurostat sea-route graph, fallback flagged.</a:t>
            </a:r>
          </a:p>
        </p:txBody>
      </p:sp>
      <p:sp>
        <p:nvSpPr>
          <p:cNvPr id="217" name="L"/>
          <p:cNvSpPr txBox="1"/>
          <p:nvPr/>
        </p:nvSpPr>
        <p:spPr>
          <a:xfrm>
            <a:off x="7431570" y="5062980"/>
            <a:ext cx="1618506" cy="114301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Point-to-segment test on 28 chokepoints.</a:t>
            </a:r>
          </a:p>
        </p:txBody>
      </p:sp>
      <p:sp>
        <p:nvSpPr>
          <p:cNvPr id="217" name="Rect"/>
          <p:cNvSpPr/>
          <p:nvPr/>
        </p:nvSpPr>
        <p:spPr>
          <a:xfrm>
            <a:off x="7320501" y="5342614"/>
            <a:ext cx="2152153" cy="644718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18" name="Rect"/>
          <p:cNvSpPr/>
          <p:nvPr/>
        </p:nvSpPr>
        <p:spPr>
          <a:xfrm>
            <a:off x="7320501" y="5370443"/>
            <a:ext cx="41744" cy="589059"/>
          </a:xfrm>
          <a:prstGeom prst="roundRect">
            <a:avLst>
              <a:gd name="adj" fmla="val 48889"/>
            </a:avLst>
          </a:prstGeom>
          <a:solidFill>
            <a:srgbClr val="3E8E4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9" name="L"/>
          <p:cNvSpPr txBox="1"/>
          <p:nvPr/>
        </p:nvSpPr>
        <p:spPr>
          <a:xfrm>
            <a:off x="7431570" y="5419794"/>
            <a:ext cx="156099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3E8E41"/>
                </a:solidFill>
                <a:latin typeface="Montserrat 800"/>
                <a:cs typeface="Montserrat 800"/>
              </a:rPr>
              <a:t>QUEUE + FOUR RISK CHANNELS</a:t>
            </a:r>
          </a:p>
        </p:txBody>
      </p:sp>
      <p:sp>
        <p:nvSpPr>
          <p:cNvPr id="219" name="L"/>
          <p:cNvSpPr txBox="1"/>
          <p:nvPr/>
        </p:nvSpPr>
        <p:spPr>
          <a:xfrm>
            <a:off x="7422046" y="5549997"/>
            <a:ext cx="1680865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AIS arrivals vs the port's own 60-day norm,</a:t>
            </a:r>
          </a:p>
        </p:txBody>
      </p:sp>
      <p:sp>
        <p:nvSpPr>
          <p:cNvPr id="219" name="L"/>
          <p:cNvSpPr txBox="1"/>
          <p:nvPr/>
        </p:nvSpPr>
        <p:spPr>
          <a:xfrm>
            <a:off x="7431570" y="5656677"/>
            <a:ext cx="178846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clamped to the priced date. z-scores on rates,</a:t>
            </a:r>
          </a:p>
        </p:txBody>
      </p:sp>
      <p:sp>
        <p:nvSpPr>
          <p:cNvPr id="219" name="L"/>
          <p:cNvSpPr txBox="1"/>
          <p:nvPr/>
        </p:nvSpPr>
        <p:spPr>
          <a:xfrm>
            <a:off x="7431570" y="5763357"/>
            <a:ext cx="159915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port calls, strait transits + cyclone weeks.</a:t>
            </a:r>
          </a:p>
        </p:txBody>
      </p:sp>
      <p:sp>
        <p:nvSpPr>
          <p:cNvPr id="219" name="Rect"/>
          <p:cNvSpPr/>
          <p:nvPr/>
        </p:nvSpPr>
        <p:spPr>
          <a:xfrm>
            <a:off x="9713843" y="2861144"/>
            <a:ext cx="207794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20" name="Rect"/>
          <p:cNvSpPr/>
          <p:nvPr/>
        </p:nvSpPr>
        <p:spPr>
          <a:xfrm>
            <a:off x="9713843" y="2888974"/>
            <a:ext cx="41744" cy="482379"/>
          </a:xfrm>
          <a:prstGeom prst="roundRect">
            <a:avLst>
              <a:gd name="adj" fmla="val 48889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1" name="L"/>
          <p:cNvSpPr txBox="1"/>
          <p:nvPr/>
        </p:nvSpPr>
        <p:spPr>
          <a:xfrm>
            <a:off x="9824913" y="2938324"/>
            <a:ext cx="1033886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7B6096"/>
                </a:solidFill>
                <a:latin typeface="Montserrat 800"/>
                <a:cs typeface="Montserrat 800"/>
              </a:rPr>
              <a:t>COMMERCIAL LAYER</a:t>
            </a:r>
          </a:p>
        </p:txBody>
      </p:sp>
      <p:sp>
        <p:nvSpPr>
          <p:cNvPr id="221" name="L"/>
          <p:cNvSpPr txBox="1"/>
          <p:nvPr/>
        </p:nvSpPr>
        <p:spPr>
          <a:xfrm>
            <a:off x="9824913" y="3068528"/>
            <a:ext cx="1615232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Landed cost as five labelled components,</a:t>
            </a:r>
          </a:p>
        </p:txBody>
      </p:sp>
      <p:sp>
        <p:nvSpPr>
          <p:cNvPr id="221" name="L"/>
          <p:cNvSpPr txBox="1"/>
          <p:nvPr/>
        </p:nvSpPr>
        <p:spPr>
          <a:xfrm>
            <a:off x="9824913" y="3175208"/>
            <a:ext cx="1680865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never summed blind. Backhaul + CII rating.</a:t>
            </a:r>
          </a:p>
        </p:txBody>
      </p:sp>
      <p:sp>
        <p:nvSpPr>
          <p:cNvPr id="221" name="Rect"/>
          <p:cNvSpPr/>
          <p:nvPr/>
        </p:nvSpPr>
        <p:spPr>
          <a:xfrm>
            <a:off x="9713843" y="3445565"/>
            <a:ext cx="2077941" cy="695739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22" name="Rect"/>
          <p:cNvSpPr/>
          <p:nvPr/>
        </p:nvSpPr>
        <p:spPr>
          <a:xfrm>
            <a:off x="9713843" y="3473395"/>
            <a:ext cx="41744" cy="640080"/>
          </a:xfrm>
          <a:prstGeom prst="roundRect">
            <a:avLst>
              <a:gd name="adj" fmla="val 48889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3" name="L"/>
          <p:cNvSpPr txBox="1"/>
          <p:nvPr/>
        </p:nvSpPr>
        <p:spPr>
          <a:xfrm>
            <a:off x="9815388" y="3522745"/>
            <a:ext cx="95627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7B6096"/>
                </a:solidFill>
                <a:latin typeface="Montserrat 800"/>
                <a:cs typeface="Montserrat 800"/>
              </a:rPr>
              <a:t>API + LIVE STREAM</a:t>
            </a:r>
          </a:p>
        </p:txBody>
      </p:sp>
      <p:sp>
        <p:nvSpPr>
          <p:cNvPr id="223" name="L"/>
          <p:cNvSpPr txBox="1"/>
          <p:nvPr/>
        </p:nvSpPr>
        <p:spPr>
          <a:xfrm>
            <a:off x="9824913" y="3652948"/>
            <a:ext cx="1464616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FastAPI, 21 endpoints. /quote/stream</a:t>
            </a:r>
          </a:p>
        </p:txBody>
      </p:sp>
      <p:sp>
        <p:nvSpPr>
          <p:cNvPr id="223" name="L"/>
          <p:cNvSpPr txBox="1"/>
          <p:nvPr/>
        </p:nvSpPr>
        <p:spPr>
          <a:xfrm>
            <a:off x="9824913" y="3759629"/>
            <a:ext cx="1378744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emits one event per pipeline stage.</a:t>
            </a:r>
          </a:p>
        </p:txBody>
      </p:sp>
      <p:sp>
        <p:nvSpPr>
          <p:cNvPr id="223" name="Rect"/>
          <p:cNvSpPr/>
          <p:nvPr/>
        </p:nvSpPr>
        <p:spPr>
          <a:xfrm>
            <a:off x="9834438" y="3918668"/>
            <a:ext cx="1011141" cy="139148"/>
          </a:xfrm>
          <a:prstGeom prst="roundRect">
            <a:avLst>
              <a:gd name="adj" fmla="val 50000"/>
            </a:avLst>
          </a:prstGeom>
          <a:solidFill>
            <a:srgbClr val="7B6096">
              <a:alpha val="13000"/>
            </a:srgbClr>
          </a:solidFill>
          <a:ln w="9277" cap="flat">
            <a:solidFill>
              <a:srgbClr val="7B6096">
                <a:alpha val="55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24" name="L"/>
          <p:cNvSpPr txBox="1"/>
          <p:nvPr/>
        </p:nvSpPr>
        <p:spPr>
          <a:xfrm>
            <a:off x="9968478" y="3927783"/>
            <a:ext cx="74751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14" b="0" i="0" dirty="0">
                <a:solidFill>
                  <a:srgbClr val="7B6096"/>
                </a:solidFill>
                <a:latin typeface="Open Sans 700"/>
                <a:cs typeface="Open Sans 700"/>
              </a:rPr>
              <a:t>1,130 tests passing</a:t>
            </a:r>
          </a:p>
        </p:txBody>
      </p:sp>
      <p:sp>
        <p:nvSpPr>
          <p:cNvPr id="224" name="Rect"/>
          <p:cNvSpPr/>
          <p:nvPr/>
        </p:nvSpPr>
        <p:spPr>
          <a:xfrm>
            <a:off x="9713843" y="4187687"/>
            <a:ext cx="207794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25" name="Rect"/>
          <p:cNvSpPr/>
          <p:nvPr/>
        </p:nvSpPr>
        <p:spPr>
          <a:xfrm>
            <a:off x="9713843" y="4215517"/>
            <a:ext cx="41744" cy="482379"/>
          </a:xfrm>
          <a:prstGeom prst="roundRect">
            <a:avLst>
              <a:gd name="adj" fmla="val 48889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6" name="L"/>
          <p:cNvSpPr txBox="1"/>
          <p:nvPr/>
        </p:nvSpPr>
        <p:spPr>
          <a:xfrm>
            <a:off x="9815388" y="4264867"/>
            <a:ext cx="90130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7B6096"/>
                </a:solidFill>
                <a:latin typeface="Montserrat 800"/>
                <a:cs typeface="Montserrat 800"/>
              </a:rPr>
              <a:t>TRADING-DESK UI</a:t>
            </a:r>
          </a:p>
        </p:txBody>
      </p:sp>
      <p:sp>
        <p:nvSpPr>
          <p:cNvPr id="226" name="L"/>
          <p:cNvSpPr txBox="1"/>
          <p:nvPr/>
        </p:nvSpPr>
        <p:spPr>
          <a:xfrm>
            <a:off x="9824913" y="4395070"/>
            <a:ext cx="1409909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React + TypeScript, hand-rolled SVG</a:t>
            </a:r>
          </a:p>
        </p:txBody>
      </p:sp>
      <p:sp>
        <p:nvSpPr>
          <p:cNvPr id="226" name="L"/>
          <p:cNvSpPr txBox="1"/>
          <p:nvPr/>
        </p:nvSpPr>
        <p:spPr>
          <a:xfrm>
            <a:off x="9824913" y="4501750"/>
            <a:ext cx="1344960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charts. Every panel states its gaps.</a:t>
            </a:r>
          </a:p>
        </p:txBody>
      </p:sp>
      <p:sp>
        <p:nvSpPr>
          <p:cNvPr id="226" name="Rect"/>
          <p:cNvSpPr/>
          <p:nvPr/>
        </p:nvSpPr>
        <p:spPr>
          <a:xfrm>
            <a:off x="9713843" y="4772108"/>
            <a:ext cx="2077941" cy="644718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27" name="Rect"/>
          <p:cNvSpPr/>
          <p:nvPr/>
        </p:nvSpPr>
        <p:spPr>
          <a:xfrm>
            <a:off x="9713843" y="4799937"/>
            <a:ext cx="41744" cy="589059"/>
          </a:xfrm>
          <a:prstGeom prst="roundRect">
            <a:avLst>
              <a:gd name="adj" fmla="val 48889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L"/>
          <p:cNvSpPr txBox="1"/>
          <p:nvPr/>
        </p:nvSpPr>
        <p:spPr>
          <a:xfrm>
            <a:off x="9815388" y="4849287"/>
            <a:ext cx="1164373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7B6096"/>
                </a:solidFill>
                <a:latin typeface="Montserrat 800"/>
                <a:cs typeface="Montserrat 800"/>
              </a:rPr>
              <a:t>APPEND-ONLY LEDGER</a:t>
            </a:r>
          </a:p>
        </p:txBody>
      </p:sp>
      <p:sp>
        <p:nvSpPr>
          <p:cNvPr id="228" name="L"/>
          <p:cNvSpPr txBox="1"/>
          <p:nvPr/>
        </p:nvSpPr>
        <p:spPr>
          <a:xfrm>
            <a:off x="9815388" y="4979490"/>
            <a:ext cx="1631961" cy="114301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Written the moment it is made; per-entry</a:t>
            </a:r>
          </a:p>
        </p:txBody>
      </p:sp>
      <p:sp>
        <p:nvSpPr>
          <p:cNvPr id="228" name="L"/>
          <p:cNvSpPr txBox="1"/>
          <p:nvPr/>
        </p:nvSpPr>
        <p:spPr>
          <a:xfrm>
            <a:off x="9824913" y="5086171"/>
            <a:ext cx="1405234" cy="114301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edit and delete always raise. Scored</a:t>
            </a:r>
          </a:p>
        </p:txBody>
      </p:sp>
      <p:sp>
        <p:nvSpPr>
          <p:cNvPr id="228" name="L"/>
          <p:cNvSpPr txBox="1"/>
          <p:nvPr/>
        </p:nvSpPr>
        <p:spPr>
          <a:xfrm>
            <a:off x="9824913" y="5192852"/>
            <a:ext cx="1425028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against always-lock and always-wait.</a:t>
            </a:r>
          </a:p>
        </p:txBody>
      </p:sp>
      <p:sp>
        <p:nvSpPr>
          <p:cNvPr id="228" name="Rect"/>
          <p:cNvSpPr/>
          <p:nvPr/>
        </p:nvSpPr>
        <p:spPr>
          <a:xfrm>
            <a:off x="9713843" y="5463209"/>
            <a:ext cx="2077941" cy="53803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0204" cap="flat">
            <a:solidFill>
              <a:srgbClr val="D5DEE6"/>
            </a:solidFill>
            <a:prstDash val="solid"/>
          </a:ln>
        </p:spPr>
        <p:txBody>
          <a:bodyPr/>
          <a:lstStyle/>
          <a:p/>
        </p:txBody>
      </p:sp>
      <p:sp>
        <p:nvSpPr>
          <p:cNvPr id="229" name="Rect"/>
          <p:cNvSpPr/>
          <p:nvPr/>
        </p:nvSpPr>
        <p:spPr>
          <a:xfrm>
            <a:off x="9713843" y="5491038"/>
            <a:ext cx="41744" cy="482379"/>
          </a:xfrm>
          <a:prstGeom prst="roundRect">
            <a:avLst>
              <a:gd name="adj" fmla="val 48889"/>
            </a:avLst>
          </a:prstGeom>
          <a:solidFill>
            <a:srgbClr val="7B609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L"/>
          <p:cNvSpPr txBox="1"/>
          <p:nvPr/>
        </p:nvSpPr>
        <p:spPr>
          <a:xfrm>
            <a:off x="9824913" y="5540389"/>
            <a:ext cx="911105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716" b="0" i="0" dirty="0">
                <a:solidFill>
                  <a:srgbClr val="7B6096"/>
                </a:solidFill>
                <a:latin typeface="Montserrat 800"/>
                <a:cs typeface="Montserrat 800"/>
              </a:rPr>
              <a:t>FRAGILITY SWEEP</a:t>
            </a:r>
          </a:p>
        </p:txBody>
      </p:sp>
      <p:sp>
        <p:nvSpPr>
          <p:cNvPr id="230" name="L"/>
          <p:cNvSpPr txBox="1"/>
          <p:nvPr/>
        </p:nvSpPr>
        <p:spPr>
          <a:xfrm>
            <a:off x="9824913" y="5670592"/>
            <a:ext cx="1385701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Re-runs the whole decision, binary-</a:t>
            </a:r>
          </a:p>
        </p:txBody>
      </p:sp>
      <p:sp>
        <p:nvSpPr>
          <p:cNvPr id="230" name="L"/>
          <p:cNvSpPr txBox="1"/>
          <p:nvPr/>
        </p:nvSpPr>
        <p:spPr>
          <a:xfrm>
            <a:off x="9824913" y="5777272"/>
            <a:ext cx="1274564" cy="1143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657" b="0" i="0" dirty="0">
                <a:solidFill>
                  <a:srgbClr val="3A3A3A"/>
                </a:solidFill>
                <a:latin typeface="Open Sans 400"/>
                <a:cs typeface="Open Sans 400"/>
              </a:rPr>
              <a:t>searching each input's flip point.</a:t>
            </a:r>
          </a:p>
        </p:txBody>
      </p:sp>
      <p:sp>
        <p:nvSpPr>
          <p:cNvPr id="230" name="Path"/>
          <p:cNvSpPr/>
          <p:nvPr/>
        </p:nvSpPr>
        <p:spPr>
          <a:xfrm>
            <a:off x="3201725" y="6015162"/>
            <a:ext cx="7551089" cy="204083"/>
          </a:xfrm>
          <a:custGeom>
            <a:avLst/>
            <a:gdLst/>
            <a:ahLst/>
            <a:cxnLst/>
            <a:rect l="0" t="0" r="7551089" b="204083"/>
            <a:pathLst>
              <a:path w="7551089" h="204083">
                <a:moveTo>
                  <a:pt x="7551089" y="0"/>
                </a:moveTo>
                <a:lnTo>
                  <a:pt x="7551089" y="204083"/>
                </a:lnTo>
                <a:lnTo>
                  <a:pt x="0" y="204083"/>
                </a:lnTo>
                <a:lnTo>
                  <a:pt x="0" y="0"/>
                </a:lnTo>
              </a:path>
            </a:pathLst>
          </a:custGeom>
          <a:noFill/>
          <a:ln w="16698" cap="flat">
            <a:solidFill>
              <a:srgbClr val="F58220"/>
            </a:solidFill>
            <a:prstDash val="dash"/>
          </a:ln>
        </p:spPr>
        <p:txBody>
          <a:bodyPr/>
          <a:lstStyle/>
          <a:p/>
        </p:txBody>
      </p:sp>
      <p:sp>
        <p:nvSpPr>
          <p:cNvPr id="231" name="Path"/>
          <p:cNvSpPr/>
          <p:nvPr/>
        </p:nvSpPr>
        <p:spPr>
          <a:xfrm>
            <a:off x="3155343" y="5996609"/>
            <a:ext cx="92765" cy="92765"/>
          </a:xfrm>
          <a:custGeom>
            <a:avLst/>
            <a:gdLst/>
            <a:ahLst/>
            <a:cxnLst/>
            <a:rect l="0" t="0" r="92765" b="92765"/>
            <a:pathLst>
              <a:path w="92765" h="92765">
                <a:moveTo>
                  <a:pt x="46383" y="0"/>
                </a:moveTo>
                <a:lnTo>
                  <a:pt x="0" y="92765"/>
                </a:lnTo>
                <a:lnTo>
                  <a:pt x="92765" y="92765"/>
                </a:lnTo>
                <a:close/>
              </a:path>
            </a:pathLst>
          </a:custGeom>
          <a:solidFill>
            <a:srgbClr val="F5822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2" name="L"/>
          <p:cNvSpPr txBox="1"/>
          <p:nvPr/>
        </p:nvSpPr>
        <p:spPr>
          <a:xfrm>
            <a:off x="3743308" y="6083522"/>
            <a:ext cx="646792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35" b="0" i="0" dirty="0">
                <a:solidFill>
                  <a:srgbClr val="B4520A"/>
                </a:solidFill>
                <a:latin typeface="Open Sans 700"/>
                <a:cs typeface="Open Sans 700"/>
              </a:rPr>
              <a:t>realised outcomes feed the decision-value backtest: five strategies replayed over the frozen split against a perfect-foresight oracle, evidence for the next retrain</a:t>
            </a:r>
          </a:p>
        </p:txBody>
      </p:sp>
      <p:sp>
        <p:nvSpPr>
          <p:cNvPr id="232" name="L"/>
          <p:cNvSpPr txBox="1"/>
          <p:nvPr/>
        </p:nvSpPr>
        <p:spPr>
          <a:xfrm>
            <a:off x="3099494" y="6343348"/>
            <a:ext cx="5993011" cy="1047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lang="en-US" sz="621" b="0" i="0" dirty="0">
                <a:solidFill>
                  <a:srgbClr val="5A5A5A"/>
                </a:solidFill>
                <a:latin typeface="Segoe UI Symbol"/>
                <a:cs typeface="Segoe UI Symbol"/>
              </a:rPr>
              <a:t>†</a:t>
            </a:r>
            <a:r>
              <a:rPr lang="en-US" sz="621" b="0" i="0" dirty="0">
                <a:solidFill>
                  <a:srgbClr val="5A5A5A"/>
                </a:solidFill>
                <a:latin typeface="Open Sans 400 It"/>
                <a:cs typeface="Open Sans 400 It"/>
              </a:rPr>
              <a:t> Open-Meteo is the one rolling feed: cached 12 h, degrades to no-signal and can never raise into a quote. Everything else is harvested at build time, to disk, and runs offline.</a:t>
            </a:r>
          </a:p>
        </p:txBody>
      </p:sp>
      <p:sp>
        <p:nvSpPr>
          <p:cNvPr id="232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233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3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Box"/>
          <p:cNvSpPr/>
          <p:nvPr/>
        </p:nvSpPr>
        <p:spPr>
          <a:xfrm>
            <a:off x="257175" y="180975"/>
            <a:ext cx="1181100" cy="552450"/>
          </a:xfrm>
          <a:prstGeom prst="ellipse">
            <a:avLst/>
          </a:prstGeom>
          <a:noFill/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661690" y="313543"/>
            <a:ext cx="37177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CODE</a:t>
            </a:r>
          </a:p>
        </p:txBody>
      </p:sp>
      <p:sp>
        <p:nvSpPr>
          <p:cNvPr id="235" name="T"/>
          <p:cNvSpPr txBox="1"/>
          <p:nvPr/>
        </p:nvSpPr>
        <p:spPr>
          <a:xfrm>
            <a:off x="539502" y="450614"/>
            <a:ext cx="6162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HACKERZ</a:t>
            </a:r>
          </a:p>
        </p:txBody>
      </p:sp>
      <p:sp>
        <p:nvSpPr>
          <p:cNvPr id="235" name="T"/>
          <p:cNvSpPr txBox="1"/>
          <p:nvPr/>
        </p:nvSpPr>
        <p:spPr>
          <a:xfrm>
            <a:off x="3347889" y="124052"/>
            <a:ext cx="5343823" cy="4476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3525"/>
              </a:lnSpc>
            </a:pPr>
            <a:r>
              <a:rPr lang="en-US" sz="2850" b="0" i="0" dirty="0" spc="-29">
                <a:solidFill>
                  <a:srgbClr val="000000"/>
                </a:solidFill>
                <a:latin typeface="Montserrat 900"/>
                <a:cs typeface="Montserrat 900"/>
              </a:rPr>
              <a:t>FEASIBILITY AND VIABILITY</a:t>
            </a:r>
          </a:p>
        </p:txBody>
      </p:sp>
      <p:sp>
        <p:nvSpPr>
          <p:cNvPr id="235" name="T"/>
          <p:cNvSpPr txBox="1"/>
          <p:nvPr/>
        </p:nvSpPr>
        <p:spPr>
          <a:xfrm>
            <a:off x="2909739" y="584103"/>
            <a:ext cx="6220123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125" b="0" i="0" dirty="0">
                <a:solidFill>
                  <a:srgbClr val="111111"/>
                </a:solidFill>
                <a:latin typeface="Montserrat 700"/>
                <a:cs typeface="Montserrat 700"/>
              </a:rPr>
              <a:t>Not a mockup. 1,130 tests green, real public data, zero paid feeds, deployable today.</a:t>
            </a:r>
          </a:p>
        </p:txBody>
      </p:sp>
      <p:pic>
        <p:nvPicPr>
          <p:cNvPr id="236" name="Picture 235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136326"/>
            <a:ext cx="1352550" cy="641746"/>
          </a:xfrm>
          <a:prstGeom prst="rect">
            <a:avLst/>
          </a:prstGeom>
        </p:spPr>
      </p:pic>
      <p:sp>
        <p:nvSpPr>
          <p:cNvPr id="235" name="Box"/>
          <p:cNvSpPr/>
          <p:nvPr/>
        </p:nvSpPr>
        <p:spPr>
          <a:xfrm>
            <a:off x="247650" y="857250"/>
            <a:ext cx="5334149" cy="266700"/>
          </a:xfrm>
          <a:prstGeom prst="roundRect">
            <a:avLst>
              <a:gd name="adj" fmla="val 14286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6" name="T"/>
          <p:cNvSpPr txBox="1"/>
          <p:nvPr/>
        </p:nvSpPr>
        <p:spPr>
          <a:xfrm>
            <a:off x="390525" y="908303"/>
            <a:ext cx="5048399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 spc="21">
                <a:solidFill>
                  <a:srgbClr val="FFFFFF"/>
                </a:solidFill>
                <a:latin typeface="Montserrat 700"/>
                <a:cs typeface="Montserrat 700"/>
              </a:rPr>
              <a:t>FEASIBILITY: A WORKING PROTOTYPE, MEASURED, NOT A PROPOSAL</a:t>
            </a:r>
          </a:p>
        </p:txBody>
      </p:sp>
      <p:sp>
        <p:nvSpPr>
          <p:cNvPr id="236" name="Box"/>
          <p:cNvSpPr/>
          <p:nvPr/>
        </p:nvSpPr>
        <p:spPr>
          <a:xfrm>
            <a:off x="25717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DCEEF8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237" name="T"/>
          <p:cNvSpPr txBox="1"/>
          <p:nvPr/>
        </p:nvSpPr>
        <p:spPr>
          <a:xfrm>
            <a:off x="342900" y="1272947"/>
            <a:ext cx="758279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1,130</a:t>
            </a:r>
          </a:p>
        </p:txBody>
      </p:sp>
      <p:sp>
        <p:nvSpPr>
          <p:cNvPr id="237" name="T"/>
          <p:cNvSpPr txBox="1"/>
          <p:nvPr/>
        </p:nvSpPr>
        <p:spPr>
          <a:xfrm>
            <a:off x="342900" y="1545376"/>
            <a:ext cx="1099096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Automated tests passing</a:t>
            </a:r>
          </a:p>
        </p:txBody>
      </p:sp>
      <p:sp>
        <p:nvSpPr>
          <p:cNvPr id="237" name="T"/>
          <p:cNvSpPr txBox="1"/>
          <p:nvPr/>
        </p:nvSpPr>
        <p:spPr>
          <a:xfrm>
            <a:off x="342900" y="1662951"/>
            <a:ext cx="112811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109 files · full run 10m44s</a:t>
            </a:r>
          </a:p>
        </p:txBody>
      </p:sp>
      <p:sp>
        <p:nvSpPr>
          <p:cNvPr id="237" name="Box"/>
          <p:cNvSpPr/>
          <p:nvPr/>
        </p:nvSpPr>
        <p:spPr>
          <a:xfrm>
            <a:off x="221932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FBE5D6"/>
          </a:solidFill>
          <a:ln w="19050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238" name="T"/>
          <p:cNvSpPr txBox="1"/>
          <p:nvPr/>
        </p:nvSpPr>
        <p:spPr>
          <a:xfrm>
            <a:off x="2305050" y="1272947"/>
            <a:ext cx="352425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21</a:t>
            </a:r>
          </a:p>
        </p:txBody>
      </p:sp>
      <p:sp>
        <p:nvSpPr>
          <p:cNvPr id="238" name="T"/>
          <p:cNvSpPr txBox="1"/>
          <p:nvPr/>
        </p:nvSpPr>
        <p:spPr>
          <a:xfrm>
            <a:off x="2305050" y="1545376"/>
            <a:ext cx="90695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Live HTTP endpoints</a:t>
            </a:r>
          </a:p>
        </p:txBody>
      </p:sp>
      <p:sp>
        <p:nvSpPr>
          <p:cNvPr id="238" name="T"/>
          <p:cNvSpPr txBox="1"/>
          <p:nvPr/>
        </p:nvSpPr>
        <p:spPr>
          <a:xfrm>
            <a:off x="2305050" y="1662951"/>
            <a:ext cx="116681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+ streamed quote pipeline</a:t>
            </a:r>
          </a:p>
        </p:txBody>
      </p:sp>
      <p:sp>
        <p:nvSpPr>
          <p:cNvPr id="238" name="Box"/>
          <p:cNvSpPr/>
          <p:nvPr/>
        </p:nvSpPr>
        <p:spPr>
          <a:xfrm>
            <a:off x="418147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E2F0D9"/>
          </a:solidFill>
          <a:ln w="19050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239" name="T"/>
          <p:cNvSpPr txBox="1"/>
          <p:nvPr/>
        </p:nvSpPr>
        <p:spPr>
          <a:xfrm>
            <a:off x="4267200" y="1272947"/>
            <a:ext cx="1091654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136,933</a:t>
            </a:r>
          </a:p>
        </p:txBody>
      </p:sp>
      <p:sp>
        <p:nvSpPr>
          <p:cNvPr id="239" name="T"/>
          <p:cNvSpPr txBox="1"/>
          <p:nvPr/>
        </p:nvSpPr>
        <p:spPr>
          <a:xfrm>
            <a:off x="4267200" y="1545376"/>
            <a:ext cx="122381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Rows of real market history</a:t>
            </a:r>
          </a:p>
        </p:txBody>
      </p:sp>
      <p:sp>
        <p:nvSpPr>
          <p:cNvPr id="239" name="T"/>
          <p:cNvSpPr txBox="1"/>
          <p:nvPr/>
        </p:nvSpPr>
        <p:spPr>
          <a:xfrm>
            <a:off x="4267200" y="1662951"/>
            <a:ext cx="101738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79 series · 2005 </a:t>
            </a:r>
            <a:r>
              <a:rPr lang="en-US" sz="712" b="0" i="0" dirty="0">
                <a:solidFill>
                  <a:srgbClr val="333333"/>
                </a:solidFill>
                <a:latin typeface="Segoe UI Symbol"/>
                <a:cs typeface="Segoe UI Symbol"/>
              </a:rPr>
              <a:t>→</a:t>
            </a: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 2026</a:t>
            </a:r>
          </a:p>
        </p:txBody>
      </p:sp>
      <p:sp>
        <p:nvSpPr>
          <p:cNvPr id="239" name="Box"/>
          <p:cNvSpPr/>
          <p:nvPr/>
        </p:nvSpPr>
        <p:spPr>
          <a:xfrm>
            <a:off x="614362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FFF2CC"/>
          </a:solidFill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240" name="T"/>
          <p:cNvSpPr txBox="1"/>
          <p:nvPr/>
        </p:nvSpPr>
        <p:spPr>
          <a:xfrm>
            <a:off x="6229350" y="1272947"/>
            <a:ext cx="352425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16</a:t>
            </a:r>
          </a:p>
        </p:txBody>
      </p:sp>
      <p:sp>
        <p:nvSpPr>
          <p:cNvPr id="240" name="T"/>
          <p:cNvSpPr txBox="1"/>
          <p:nvPr/>
        </p:nvSpPr>
        <p:spPr>
          <a:xfrm>
            <a:off x="6229350" y="1545376"/>
            <a:ext cx="103986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Ports priced end to end</a:t>
            </a:r>
          </a:p>
        </p:txBody>
      </p:sp>
      <p:sp>
        <p:nvSpPr>
          <p:cNvPr id="240" name="T"/>
          <p:cNvSpPr txBox="1"/>
          <p:nvPr/>
        </p:nvSpPr>
        <p:spPr>
          <a:xfrm>
            <a:off x="6229350" y="1662951"/>
            <a:ext cx="112454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7 East Coast India · 9 load</a:t>
            </a:r>
          </a:p>
        </p:txBody>
      </p:sp>
      <p:sp>
        <p:nvSpPr>
          <p:cNvPr id="240" name="Box"/>
          <p:cNvSpPr/>
          <p:nvPr/>
        </p:nvSpPr>
        <p:spPr>
          <a:xfrm>
            <a:off x="810577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EDE7F2"/>
          </a:solidFill>
          <a:ln w="19050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241" name="T"/>
          <p:cNvSpPr txBox="1"/>
          <p:nvPr/>
        </p:nvSpPr>
        <p:spPr>
          <a:xfrm>
            <a:off x="8191500" y="1272947"/>
            <a:ext cx="424904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4.5</a:t>
            </a:r>
          </a:p>
        </p:txBody>
      </p:sp>
      <p:sp>
        <p:nvSpPr>
          <p:cNvPr id="241" name="T"/>
          <p:cNvSpPr txBox="1"/>
          <p:nvPr/>
        </p:nvSpPr>
        <p:spPr>
          <a:xfrm>
            <a:off x="8597354" y="1365503"/>
            <a:ext cx="9450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>
                <a:solidFill>
                  <a:srgbClr val="000000"/>
                </a:solidFill>
                <a:latin typeface="Montserrat 900"/>
                <a:cs typeface="Montserrat 900"/>
              </a:rPr>
              <a:t>s</a:t>
            </a:r>
          </a:p>
        </p:txBody>
      </p:sp>
      <p:sp>
        <p:nvSpPr>
          <p:cNvPr id="241" name="T"/>
          <p:cNvSpPr txBox="1"/>
          <p:nvPr/>
        </p:nvSpPr>
        <p:spPr>
          <a:xfrm>
            <a:off x="8191500" y="1545376"/>
            <a:ext cx="118779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Tonnage rebuild, 128 ports</a:t>
            </a:r>
          </a:p>
        </p:txBody>
      </p:sp>
      <p:sp>
        <p:nvSpPr>
          <p:cNvPr id="241" name="T"/>
          <p:cNvSpPr txBox="1"/>
          <p:nvPr/>
        </p:nvSpPr>
        <p:spPr>
          <a:xfrm>
            <a:off x="8191500" y="1662951"/>
            <a:ext cx="945654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full sweep in seconds</a:t>
            </a:r>
          </a:p>
        </p:txBody>
      </p:sp>
      <p:sp>
        <p:nvSpPr>
          <p:cNvPr id="241" name="Box"/>
          <p:cNvSpPr/>
          <p:nvPr/>
        </p:nvSpPr>
        <p:spPr>
          <a:xfrm>
            <a:off x="10067925" y="1219200"/>
            <a:ext cx="1866900" cy="644723"/>
          </a:xfrm>
          <a:prstGeom prst="roundRect">
            <a:avLst>
              <a:gd name="adj" fmla="val 16251"/>
            </a:avLst>
          </a:prstGeom>
          <a:solidFill>
            <a:srgbClr val="F7E3E2"/>
          </a:solidFill>
          <a:ln w="19050" cap="flat">
            <a:solidFill>
              <a:srgbClr val="C0504D"/>
            </a:solidFill>
            <a:prstDash val="solid"/>
          </a:ln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10153650" y="1272947"/>
            <a:ext cx="352425" cy="2857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lang="en-US" sz="1875" b="0" i="0" dirty="0">
                <a:solidFill>
                  <a:srgbClr val="000000"/>
                </a:solidFill>
                <a:latin typeface="Montserrat 900"/>
                <a:cs typeface="Montserrat 900"/>
              </a:rPr>
              <a:t>30</a:t>
            </a:r>
          </a:p>
        </p:txBody>
      </p:sp>
      <p:sp>
        <p:nvSpPr>
          <p:cNvPr id="242" name="T"/>
          <p:cNvSpPr txBox="1"/>
          <p:nvPr/>
        </p:nvSpPr>
        <p:spPr>
          <a:xfrm>
            <a:off x="10487025" y="1365503"/>
            <a:ext cx="10179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>
                <a:solidFill>
                  <a:srgbClr val="000000"/>
                </a:solidFill>
                <a:latin typeface="Montserrat 900"/>
                <a:cs typeface="Montserrat 900"/>
              </a:rPr>
              <a:t>+</a:t>
            </a:r>
          </a:p>
        </p:txBody>
      </p:sp>
      <p:sp>
        <p:nvSpPr>
          <p:cNvPr id="242" name="T"/>
          <p:cNvSpPr txBox="1"/>
          <p:nvPr/>
        </p:nvSpPr>
        <p:spPr>
          <a:xfrm>
            <a:off x="10153650" y="1545376"/>
            <a:ext cx="111665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Self-audited faults closed</a:t>
            </a:r>
          </a:p>
        </p:txBody>
      </p:sp>
      <p:sp>
        <p:nvSpPr>
          <p:cNvPr id="242" name="T"/>
          <p:cNvSpPr txBox="1"/>
          <p:nvPr/>
        </p:nvSpPr>
        <p:spPr>
          <a:xfrm>
            <a:off x="10153650" y="1662951"/>
            <a:ext cx="70112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333333"/>
                </a:solidFill>
                <a:latin typeface="Open Sans 600"/>
                <a:cs typeface="Open Sans 600"/>
              </a:rPr>
              <a:t>each re-verified</a:t>
            </a:r>
          </a:p>
        </p:txBody>
      </p:sp>
      <p:sp>
        <p:nvSpPr>
          <p:cNvPr id="242" name="Box"/>
          <p:cNvSpPr/>
          <p:nvPr/>
        </p:nvSpPr>
        <p:spPr>
          <a:xfrm>
            <a:off x="257175" y="1968698"/>
            <a:ext cx="5781675" cy="4574977"/>
          </a:xfrm>
          <a:prstGeom prst="roundRect">
            <a:avLst>
              <a:gd name="adj" fmla="val 2707"/>
            </a:avLst>
          </a:prstGeom>
          <a:solidFill>
            <a:srgbClr val="FFFFFF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243" name="T"/>
          <p:cNvSpPr txBox="1"/>
          <p:nvPr/>
        </p:nvSpPr>
        <p:spPr>
          <a:xfrm>
            <a:off x="400050" y="2076657"/>
            <a:ext cx="5423743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POTENTIAL CHALLENGES AND RISKS </a:t>
            </a:r>
            <a:r>
              <a:rPr lang="en-US" sz="975" b="0" i="0" dirty="0" spc="29">
                <a:solidFill>
                  <a:srgbClr val="1F4E79"/>
                </a:solidFill>
                <a:latin typeface="Segoe UI Symbol"/>
                <a:cs typeface="Segoe UI Symbol"/>
              </a:rPr>
              <a:t>→</a:t>
            </a: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 STRATEGIES FOR OVERCOMING THEM</a:t>
            </a:r>
          </a:p>
        </p:txBody>
      </p:sp>
      <p:sp>
        <p:nvSpPr>
          <p:cNvPr id="243" name="Box"/>
          <p:cNvSpPr/>
          <p:nvPr/>
        </p:nvSpPr>
        <p:spPr>
          <a:xfrm>
            <a:off x="409575" y="2307729"/>
            <a:ext cx="1971675" cy="216843"/>
          </a:xfrm>
          <a:prstGeom prst="roundRect">
            <a:avLst>
              <a:gd name="adj" fmla="val 17570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4" name="T"/>
          <p:cNvSpPr txBox="1"/>
          <p:nvPr/>
        </p:nvSpPr>
        <p:spPr>
          <a:xfrm>
            <a:off x="476250" y="2356612"/>
            <a:ext cx="274141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50" b="0" i="0" dirty="0" spc="38">
                <a:solidFill>
                  <a:srgbClr val="FFFFFF"/>
                </a:solidFill>
                <a:latin typeface="Montserrat 800"/>
                <a:cs typeface="Montserrat 800"/>
              </a:rPr>
              <a:t>RISK</a:t>
            </a:r>
          </a:p>
        </p:txBody>
      </p:sp>
      <p:sp>
        <p:nvSpPr>
          <p:cNvPr id="244" name="Box"/>
          <p:cNvSpPr/>
          <p:nvPr/>
        </p:nvSpPr>
        <p:spPr>
          <a:xfrm>
            <a:off x="2381250" y="2307729"/>
            <a:ext cx="3505200" cy="216843"/>
          </a:xfrm>
          <a:prstGeom prst="roundRect">
            <a:avLst>
              <a:gd name="adj" fmla="val 17570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T"/>
          <p:cNvSpPr txBox="1"/>
          <p:nvPr/>
        </p:nvSpPr>
        <p:spPr>
          <a:xfrm>
            <a:off x="2447925" y="2356612"/>
            <a:ext cx="2027337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50" b="0" i="0" dirty="0" spc="38">
                <a:solidFill>
                  <a:srgbClr val="FFFFFF"/>
                </a:solidFill>
                <a:latin typeface="Montserrat 800"/>
                <a:cs typeface="Montserrat 800"/>
              </a:rPr>
              <a:t>WHAT WE DID, AND WHAT REMAINS</a:t>
            </a:r>
          </a:p>
        </p:txBody>
      </p:sp>
      <p:sp>
        <p:nvSpPr>
          <p:cNvPr id="245" name="Edge"/>
          <p:cNvSpPr/>
          <p:nvPr/>
        </p:nvSpPr>
        <p:spPr>
          <a:xfrm>
            <a:off x="409575" y="3302050"/>
            <a:ext cx="1971675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T"/>
          <p:cNvSpPr txBox="1"/>
          <p:nvPr/>
        </p:nvSpPr>
        <p:spPr>
          <a:xfrm>
            <a:off x="485775" y="2762188"/>
            <a:ext cx="1549450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Rate data is class-level, not</a:t>
            </a:r>
          </a:p>
        </p:txBody>
      </p:sp>
      <p:sp>
        <p:nvSpPr>
          <p:cNvPr id="246" name="T"/>
          <p:cNvSpPr txBox="1"/>
          <p:nvPr/>
        </p:nvSpPr>
        <p:spPr>
          <a:xfrm>
            <a:off x="485775" y="2918606"/>
            <a:ext cx="63549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route-level</a:t>
            </a:r>
          </a:p>
        </p:txBody>
      </p:sp>
      <p:sp>
        <p:nvSpPr>
          <p:cNvPr id="246" name="Edge"/>
          <p:cNvSpPr/>
          <p:nvPr/>
        </p:nvSpPr>
        <p:spPr>
          <a:xfrm>
            <a:off x="2381250" y="3302050"/>
            <a:ext cx="3505200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T"/>
          <p:cNvSpPr txBox="1"/>
          <p:nvPr/>
        </p:nvSpPr>
        <p:spPr>
          <a:xfrm>
            <a:off x="2457450" y="2605769"/>
            <a:ext cx="325174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Only 3 route-level observations exist for East India, below our</a:t>
            </a:r>
          </a:p>
        </p:txBody>
      </p:sp>
      <p:sp>
        <p:nvSpPr>
          <p:cNvPr id="247" name="T"/>
          <p:cNvSpPr txBox="1"/>
          <p:nvPr/>
        </p:nvSpPr>
        <p:spPr>
          <a:xfrm>
            <a:off x="2457450" y="2762188"/>
            <a:ext cx="3163342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own evidence bar. Distance, port fit, queue, fuel and landed</a:t>
            </a:r>
          </a:p>
        </p:txBody>
      </p:sp>
      <p:sp>
        <p:nvSpPr>
          <p:cNvPr id="247" name="T"/>
          <p:cNvSpPr txBox="1"/>
          <p:nvPr/>
        </p:nvSpPr>
        <p:spPr>
          <a:xfrm>
            <a:off x="2457450" y="2918606"/>
            <a:ext cx="26550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cost</a:t>
            </a:r>
          </a:p>
        </p:txBody>
      </p:sp>
      <p:sp>
        <p:nvSpPr>
          <p:cNvPr id="247" name="T"/>
          <p:cNvSpPr txBox="1"/>
          <p:nvPr/>
        </p:nvSpPr>
        <p:spPr>
          <a:xfrm>
            <a:off x="2703909" y="2918606"/>
            <a:ext cx="18439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 It"/>
                <a:cs typeface="Open Sans 400 It"/>
              </a:rPr>
              <a:t>are</a:t>
            </a:r>
          </a:p>
        </p:txBody>
      </p:sp>
      <p:sp>
        <p:nvSpPr>
          <p:cNvPr id="247" name="T"/>
          <p:cNvSpPr txBox="1"/>
          <p:nvPr/>
        </p:nvSpPr>
        <p:spPr>
          <a:xfrm>
            <a:off x="2898577" y="2918606"/>
            <a:ext cx="279960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route-specific; the UI carries a badge on every quote.</a:t>
            </a:r>
          </a:p>
        </p:txBody>
      </p:sp>
      <p:sp>
        <p:nvSpPr>
          <p:cNvPr id="247" name="T"/>
          <p:cNvSpPr txBox="1"/>
          <p:nvPr/>
        </p:nvSpPr>
        <p:spPr>
          <a:xfrm>
            <a:off x="2457450" y="3075024"/>
            <a:ext cx="2126903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Closing it needs licensed data, not code.</a:t>
            </a:r>
          </a:p>
        </p:txBody>
      </p:sp>
      <p:sp>
        <p:nvSpPr>
          <p:cNvPr id="247" name="Edge"/>
          <p:cNvSpPr/>
          <p:nvPr/>
        </p:nvSpPr>
        <p:spPr>
          <a:xfrm>
            <a:off x="409575" y="3924598"/>
            <a:ext cx="1971675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8" name="T"/>
          <p:cNvSpPr txBox="1"/>
          <p:nvPr/>
        </p:nvSpPr>
        <p:spPr>
          <a:xfrm>
            <a:off x="485775" y="3469270"/>
            <a:ext cx="1162943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Live feeds fail or are</a:t>
            </a:r>
          </a:p>
        </p:txBody>
      </p:sp>
      <p:sp>
        <p:nvSpPr>
          <p:cNvPr id="248" name="T"/>
          <p:cNvSpPr txBox="1"/>
          <p:nvPr/>
        </p:nvSpPr>
        <p:spPr>
          <a:xfrm>
            <a:off x="485775" y="3625688"/>
            <a:ext cx="107840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unavailable offline</a:t>
            </a:r>
          </a:p>
        </p:txBody>
      </p:sp>
      <p:sp>
        <p:nvSpPr>
          <p:cNvPr id="248" name="Edge"/>
          <p:cNvSpPr/>
          <p:nvPr/>
        </p:nvSpPr>
        <p:spPr>
          <a:xfrm>
            <a:off x="2381250" y="3924598"/>
            <a:ext cx="3505200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9" name="T"/>
          <p:cNvSpPr txBox="1"/>
          <p:nvPr/>
        </p:nvSpPr>
        <p:spPr>
          <a:xfrm>
            <a:off x="2457450" y="3391135"/>
            <a:ext cx="3172271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Every external fetch is a build-time harvester writing to disk.</a:t>
            </a:r>
          </a:p>
        </p:txBody>
      </p:sp>
      <p:sp>
        <p:nvSpPr>
          <p:cNvPr id="249" name="T"/>
          <p:cNvSpPr txBox="1"/>
          <p:nvPr/>
        </p:nvSpPr>
        <p:spPr>
          <a:xfrm>
            <a:off x="2457450" y="3547554"/>
            <a:ext cx="3109764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The single rolling feed (marine forecast) is cached 12 h and</a:t>
            </a:r>
          </a:p>
        </p:txBody>
      </p:sp>
      <p:sp>
        <p:nvSpPr>
          <p:cNvPr id="249" name="T"/>
          <p:cNvSpPr txBox="1"/>
          <p:nvPr/>
        </p:nvSpPr>
        <p:spPr>
          <a:xfrm>
            <a:off x="2457450" y="3703972"/>
            <a:ext cx="296569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degrades to no-signal, so it can never raise into a quote.</a:t>
            </a:r>
          </a:p>
        </p:txBody>
      </p:sp>
      <p:sp>
        <p:nvSpPr>
          <p:cNvPr id="249" name="Edge"/>
          <p:cNvSpPr/>
          <p:nvPr/>
        </p:nvSpPr>
        <p:spPr>
          <a:xfrm>
            <a:off x="409575" y="4547146"/>
            <a:ext cx="1971675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T"/>
          <p:cNvSpPr txBox="1"/>
          <p:nvPr/>
        </p:nvSpPr>
        <p:spPr>
          <a:xfrm>
            <a:off x="485775" y="4170102"/>
            <a:ext cx="1804095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Port limits are not all published</a:t>
            </a:r>
          </a:p>
        </p:txBody>
      </p:sp>
      <p:sp>
        <p:nvSpPr>
          <p:cNvPr id="250" name="Edge"/>
          <p:cNvSpPr/>
          <p:nvPr/>
        </p:nvSpPr>
        <p:spPr>
          <a:xfrm>
            <a:off x="2381250" y="4547146"/>
            <a:ext cx="3505200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1" name="T"/>
          <p:cNvSpPr txBox="1"/>
          <p:nvPr/>
        </p:nvSpPr>
        <p:spPr>
          <a:xfrm>
            <a:off x="2457450" y="4013683"/>
            <a:ext cx="3342233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Real berth registers for 3 ports (58 berths) are used where they</a:t>
            </a:r>
          </a:p>
        </p:txBody>
      </p:sp>
      <p:sp>
        <p:nvSpPr>
          <p:cNvPr id="251" name="T"/>
          <p:cNvSpPr txBox="1"/>
          <p:nvPr/>
        </p:nvSpPr>
        <p:spPr>
          <a:xfrm>
            <a:off x="2457450" y="4170102"/>
            <a:ext cx="190276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exist; elsewhere the engine returns</a:t>
            </a:r>
          </a:p>
        </p:txBody>
      </p:sp>
      <p:sp>
        <p:nvSpPr>
          <p:cNvPr id="251" name="T"/>
          <p:cNvSpPr txBox="1"/>
          <p:nvPr/>
        </p:nvSpPr>
        <p:spPr>
          <a:xfrm>
            <a:off x="4341168" y="4170102"/>
            <a:ext cx="93880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CANNOT_VERIFY</a:t>
            </a:r>
          </a:p>
        </p:txBody>
      </p:sp>
      <p:sp>
        <p:nvSpPr>
          <p:cNvPr id="251" name="T"/>
          <p:cNvSpPr txBox="1"/>
          <p:nvPr/>
        </p:nvSpPr>
        <p:spPr>
          <a:xfrm>
            <a:off x="5290245" y="4170102"/>
            <a:ext cx="22115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and</a:t>
            </a:r>
          </a:p>
        </p:txBody>
      </p:sp>
      <p:sp>
        <p:nvSpPr>
          <p:cNvPr id="251" name="T"/>
          <p:cNvSpPr txBox="1"/>
          <p:nvPr/>
        </p:nvSpPr>
        <p:spPr>
          <a:xfrm>
            <a:off x="2457450" y="4326520"/>
            <a:ext cx="2535882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lowers its own confidence rather than guessing.</a:t>
            </a:r>
          </a:p>
        </p:txBody>
      </p:sp>
      <p:sp>
        <p:nvSpPr>
          <p:cNvPr id="251" name="Edge"/>
          <p:cNvSpPr/>
          <p:nvPr/>
        </p:nvSpPr>
        <p:spPr>
          <a:xfrm>
            <a:off x="409575" y="5169694"/>
            <a:ext cx="1971675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T"/>
          <p:cNvSpPr txBox="1"/>
          <p:nvPr/>
        </p:nvSpPr>
        <p:spPr>
          <a:xfrm>
            <a:off x="485775" y="4714366"/>
            <a:ext cx="165660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A model that looks confident</a:t>
            </a:r>
          </a:p>
        </p:txBody>
      </p:sp>
      <p:sp>
        <p:nvSpPr>
          <p:cNvPr id="252" name="T"/>
          <p:cNvSpPr txBox="1"/>
          <p:nvPr/>
        </p:nvSpPr>
        <p:spPr>
          <a:xfrm>
            <a:off x="485775" y="4870784"/>
            <a:ext cx="72151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but is wrong</a:t>
            </a:r>
          </a:p>
        </p:txBody>
      </p:sp>
      <p:sp>
        <p:nvSpPr>
          <p:cNvPr id="252" name="Edge"/>
          <p:cNvSpPr/>
          <p:nvPr/>
        </p:nvSpPr>
        <p:spPr>
          <a:xfrm>
            <a:off x="2381250" y="5169694"/>
            <a:ext cx="3505200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T"/>
          <p:cNvSpPr txBox="1"/>
          <p:nvPr/>
        </p:nvSpPr>
        <p:spPr>
          <a:xfrm>
            <a:off x="2457450" y="4636231"/>
            <a:ext cx="311452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Frozen, embargoed test split touched once. Fragility sweep</a:t>
            </a:r>
          </a:p>
        </p:txBody>
      </p:sp>
      <p:sp>
        <p:nvSpPr>
          <p:cNvPr id="253" name="T"/>
          <p:cNvSpPr txBox="1"/>
          <p:nvPr/>
        </p:nvSpPr>
        <p:spPr>
          <a:xfrm>
            <a:off x="2457450" y="4792650"/>
            <a:ext cx="3217515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reports the distance to a flipped answer. Append-only ledger</a:t>
            </a:r>
          </a:p>
        </p:txBody>
      </p:sp>
      <p:sp>
        <p:nvSpPr>
          <p:cNvPr id="253" name="T"/>
          <p:cNvSpPr txBox="1"/>
          <p:nvPr/>
        </p:nvSpPr>
        <p:spPr>
          <a:xfrm>
            <a:off x="2457450" y="4949068"/>
            <a:ext cx="2394347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makes cherry-picking structurally impossible.</a:t>
            </a:r>
          </a:p>
        </p:txBody>
      </p:sp>
      <p:sp>
        <p:nvSpPr>
          <p:cNvPr id="253" name="Edge"/>
          <p:cNvSpPr/>
          <p:nvPr/>
        </p:nvSpPr>
        <p:spPr>
          <a:xfrm>
            <a:off x="409575" y="5792242"/>
            <a:ext cx="1971675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485775" y="5415198"/>
            <a:ext cx="169678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One cargo lot priced at a time</a:t>
            </a:r>
          </a:p>
        </p:txBody>
      </p:sp>
      <p:sp>
        <p:nvSpPr>
          <p:cNvPr id="254" name="Edge"/>
          <p:cNvSpPr/>
          <p:nvPr/>
        </p:nvSpPr>
        <p:spPr>
          <a:xfrm>
            <a:off x="2381250" y="5792242"/>
            <a:ext cx="3505200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5" name="T"/>
          <p:cNvSpPr txBox="1"/>
          <p:nvPr/>
        </p:nvSpPr>
        <p:spPr>
          <a:xfrm>
            <a:off x="2457450" y="5258779"/>
            <a:ext cx="291390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Multi-parcel campaign optimisation is a real scope gap,</a:t>
            </a:r>
          </a:p>
        </p:txBody>
      </p:sp>
      <p:sp>
        <p:nvSpPr>
          <p:cNvPr id="255" name="T"/>
          <p:cNvSpPr txBox="1"/>
          <p:nvPr/>
        </p:nvSpPr>
        <p:spPr>
          <a:xfrm>
            <a:off x="2457450" y="5415198"/>
            <a:ext cx="331395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deliberately deferred rather than half-built on the busiest path</a:t>
            </a:r>
          </a:p>
        </p:txBody>
      </p:sp>
      <p:sp>
        <p:nvSpPr>
          <p:cNvPr id="255" name="T"/>
          <p:cNvSpPr txBox="1"/>
          <p:nvPr/>
        </p:nvSpPr>
        <p:spPr>
          <a:xfrm>
            <a:off x="2457450" y="5571616"/>
            <a:ext cx="2682627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in the system, and it is listed as a gap, not omitted.</a:t>
            </a:r>
          </a:p>
        </p:txBody>
      </p:sp>
      <p:sp>
        <p:nvSpPr>
          <p:cNvPr id="255" name="T"/>
          <p:cNvSpPr txBox="1"/>
          <p:nvPr/>
        </p:nvSpPr>
        <p:spPr>
          <a:xfrm>
            <a:off x="485775" y="5959611"/>
            <a:ext cx="173503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Adoption by a desk that trusts</a:t>
            </a:r>
          </a:p>
        </p:txBody>
      </p:sp>
      <p:sp>
        <p:nvSpPr>
          <p:cNvPr id="255" name="T"/>
          <p:cNvSpPr txBox="1"/>
          <p:nvPr/>
        </p:nvSpPr>
        <p:spPr>
          <a:xfrm>
            <a:off x="485775" y="6116029"/>
            <a:ext cx="59709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000000"/>
                </a:solidFill>
                <a:latin typeface="Open Sans 700"/>
                <a:cs typeface="Open Sans 700"/>
              </a:rPr>
              <a:t>the phone</a:t>
            </a:r>
          </a:p>
        </p:txBody>
      </p:sp>
      <p:sp>
        <p:nvSpPr>
          <p:cNvPr id="255" name="T"/>
          <p:cNvSpPr txBox="1"/>
          <p:nvPr/>
        </p:nvSpPr>
        <p:spPr>
          <a:xfrm>
            <a:off x="2457450" y="5881476"/>
            <a:ext cx="313744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Every number ships with its provenance label and a written</a:t>
            </a:r>
          </a:p>
        </p:txBody>
      </p:sp>
      <p:sp>
        <p:nvSpPr>
          <p:cNvPr id="255" name="T"/>
          <p:cNvSpPr txBox="1"/>
          <p:nvPr/>
        </p:nvSpPr>
        <p:spPr>
          <a:xfrm>
            <a:off x="2457450" y="6037895"/>
            <a:ext cx="331350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reason. A maintained fault register lists what is still wrong with</a:t>
            </a:r>
          </a:p>
        </p:txBody>
      </p:sp>
      <p:sp>
        <p:nvSpPr>
          <p:cNvPr id="255" name="T"/>
          <p:cNvSpPr txBox="1"/>
          <p:nvPr/>
        </p:nvSpPr>
        <p:spPr>
          <a:xfrm>
            <a:off x="2457450" y="6194313"/>
            <a:ext cx="1141214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893" b="0" i="0" dirty="0">
                <a:solidFill>
                  <a:srgbClr val="333333"/>
                </a:solidFill>
                <a:latin typeface="Open Sans 400"/>
                <a:cs typeface="Open Sans 400"/>
              </a:rPr>
              <a:t>the system, by name.</a:t>
            </a:r>
          </a:p>
        </p:txBody>
      </p:sp>
      <p:sp>
        <p:nvSpPr>
          <p:cNvPr id="255" name="Box"/>
          <p:cNvSpPr/>
          <p:nvPr/>
        </p:nvSpPr>
        <p:spPr>
          <a:xfrm>
            <a:off x="6153150" y="1968698"/>
            <a:ext cx="5781675" cy="2279749"/>
          </a:xfrm>
          <a:prstGeom prst="roundRect">
            <a:avLst>
              <a:gd name="adj" fmla="val 5432"/>
            </a:avLst>
          </a:prstGeom>
          <a:solidFill>
            <a:srgbClr val="E2F0D9"/>
          </a:solidFill>
          <a:ln w="19050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256" name="T"/>
          <p:cNvSpPr txBox="1"/>
          <p:nvPr/>
        </p:nvSpPr>
        <p:spPr>
          <a:xfrm>
            <a:off x="6296025" y="2076657"/>
            <a:ext cx="207287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2C6B2F"/>
                </a:solidFill>
                <a:latin typeface="Montserrat 800"/>
                <a:cs typeface="Montserrat 800"/>
              </a:rPr>
              <a:t>WHY IT IS VIABLE TO DEPLOY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296025" y="2328983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2311091"/>
            <a:ext cx="114880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Runs on a laptop.</a:t>
            </a:r>
          </a:p>
        </p:txBody>
      </p:sp>
      <p:sp>
        <p:nvSpPr>
          <p:cNvPr id="256" name="T"/>
          <p:cNvSpPr txBox="1"/>
          <p:nvPr/>
        </p:nvSpPr>
        <p:spPr>
          <a:xfrm>
            <a:off x="7620298" y="2320486"/>
            <a:ext cx="406702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Python + Node, one command each; no cluster, no GPU, no paid feed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2519321"/>
            <a:ext cx="120446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required to operate.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296025" y="2804638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2786745"/>
            <a:ext cx="2002780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Deterministic by construction,</a:t>
            </a:r>
          </a:p>
        </p:txBody>
      </p:sp>
      <p:sp>
        <p:nvSpPr>
          <p:cNvPr id="256" name="T"/>
          <p:cNvSpPr txBox="1"/>
          <p:nvPr/>
        </p:nvSpPr>
        <p:spPr>
          <a:xfrm>
            <a:off x="8474273" y="2796141"/>
            <a:ext cx="299888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so the same request returns identical figures and a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2994975"/>
            <a:ext cx="321215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fixture can be reproduced and defended months later.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296025" y="3280292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3262400"/>
            <a:ext cx="1518493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Data is public and free:</a:t>
            </a:r>
          </a:p>
        </p:txBody>
      </p:sp>
      <p:sp>
        <p:nvSpPr>
          <p:cNvPr id="256" name="T"/>
          <p:cNvSpPr txBox="1"/>
          <p:nvPr/>
        </p:nvSpPr>
        <p:spPr>
          <a:xfrm>
            <a:off x="7989987" y="3271796"/>
            <a:ext cx="3612803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Baltic indices, IMF PortWatch AIS, NOAA IBTrACS, World Bank,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3470630"/>
            <a:ext cx="2331839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IMO resolutions, port authority reports.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296025" y="3755947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3738055"/>
            <a:ext cx="1403449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Extends beyond SAIL:</a:t>
            </a:r>
          </a:p>
        </p:txBody>
      </p:sp>
      <p:sp>
        <p:nvSpPr>
          <p:cNvPr id="256" name="T"/>
          <p:cNvSpPr txBox="1"/>
          <p:nvPr/>
        </p:nvSpPr>
        <p:spPr>
          <a:xfrm>
            <a:off x="7874943" y="3747450"/>
            <a:ext cx="379124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any bulk importer, any port set, since the port register and route</a:t>
            </a:r>
          </a:p>
        </p:txBody>
      </p:sp>
      <p:sp>
        <p:nvSpPr>
          <p:cNvPr id="256" name="T"/>
          <p:cNvSpPr txBox="1"/>
          <p:nvPr/>
        </p:nvSpPr>
        <p:spPr>
          <a:xfrm>
            <a:off x="6457950" y="3946285"/>
            <a:ext cx="1493193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graph are data, not code.</a:t>
            </a:r>
          </a:p>
        </p:txBody>
      </p:sp>
      <p:sp>
        <p:nvSpPr>
          <p:cNvPr id="256" name="Box"/>
          <p:cNvSpPr/>
          <p:nvPr/>
        </p:nvSpPr>
        <p:spPr>
          <a:xfrm>
            <a:off x="6153150" y="4362748"/>
            <a:ext cx="5781675" cy="2180927"/>
          </a:xfrm>
          <a:prstGeom prst="roundRect">
            <a:avLst>
              <a:gd name="adj" fmla="val 5678"/>
            </a:avLst>
          </a:prstGeom>
          <a:solidFill>
            <a:srgbClr val="EDE7F2"/>
          </a:solidFill>
          <a:ln w="19050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257" name="T"/>
          <p:cNvSpPr txBox="1"/>
          <p:nvPr/>
        </p:nvSpPr>
        <p:spPr>
          <a:xfrm>
            <a:off x="6296025" y="4470706"/>
            <a:ext cx="284663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5B4477"/>
                </a:solidFill>
                <a:latin typeface="Montserrat 800"/>
                <a:cs typeface="Montserrat 800"/>
              </a:rPr>
              <a:t>HONESTY AS AN ENGINEERING CONTROL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296025" y="4825215"/>
            <a:ext cx="548773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>
                <a:solidFill>
                  <a:srgbClr val="000000"/>
                </a:solidFill>
                <a:latin typeface="Montserrat 800"/>
                <a:cs typeface="Montserrat 800"/>
              </a:rPr>
              <a:t>An automated check fails the build if anything resembling fabricated data appears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296025" y="4986098"/>
            <a:ext cx="1066800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>
                <a:solidFill>
                  <a:srgbClr val="000000"/>
                </a:solidFill>
                <a:latin typeface="Montserrat 800"/>
                <a:cs typeface="Montserrat 800"/>
              </a:rPr>
              <a:t>in the interface.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296025" y="5333516"/>
            <a:ext cx="5326856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Random values, hash-derived numbers and synthesised series are all rejected. Two engines that are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296025" y="5493506"/>
            <a:ext cx="401538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built and tested but not yet wired to a screen are listed as exactly that, and</a:t>
            </a:r>
          </a:p>
        </p:txBody>
      </p:sp>
      <p:sp>
        <p:nvSpPr>
          <p:cNvPr id="257" name="T"/>
          <p:cNvSpPr txBox="1"/>
          <p:nvPr/>
        </p:nvSpPr>
        <p:spPr>
          <a:xfrm>
            <a:off x="10292358" y="5493506"/>
            <a:ext cx="21461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700"/>
                <a:cs typeface="Open Sans 700"/>
              </a:rPr>
              <a:t>not</a:t>
            </a:r>
          </a:p>
        </p:txBody>
      </p:sp>
      <p:sp>
        <p:nvSpPr>
          <p:cNvPr id="257" name="T"/>
          <p:cNvSpPr txBox="1"/>
          <p:nvPr/>
        </p:nvSpPr>
        <p:spPr>
          <a:xfrm>
            <a:off x="10517535" y="5493506"/>
            <a:ext cx="106680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claimed as shipping</a:t>
            </a:r>
          </a:p>
        </p:txBody>
      </p:sp>
      <p:sp>
        <p:nvSpPr>
          <p:cNvPr id="257" name="T"/>
          <p:cNvSpPr txBox="1"/>
          <p:nvPr/>
        </p:nvSpPr>
        <p:spPr>
          <a:xfrm>
            <a:off x="6296025" y="5653496"/>
            <a:ext cx="49143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features.</a:t>
            </a:r>
          </a:p>
        </p:txBody>
      </p:sp>
      <p:sp>
        <p:nvSpPr>
          <p:cNvPr id="257" name="Edge"/>
          <p:cNvSpPr/>
          <p:nvPr/>
        </p:nvSpPr>
        <p:spPr>
          <a:xfrm>
            <a:off x="6305550" y="6021288"/>
            <a:ext cx="5476875" cy="95"/>
          </a:xfrm>
          <a:custGeom>
            <a:avLst/>
            <a:gdLst/>
            <a:ahLst/>
            <a:cxnLst/>
            <a:rect l="0" t="0" r="5476875" b="95"/>
            <a:pathLst>
              <a:path w="5476875" h="95">
                <a:moveTo>
                  <a:pt x="0" y="0"/>
                </a:moveTo>
                <a:lnTo>
                  <a:pt x="5476875" y="0"/>
                </a:lnTo>
              </a:path>
            </a:pathLst>
          </a:custGeom>
          <a:noFill/>
          <a:ln w="9525" cap="flat">
            <a:solidFill>
              <a:srgbClr val="000000">
                <a:alpha val="28000"/>
              </a:srgbClr>
            </a:solidFill>
            <a:prstDash val="dash"/>
          </a:ln>
        </p:spPr>
        <p:txBody>
          <a:bodyPr/>
          <a:lstStyle/>
          <a:p/>
        </p:txBody>
      </p:sp>
      <p:sp>
        <p:nvSpPr>
          <p:cNvPr id="258" name="T"/>
          <p:cNvSpPr txBox="1"/>
          <p:nvPr/>
        </p:nvSpPr>
        <p:spPr>
          <a:xfrm>
            <a:off x="6296025" y="6105067"/>
            <a:ext cx="367412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"/>
                <a:cs typeface="Open Sans 400"/>
              </a:rPr>
              <a:t>Judges can be handed the list of things that are wrong with this system.</a:t>
            </a:r>
          </a:p>
        </p:txBody>
      </p:sp>
      <p:sp>
        <p:nvSpPr>
          <p:cNvPr id="258" name="T"/>
          <p:cNvSpPr txBox="1"/>
          <p:nvPr/>
        </p:nvSpPr>
        <p:spPr>
          <a:xfrm>
            <a:off x="9951095" y="6105067"/>
            <a:ext cx="182805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B4520A"/>
                </a:solidFill>
                <a:latin typeface="Open Sans 700"/>
                <a:cs typeface="Open Sans 700"/>
              </a:rPr>
              <a:t>Thirty-plus faults closed, each re-</a:t>
            </a:r>
          </a:p>
        </p:txBody>
      </p:sp>
      <p:sp>
        <p:nvSpPr>
          <p:cNvPr id="258" name="T"/>
          <p:cNvSpPr txBox="1"/>
          <p:nvPr/>
        </p:nvSpPr>
        <p:spPr>
          <a:xfrm>
            <a:off x="6296025" y="6263867"/>
            <a:ext cx="199533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B4520A"/>
                </a:solidFill>
                <a:latin typeface="Open Sans 700"/>
                <a:cs typeface="Open Sans 700"/>
              </a:rPr>
              <a:t>verified against its original evidence</a:t>
            </a:r>
          </a:p>
        </p:txBody>
      </p:sp>
      <p:sp>
        <p:nvSpPr>
          <p:cNvPr id="258" name="T"/>
          <p:cNvSpPr txBox="1"/>
          <p:nvPr/>
        </p:nvSpPr>
        <p:spPr>
          <a:xfrm>
            <a:off x="8272314" y="6263867"/>
            <a:ext cx="238705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"/>
                <a:cs typeface="Open Sans 400"/>
              </a:rPr>
              <a:t>; every remaining one carries a written reason.</a:t>
            </a:r>
          </a:p>
        </p:txBody>
      </p:sp>
      <p:sp>
        <p:nvSpPr>
          <p:cNvPr id="258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9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259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9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0" name="Box"/>
          <p:cNvSpPr/>
          <p:nvPr/>
        </p:nvSpPr>
        <p:spPr>
          <a:xfrm>
            <a:off x="257175" y="180975"/>
            <a:ext cx="1181100" cy="552450"/>
          </a:xfrm>
          <a:prstGeom prst="ellipse">
            <a:avLst/>
          </a:prstGeom>
          <a:noFill/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261" name="T"/>
          <p:cNvSpPr txBox="1"/>
          <p:nvPr/>
        </p:nvSpPr>
        <p:spPr>
          <a:xfrm>
            <a:off x="661690" y="313543"/>
            <a:ext cx="37177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CODE</a:t>
            </a:r>
          </a:p>
        </p:txBody>
      </p:sp>
      <p:sp>
        <p:nvSpPr>
          <p:cNvPr id="261" name="T"/>
          <p:cNvSpPr txBox="1"/>
          <p:nvPr/>
        </p:nvSpPr>
        <p:spPr>
          <a:xfrm>
            <a:off x="539502" y="450614"/>
            <a:ext cx="6162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HACKERZ</a:t>
            </a:r>
          </a:p>
        </p:txBody>
      </p:sp>
      <p:sp>
        <p:nvSpPr>
          <p:cNvPr id="261" name="T"/>
          <p:cNvSpPr txBox="1"/>
          <p:nvPr/>
        </p:nvSpPr>
        <p:spPr>
          <a:xfrm>
            <a:off x="3791843" y="124052"/>
            <a:ext cx="4455914" cy="4476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3525"/>
              </a:lnSpc>
            </a:pPr>
            <a:r>
              <a:rPr lang="en-US" sz="2850" b="0" i="0" dirty="0" spc="-29">
                <a:solidFill>
                  <a:srgbClr val="000000"/>
                </a:solidFill>
                <a:latin typeface="Montserrat 900"/>
                <a:cs typeface="Montserrat 900"/>
              </a:rPr>
              <a:t>IMPACT AND BENEFITS</a:t>
            </a:r>
          </a:p>
        </p:txBody>
      </p:sp>
      <p:sp>
        <p:nvSpPr>
          <p:cNvPr id="261" name="T"/>
          <p:cNvSpPr txBox="1"/>
          <p:nvPr/>
        </p:nvSpPr>
        <p:spPr>
          <a:xfrm>
            <a:off x="2473375" y="584103"/>
            <a:ext cx="7092702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125" b="0" i="0" dirty="0">
                <a:solidFill>
                  <a:srgbClr val="111111"/>
                </a:solidFill>
                <a:latin typeface="Montserrat 700"/>
                <a:cs typeface="Montserrat 700"/>
              </a:rPr>
              <a:t>On one real route it turned $21,016 into $19,478, and caught a 3 cm margin no other tool would.</a:t>
            </a:r>
          </a:p>
        </p:txBody>
      </p:sp>
      <p:pic>
        <p:nvPicPr>
          <p:cNvPr id="262" name="Picture 261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136326"/>
            <a:ext cx="1352550" cy="641746"/>
          </a:xfrm>
          <a:prstGeom prst="rect">
            <a:avLst/>
          </a:prstGeom>
        </p:spPr>
      </p:pic>
      <p:sp>
        <p:nvSpPr>
          <p:cNvPr id="261" name="Box"/>
          <p:cNvSpPr/>
          <p:nvPr/>
        </p:nvSpPr>
        <p:spPr>
          <a:xfrm>
            <a:off x="257175" y="866775"/>
            <a:ext cx="2476500" cy="4390727"/>
          </a:xfrm>
          <a:prstGeom prst="roundRect">
            <a:avLst>
              <a:gd name="adj" fmla="val 5000"/>
            </a:avLst>
          </a:prstGeom>
          <a:solidFill>
            <a:srgbClr val="EDE7F2"/>
          </a:solidFill>
          <a:ln w="19050" cap="flat">
            <a:solidFill>
              <a:srgbClr val="7B6096"/>
            </a:solidFill>
            <a:prstDash val="solid"/>
          </a:ln>
        </p:spPr>
        <p:txBody>
          <a:bodyPr/>
          <a:lstStyle/>
          <a:p/>
        </p:txBody>
      </p:sp>
      <p:sp>
        <p:nvSpPr>
          <p:cNvPr id="262" name="T"/>
          <p:cNvSpPr txBox="1"/>
          <p:nvPr/>
        </p:nvSpPr>
        <p:spPr>
          <a:xfrm>
            <a:off x="400050" y="974734"/>
            <a:ext cx="193848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5B4477"/>
                </a:solidFill>
                <a:latin typeface="Montserrat 800"/>
                <a:cs typeface="Montserrat 800"/>
              </a:rPr>
              <a:t>POTENTIAL IMPACT ON THE</a:t>
            </a:r>
          </a:p>
        </p:txBody>
      </p:sp>
      <p:sp>
        <p:nvSpPr>
          <p:cNvPr id="262" name="T"/>
          <p:cNvSpPr txBox="1"/>
          <p:nvPr/>
        </p:nvSpPr>
        <p:spPr>
          <a:xfrm>
            <a:off x="400050" y="1123264"/>
            <a:ext cx="1325017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5B4477"/>
                </a:solidFill>
                <a:latin typeface="Montserrat 800"/>
                <a:cs typeface="Montserrat 800"/>
              </a:rPr>
              <a:t>TARGET AUDIENCE</a:t>
            </a:r>
          </a:p>
        </p:txBody>
      </p:sp>
      <p:sp>
        <p:nvSpPr>
          <p:cNvPr id="262" name="T"/>
          <p:cNvSpPr txBox="1"/>
          <p:nvPr/>
        </p:nvSpPr>
        <p:spPr>
          <a:xfrm>
            <a:off x="400050" y="1375590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B609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1357519"/>
            <a:ext cx="197926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SAIL chartering &amp; logistics desk,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1539563"/>
            <a:ext cx="171033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the primary user. Replaces the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1712203"/>
            <a:ext cx="188103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morning market call with a dated,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1884844"/>
            <a:ext cx="110594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defensible position.</a:t>
            </a:r>
          </a:p>
        </p:txBody>
      </p:sp>
      <p:sp>
        <p:nvSpPr>
          <p:cNvPr id="262" name="T"/>
          <p:cNvSpPr txBox="1"/>
          <p:nvPr/>
        </p:nvSpPr>
        <p:spPr>
          <a:xfrm>
            <a:off x="400050" y="2142352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B609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2124282"/>
            <a:ext cx="138484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Ministry of Steel / PSU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2306448"/>
            <a:ext cx="66972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importers,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1243459" y="2315850"/>
            <a:ext cx="117351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who gain a common,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2488491"/>
            <a:ext cx="1835348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auditable method across buyers.</a:t>
            </a:r>
          </a:p>
        </p:txBody>
      </p:sp>
      <p:sp>
        <p:nvSpPr>
          <p:cNvPr id="262" name="T"/>
          <p:cNvSpPr txBox="1"/>
          <p:nvPr/>
        </p:nvSpPr>
        <p:spPr>
          <a:xfrm>
            <a:off x="400050" y="274599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B609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2727929"/>
            <a:ext cx="1651992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Port &amp; terminal operators,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2225725" y="2737331"/>
            <a:ext cx="31328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given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2909972"/>
            <a:ext cx="173414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arrival and queue expectations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3082613"/>
            <a:ext cx="102438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stated in advance.</a:t>
            </a:r>
          </a:p>
        </p:txBody>
      </p:sp>
      <p:sp>
        <p:nvSpPr>
          <p:cNvPr id="262" name="T"/>
          <p:cNvSpPr txBox="1"/>
          <p:nvPr/>
        </p:nvSpPr>
        <p:spPr>
          <a:xfrm>
            <a:off x="400050" y="3340121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7B609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3322051"/>
            <a:ext cx="179635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Plant &amp; production planning,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3504094"/>
            <a:ext cx="184889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with coverage tied to real days of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3676735"/>
            <a:ext cx="1666429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buffer stock, not a preference</a:t>
            </a:r>
          </a:p>
        </p:txBody>
      </p:sp>
      <p:sp>
        <p:nvSpPr>
          <p:cNvPr id="262" name="T"/>
          <p:cNvSpPr txBox="1"/>
          <p:nvPr/>
        </p:nvSpPr>
        <p:spPr>
          <a:xfrm>
            <a:off x="561975" y="3849375"/>
            <a:ext cx="35555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slider.</a:t>
            </a:r>
          </a:p>
        </p:txBody>
      </p:sp>
      <p:sp>
        <p:nvSpPr>
          <p:cNvPr id="262" name="Edge"/>
          <p:cNvSpPr/>
          <p:nvPr/>
        </p:nvSpPr>
        <p:spPr>
          <a:xfrm>
            <a:off x="409575" y="4099917"/>
            <a:ext cx="2171700" cy="95"/>
          </a:xfrm>
          <a:custGeom>
            <a:avLst/>
            <a:gdLst/>
            <a:ahLst/>
            <a:cxnLst/>
            <a:rect l="0" t="0" r="2171700" b="95"/>
            <a:pathLst>
              <a:path w="2171700" h="95">
                <a:moveTo>
                  <a:pt x="0" y="0"/>
                </a:moveTo>
                <a:lnTo>
                  <a:pt x="2171700" y="0"/>
                </a:lnTo>
              </a:path>
            </a:pathLst>
          </a:custGeom>
          <a:noFill/>
          <a:ln w="9525" cap="flat">
            <a:solidFill>
              <a:srgbClr val="000000">
                <a:alpha val="28000"/>
              </a:srgbClr>
            </a:solidFill>
            <a:prstDash val="dash"/>
          </a:ln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400050" y="4183696"/>
            <a:ext cx="176153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B4520A"/>
                </a:solidFill>
                <a:latin typeface="Open Sans 700"/>
                <a:cs typeface="Open Sans 700"/>
              </a:rPr>
              <a:t>Designed to be argued with, not</a:t>
            </a:r>
          </a:p>
        </p:txBody>
      </p:sp>
      <p:sp>
        <p:nvSpPr>
          <p:cNvPr id="263" name="T"/>
          <p:cNvSpPr txBox="1"/>
          <p:nvPr/>
        </p:nvSpPr>
        <p:spPr>
          <a:xfrm>
            <a:off x="400050" y="4342496"/>
            <a:ext cx="44856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B4520A"/>
                </a:solidFill>
                <a:latin typeface="Open Sans 700"/>
                <a:cs typeface="Open Sans 700"/>
              </a:rPr>
              <a:t>obeyed.</a:t>
            </a:r>
          </a:p>
        </p:txBody>
      </p:sp>
      <p:sp>
        <p:nvSpPr>
          <p:cNvPr id="263" name="T"/>
          <p:cNvSpPr txBox="1"/>
          <p:nvPr/>
        </p:nvSpPr>
        <p:spPr>
          <a:xfrm>
            <a:off x="857994" y="4342496"/>
            <a:ext cx="167729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Every verdict expands into the real</a:t>
            </a:r>
          </a:p>
        </p:txBody>
      </p:sp>
      <p:sp>
        <p:nvSpPr>
          <p:cNvPr id="263" name="T"/>
          <p:cNvSpPr txBox="1"/>
          <p:nvPr/>
        </p:nvSpPr>
        <p:spPr>
          <a:xfrm>
            <a:off x="400050" y="4501295"/>
            <a:ext cx="194443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factors that produced it, so a chartering</a:t>
            </a:r>
          </a:p>
        </p:txBody>
      </p:sp>
      <p:sp>
        <p:nvSpPr>
          <p:cNvPr id="263" name="T"/>
          <p:cNvSpPr txBox="1"/>
          <p:nvPr/>
        </p:nvSpPr>
        <p:spPr>
          <a:xfrm>
            <a:off x="400050" y="4660095"/>
            <a:ext cx="197896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manager can overrule it for a reason the</a:t>
            </a:r>
          </a:p>
        </p:txBody>
      </p:sp>
      <p:sp>
        <p:nvSpPr>
          <p:cNvPr id="263" name="T"/>
          <p:cNvSpPr txBox="1"/>
          <p:nvPr/>
        </p:nvSpPr>
        <p:spPr>
          <a:xfrm>
            <a:off x="400050" y="4818894"/>
            <a:ext cx="18037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model cannot see, and that reason is</a:t>
            </a:r>
          </a:p>
        </p:txBody>
      </p:sp>
      <p:sp>
        <p:nvSpPr>
          <p:cNvPr id="263" name="T"/>
          <p:cNvSpPr txBox="1"/>
          <p:nvPr/>
        </p:nvSpPr>
        <p:spPr>
          <a:xfrm>
            <a:off x="400050" y="4977694"/>
            <a:ext cx="48012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recorded.</a:t>
            </a:r>
          </a:p>
        </p:txBody>
      </p:sp>
      <p:sp>
        <p:nvSpPr>
          <p:cNvPr id="263" name="Box"/>
          <p:cNvSpPr/>
          <p:nvPr/>
        </p:nvSpPr>
        <p:spPr>
          <a:xfrm>
            <a:off x="2847975" y="866775"/>
            <a:ext cx="4486275" cy="2042666"/>
          </a:xfrm>
          <a:prstGeom prst="roundRect">
            <a:avLst>
              <a:gd name="adj" fmla="val 6062"/>
            </a:avLst>
          </a:prstGeom>
          <a:solidFill>
            <a:srgbClr val="DCEEF8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264" name="T"/>
          <p:cNvSpPr txBox="1"/>
          <p:nvPr/>
        </p:nvSpPr>
        <p:spPr>
          <a:xfrm>
            <a:off x="2990850" y="974734"/>
            <a:ext cx="77881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ECONOMIC</a:t>
            </a:r>
          </a:p>
        </p:txBody>
      </p:sp>
      <p:sp>
        <p:nvSpPr>
          <p:cNvPr id="264" name="T"/>
          <p:cNvSpPr txBox="1"/>
          <p:nvPr/>
        </p:nvSpPr>
        <p:spPr>
          <a:xfrm>
            <a:off x="2990850" y="122705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1209167"/>
            <a:ext cx="214833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A walk-away price on every deal.</a:t>
            </a:r>
          </a:p>
        </p:txBody>
      </p:sp>
      <p:sp>
        <p:nvSpPr>
          <p:cNvPr id="264" name="T"/>
          <p:cNvSpPr txBox="1"/>
          <p:nvPr/>
        </p:nvSpPr>
        <p:spPr>
          <a:xfrm>
            <a:off x="5314652" y="1218563"/>
            <a:ext cx="180275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The desk stops paying above a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1417397"/>
            <a:ext cx="3911650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rate it can justify, and knows the exact rate move that flips the call.</a:t>
            </a:r>
          </a:p>
        </p:txBody>
      </p:sp>
      <p:sp>
        <p:nvSpPr>
          <p:cNvPr id="264" name="T"/>
          <p:cNvSpPr txBox="1"/>
          <p:nvPr/>
        </p:nvSpPr>
        <p:spPr>
          <a:xfrm>
            <a:off x="2990850" y="1702714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1684822"/>
            <a:ext cx="2060525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Spot to period shift, quantified.</a:t>
            </a:r>
          </a:p>
        </p:txBody>
      </p:sp>
      <p:sp>
        <p:nvSpPr>
          <p:cNvPr id="264" name="T"/>
          <p:cNvSpPr txBox="1"/>
          <p:nvPr/>
        </p:nvSpPr>
        <p:spPr>
          <a:xfrm>
            <a:off x="5226844" y="1694218"/>
            <a:ext cx="192315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The efficient frontier prices what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1893052"/>
            <a:ext cx="288711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buying certainty actually costs across the season.</a:t>
            </a:r>
          </a:p>
        </p:txBody>
      </p:sp>
      <p:sp>
        <p:nvSpPr>
          <p:cNvPr id="264" name="T"/>
          <p:cNvSpPr txBox="1"/>
          <p:nvPr/>
        </p:nvSpPr>
        <p:spPr>
          <a:xfrm>
            <a:off x="2990850" y="217836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2E75B6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2160477"/>
            <a:ext cx="187523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Measured on realised saving</a:t>
            </a:r>
          </a:p>
        </p:txBody>
      </p:sp>
      <p:sp>
        <p:nvSpPr>
          <p:cNvPr id="264" name="T"/>
          <p:cNvSpPr txBox="1"/>
          <p:nvPr/>
        </p:nvSpPr>
        <p:spPr>
          <a:xfrm>
            <a:off x="5041553" y="2169872"/>
            <a:ext cx="209728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versus always-lock and always-wait,</a:t>
            </a:r>
          </a:p>
        </p:txBody>
      </p:sp>
      <p:sp>
        <p:nvSpPr>
          <p:cNvPr id="264" name="T"/>
          <p:cNvSpPr txBox="1"/>
          <p:nvPr/>
        </p:nvSpPr>
        <p:spPr>
          <a:xfrm>
            <a:off x="3152775" y="2368707"/>
            <a:ext cx="138365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not on model accuracy.</a:t>
            </a:r>
          </a:p>
        </p:txBody>
      </p:sp>
      <p:sp>
        <p:nvSpPr>
          <p:cNvPr id="264" name="Box"/>
          <p:cNvSpPr/>
          <p:nvPr/>
        </p:nvSpPr>
        <p:spPr>
          <a:xfrm>
            <a:off x="7448550" y="866775"/>
            <a:ext cx="4486275" cy="2042666"/>
          </a:xfrm>
          <a:prstGeom prst="roundRect">
            <a:avLst>
              <a:gd name="adj" fmla="val 6062"/>
            </a:avLst>
          </a:prstGeom>
          <a:solidFill>
            <a:srgbClr val="FFF2CC"/>
          </a:solidFill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265" name="T"/>
          <p:cNvSpPr txBox="1"/>
          <p:nvPr/>
        </p:nvSpPr>
        <p:spPr>
          <a:xfrm>
            <a:off x="7591425" y="974734"/>
            <a:ext cx="1020663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A6100"/>
                </a:solidFill>
                <a:latin typeface="Montserrat 800"/>
                <a:cs typeface="Montserrat 800"/>
              </a:rPr>
              <a:t>OPERATIONAL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591425" y="122705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1209167"/>
            <a:ext cx="1393775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No infeasible fixture.</a:t>
            </a:r>
          </a:p>
        </p:txBody>
      </p:sp>
      <p:sp>
        <p:nvSpPr>
          <p:cNvPr id="265" name="T"/>
          <p:cNvSpPr txBox="1"/>
          <p:nvPr/>
        </p:nvSpPr>
        <p:spPr>
          <a:xfrm>
            <a:off x="9160669" y="1218563"/>
            <a:ext cx="247798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Draft, LOA, beam and DWT are checked at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1417397"/>
            <a:ext cx="2876104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both ends before signing, not at the pilot station.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591425" y="1702714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1684822"/>
            <a:ext cx="946993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Less idle time.</a:t>
            </a:r>
          </a:p>
        </p:txBody>
      </p:sp>
      <p:sp>
        <p:nvSpPr>
          <p:cNvPr id="265" name="T"/>
          <p:cNvSpPr txBox="1"/>
          <p:nvPr/>
        </p:nvSpPr>
        <p:spPr>
          <a:xfrm>
            <a:off x="8713887" y="1694218"/>
            <a:ext cx="2711797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Queue time from real satellite arrivals; CP-SAT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1893052"/>
            <a:ext cx="359464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sequencing; ballast legs scored against real cargo probability.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591425" y="2178369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2160477"/>
            <a:ext cx="1086892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Fewer surprises.</a:t>
            </a:r>
          </a:p>
        </p:txBody>
      </p:sp>
      <p:sp>
        <p:nvSpPr>
          <p:cNvPr id="265" name="T"/>
          <p:cNvSpPr txBox="1"/>
          <p:nvPr/>
        </p:nvSpPr>
        <p:spPr>
          <a:xfrm>
            <a:off x="8853785" y="2169872"/>
            <a:ext cx="2793950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Four disruption channels watched continuously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753350" y="2368707"/>
            <a:ext cx="603200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per route.</a:t>
            </a:r>
          </a:p>
        </p:txBody>
      </p:sp>
      <p:sp>
        <p:nvSpPr>
          <p:cNvPr id="265" name="Box"/>
          <p:cNvSpPr/>
          <p:nvPr/>
        </p:nvSpPr>
        <p:spPr>
          <a:xfrm>
            <a:off x="2847975" y="3023741"/>
            <a:ext cx="4486275" cy="2233761"/>
          </a:xfrm>
          <a:prstGeom prst="roundRect">
            <a:avLst>
              <a:gd name="adj" fmla="val 5543"/>
            </a:avLst>
          </a:prstGeom>
          <a:solidFill>
            <a:srgbClr val="E2F0D9"/>
          </a:solidFill>
          <a:ln w="19050" cap="flat">
            <a:solidFill>
              <a:srgbClr val="3E8E41"/>
            </a:solidFill>
            <a:prstDash val="solid"/>
          </a:ln>
        </p:spPr>
        <p:txBody>
          <a:bodyPr/>
          <a:lstStyle/>
          <a:p/>
        </p:txBody>
      </p:sp>
      <p:sp>
        <p:nvSpPr>
          <p:cNvPr id="266" name="T"/>
          <p:cNvSpPr txBox="1"/>
          <p:nvPr/>
        </p:nvSpPr>
        <p:spPr>
          <a:xfrm>
            <a:off x="2990850" y="3131700"/>
            <a:ext cx="1227981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2C6B2F"/>
                </a:solidFill>
                <a:latin typeface="Montserrat 800"/>
                <a:cs typeface="Montserrat 800"/>
              </a:rPr>
              <a:t>ENVIRONMENTAL</a:t>
            </a:r>
          </a:p>
        </p:txBody>
      </p:sp>
      <p:sp>
        <p:nvSpPr>
          <p:cNvPr id="266" name="T"/>
          <p:cNvSpPr txBox="1"/>
          <p:nvPr/>
        </p:nvSpPr>
        <p:spPr>
          <a:xfrm>
            <a:off x="2990850" y="3384025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6" name="T"/>
          <p:cNvSpPr txBox="1"/>
          <p:nvPr/>
        </p:nvSpPr>
        <p:spPr>
          <a:xfrm>
            <a:off x="3152775" y="3366133"/>
            <a:ext cx="2150715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Carbon rating before the fixture.</a:t>
            </a:r>
          </a:p>
        </p:txBody>
      </p:sp>
      <p:sp>
        <p:nvSpPr>
          <p:cNvPr id="266" name="T"/>
          <p:cNvSpPr txBox="1"/>
          <p:nvPr/>
        </p:nvSpPr>
        <p:spPr>
          <a:xfrm>
            <a:off x="5317034" y="3375529"/>
            <a:ext cx="1604814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IMO attained-CII arithmetic</a:t>
            </a:r>
          </a:p>
        </p:txBody>
      </p:sp>
      <p:sp>
        <p:nvSpPr>
          <p:cNvPr id="266" name="T"/>
          <p:cNvSpPr txBox="1"/>
          <p:nvPr/>
        </p:nvSpPr>
        <p:spPr>
          <a:xfrm>
            <a:off x="3152775" y="3574363"/>
            <a:ext cx="370760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projects the A to E band the voyage would earn the vessel, with</a:t>
            </a:r>
          </a:p>
        </p:txBody>
      </p:sp>
      <p:sp>
        <p:nvSpPr>
          <p:cNvPr id="266" name="T"/>
          <p:cNvSpPr txBox="1"/>
          <p:nvPr/>
        </p:nvSpPr>
        <p:spPr>
          <a:xfrm>
            <a:off x="3152775" y="3765459"/>
            <a:ext cx="2648099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constants read from the primary resolutions.</a:t>
            </a:r>
          </a:p>
        </p:txBody>
      </p:sp>
      <p:sp>
        <p:nvSpPr>
          <p:cNvPr id="266" name="T"/>
          <p:cNvSpPr txBox="1"/>
          <p:nvPr/>
        </p:nvSpPr>
        <p:spPr>
          <a:xfrm>
            <a:off x="2990850" y="4050775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3E8E41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6" name="T"/>
          <p:cNvSpPr txBox="1"/>
          <p:nvPr/>
        </p:nvSpPr>
        <p:spPr>
          <a:xfrm>
            <a:off x="3152775" y="4032883"/>
            <a:ext cx="1179909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Less deadheading</a:t>
            </a:r>
          </a:p>
        </p:txBody>
      </p:sp>
      <p:sp>
        <p:nvSpPr>
          <p:cNvPr id="266" name="T"/>
          <p:cNvSpPr txBox="1"/>
          <p:nvPr/>
        </p:nvSpPr>
        <p:spPr>
          <a:xfrm>
            <a:off x="4346228" y="4042279"/>
            <a:ext cx="2536031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and less idling at anchor is directly less fuel</a:t>
            </a:r>
          </a:p>
        </p:txBody>
      </p:sp>
      <p:sp>
        <p:nvSpPr>
          <p:cNvPr id="266" name="T"/>
          <p:cNvSpPr txBox="1"/>
          <p:nvPr/>
        </p:nvSpPr>
        <p:spPr>
          <a:xfrm>
            <a:off x="3152775" y="4241113"/>
            <a:ext cx="1067544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burnt and less CO</a:t>
            </a:r>
          </a:p>
        </p:txBody>
      </p:sp>
      <p:sp>
        <p:nvSpPr>
          <p:cNvPr id="266" name="T"/>
          <p:cNvSpPr txBox="1"/>
          <p:nvPr/>
        </p:nvSpPr>
        <p:spPr>
          <a:xfrm>
            <a:off x="4201269" y="4294302"/>
            <a:ext cx="7902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4D4D4D"/>
                </a:solidFill>
                <a:latin typeface="Open Sans 400"/>
                <a:cs typeface="Open Sans 400"/>
              </a:rPr>
              <a:t>2</a:t>
            </a:r>
          </a:p>
        </p:txBody>
      </p:sp>
      <p:sp>
        <p:nvSpPr>
          <p:cNvPr id="266" name="T"/>
          <p:cNvSpPr txBox="1"/>
          <p:nvPr/>
        </p:nvSpPr>
        <p:spPr>
          <a:xfrm>
            <a:off x="4293840" y="4241113"/>
            <a:ext cx="508099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emitted.</a:t>
            </a:r>
          </a:p>
        </p:txBody>
      </p:sp>
      <p:sp>
        <p:nvSpPr>
          <p:cNvPr id="266" name="Box"/>
          <p:cNvSpPr/>
          <p:nvPr/>
        </p:nvSpPr>
        <p:spPr>
          <a:xfrm>
            <a:off x="7448550" y="3023741"/>
            <a:ext cx="4486275" cy="2233761"/>
          </a:xfrm>
          <a:prstGeom prst="roundRect">
            <a:avLst>
              <a:gd name="adj" fmla="val 5543"/>
            </a:avLst>
          </a:prstGeom>
          <a:solidFill>
            <a:srgbClr val="FBE5D6"/>
          </a:solidFill>
          <a:ln w="19050" cap="flat">
            <a:solidFill>
              <a:srgbClr val="F58220"/>
            </a:solidFill>
            <a:prstDash val="solid"/>
          </a:ln>
        </p:spPr>
        <p:txBody>
          <a:bodyPr/>
          <a:lstStyle/>
          <a:p/>
        </p:txBody>
      </p:sp>
      <p:sp>
        <p:nvSpPr>
          <p:cNvPr id="267" name="T"/>
          <p:cNvSpPr txBox="1"/>
          <p:nvPr/>
        </p:nvSpPr>
        <p:spPr>
          <a:xfrm>
            <a:off x="7591425" y="3131700"/>
            <a:ext cx="168041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B4520A"/>
                </a:solidFill>
                <a:latin typeface="Montserrat 800"/>
                <a:cs typeface="Montserrat 800"/>
              </a:rPr>
              <a:t>SOCIAL &amp; GOVERNANCE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591425" y="3384025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3366133"/>
            <a:ext cx="278457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Public-money decisions become auditable.</a:t>
            </a:r>
          </a:p>
        </p:txBody>
      </p:sp>
      <p:sp>
        <p:nvSpPr>
          <p:cNvPr id="267" name="T"/>
          <p:cNvSpPr txBox="1"/>
          <p:nvPr/>
        </p:nvSpPr>
        <p:spPr>
          <a:xfrm>
            <a:off x="10551468" y="3375529"/>
            <a:ext cx="33679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Every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3574363"/>
            <a:ext cx="3996928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recommendation is written to an append-only record the moment it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3765459"/>
            <a:ext cx="278308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is made, and no entry can be edited or deleted.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591425" y="4050775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4032883"/>
            <a:ext cx="1392734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Reliable steel supply.</a:t>
            </a:r>
          </a:p>
        </p:txBody>
      </p:sp>
      <p:sp>
        <p:nvSpPr>
          <p:cNvPr id="267" name="T"/>
          <p:cNvSpPr txBox="1"/>
          <p:nvPr/>
        </p:nvSpPr>
        <p:spPr>
          <a:xfrm>
            <a:off x="9159627" y="4042279"/>
            <a:ext cx="234255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Stockout risk is priced against real plant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4241113"/>
            <a:ext cx="675084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cover days.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591425" y="4526430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F5822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4508538"/>
            <a:ext cx="3070622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030" b="0" i="0" dirty="0">
                <a:solidFill>
                  <a:srgbClr val="000000"/>
                </a:solidFill>
                <a:latin typeface="Open Sans 700"/>
                <a:cs typeface="Open Sans 700"/>
              </a:rPr>
              <a:t>Institutional knowledge outlives the individual</a:t>
            </a:r>
          </a:p>
        </p:txBody>
      </p:sp>
      <p:sp>
        <p:nvSpPr>
          <p:cNvPr id="267" name="T"/>
          <p:cNvSpPr txBox="1"/>
          <p:nvPr/>
        </p:nvSpPr>
        <p:spPr>
          <a:xfrm>
            <a:off x="10837515" y="4517934"/>
            <a:ext cx="860971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who made the</a:t>
            </a:r>
          </a:p>
        </p:txBody>
      </p:sp>
      <p:sp>
        <p:nvSpPr>
          <p:cNvPr id="267" name="T"/>
          <p:cNvSpPr txBox="1"/>
          <p:nvPr/>
        </p:nvSpPr>
        <p:spPr>
          <a:xfrm>
            <a:off x="7753350" y="4716768"/>
            <a:ext cx="245715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90" b="0" i="0" dirty="0">
                <a:solidFill>
                  <a:srgbClr val="4D4D4D"/>
                </a:solidFill>
                <a:latin typeface="Open Sans 400"/>
                <a:cs typeface="Open Sans 400"/>
              </a:rPr>
              <a:t>call.</a:t>
            </a:r>
          </a:p>
        </p:txBody>
      </p:sp>
      <p:sp>
        <p:nvSpPr>
          <p:cNvPr id="267" name="Box"/>
          <p:cNvSpPr/>
          <p:nvPr/>
        </p:nvSpPr>
        <p:spPr>
          <a:xfrm>
            <a:off x="257175" y="5362277"/>
            <a:ext cx="11677650" cy="1181398"/>
          </a:xfrm>
          <a:prstGeom prst="roundRect">
            <a:avLst>
              <a:gd name="adj" fmla="val 10481"/>
            </a:avLst>
          </a:prstGeom>
          <a:solidFill>
            <a:srgbClr val="F7E3E2"/>
          </a:solidFill>
          <a:ln w="19050" cap="flat">
            <a:solidFill>
              <a:srgbClr val="C0504D"/>
            </a:solidFill>
            <a:prstDash val="solid"/>
          </a:ln>
        </p:spPr>
        <p:txBody>
          <a:bodyPr/>
          <a:lstStyle/>
          <a:p/>
        </p:txBody>
      </p:sp>
      <p:sp>
        <p:nvSpPr>
          <p:cNvPr id="268" name="Edge"/>
          <p:cNvSpPr/>
          <p:nvPr/>
        </p:nvSpPr>
        <p:spPr>
          <a:xfrm>
            <a:off x="2419350" y="5442496"/>
            <a:ext cx="95" cy="1011436"/>
          </a:xfrm>
          <a:custGeom>
            <a:avLst/>
            <a:gdLst/>
            <a:ahLst/>
            <a:cxnLst/>
            <a:rect l="0" t="0" r="95" b="1011436"/>
            <a:pathLst>
              <a:path w="95" h="1011436">
                <a:moveTo>
                  <a:pt x="0" y="0"/>
                </a:moveTo>
                <a:lnTo>
                  <a:pt x="0" y="1011436"/>
                </a:lnTo>
              </a:path>
            </a:pathLst>
          </a:custGeom>
          <a:noFill/>
          <a:ln w="19050" cap="flat">
            <a:solidFill>
              <a:srgbClr val="D8A9A7"/>
            </a:solidFill>
            <a:prstDash val="dash"/>
          </a:ln>
        </p:spPr>
        <p:txBody>
          <a:bodyPr/>
          <a:lstStyle/>
          <a:p/>
        </p:txBody>
      </p:sp>
      <p:sp>
        <p:nvSpPr>
          <p:cNvPr id="269" name="T"/>
          <p:cNvSpPr txBox="1"/>
          <p:nvPr/>
        </p:nvSpPr>
        <p:spPr>
          <a:xfrm>
            <a:off x="400050" y="5436154"/>
            <a:ext cx="180141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E3936"/>
                </a:solidFill>
                <a:latin typeface="Montserrat 800"/>
                <a:cs typeface="Montserrat 800"/>
              </a:rPr>
              <a:t>WORKED EXAMPLE, REAL</a:t>
            </a:r>
          </a:p>
        </p:txBody>
      </p:sp>
      <p:sp>
        <p:nvSpPr>
          <p:cNvPr id="269" name="T"/>
          <p:cNvSpPr txBox="1"/>
          <p:nvPr/>
        </p:nvSpPr>
        <p:spPr>
          <a:xfrm>
            <a:off x="400050" y="5584685"/>
            <a:ext cx="319088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E3936"/>
                </a:solidFill>
                <a:latin typeface="Montserrat 800"/>
                <a:cs typeface="Montserrat 800"/>
              </a:rPr>
              <a:t>RUN</a:t>
            </a:r>
          </a:p>
        </p:txBody>
      </p:sp>
      <p:sp>
        <p:nvSpPr>
          <p:cNvPr id="269" name="T"/>
          <p:cNvSpPr txBox="1"/>
          <p:nvPr/>
        </p:nvSpPr>
        <p:spPr>
          <a:xfrm>
            <a:off x="400050" y="5781085"/>
            <a:ext cx="150539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>
                <a:solidFill>
                  <a:srgbClr val="000000"/>
                </a:solidFill>
                <a:latin typeface="Montserrat 800"/>
                <a:cs typeface="Montserrat 800"/>
              </a:rPr>
              <a:t>Newcastle </a:t>
            </a:r>
            <a:r>
              <a:rPr lang="en-US" sz="1050" b="0" i="0" dirty="0">
                <a:solidFill>
                  <a:srgbClr val="000000"/>
                </a:solidFill>
                <a:latin typeface="Segoe UI Symbol"/>
                <a:cs typeface="Segoe UI Symbol"/>
              </a:rPr>
              <a:t>→</a:t>
            </a:r>
            <a:r>
              <a:rPr lang="en-US" sz="1050" b="0" i="0" dirty="0">
                <a:solidFill>
                  <a:srgbClr val="000000"/>
                </a:solidFill>
                <a:latin typeface="Montserrat 800"/>
                <a:cs typeface="Montserrat 800"/>
              </a:rPr>
              <a:t> Paradip</a:t>
            </a:r>
          </a:p>
        </p:txBody>
      </p:sp>
      <p:sp>
        <p:nvSpPr>
          <p:cNvPr id="269" name="T"/>
          <p:cNvSpPr txBox="1"/>
          <p:nvPr/>
        </p:nvSpPr>
        <p:spPr>
          <a:xfrm>
            <a:off x="400050" y="5947773"/>
            <a:ext cx="590550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1050" b="0" i="0" dirty="0">
                <a:solidFill>
                  <a:srgbClr val="000000"/>
                </a:solidFill>
                <a:latin typeface="Montserrat 800"/>
                <a:cs typeface="Montserrat 800"/>
              </a:rPr>
              <a:t>75,000 t</a:t>
            </a:r>
          </a:p>
        </p:txBody>
      </p:sp>
      <p:sp>
        <p:nvSpPr>
          <p:cNvPr id="269" name="T"/>
          <p:cNvSpPr txBox="1"/>
          <p:nvPr/>
        </p:nvSpPr>
        <p:spPr>
          <a:xfrm>
            <a:off x="400050" y="6170998"/>
            <a:ext cx="152727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Every figure below came off the</a:t>
            </a:r>
          </a:p>
        </p:txBody>
      </p:sp>
      <p:sp>
        <p:nvSpPr>
          <p:cNvPr id="269" name="T"/>
          <p:cNvSpPr txBox="1"/>
          <p:nvPr/>
        </p:nvSpPr>
        <p:spPr>
          <a:xfrm>
            <a:off x="400050" y="6313873"/>
            <a:ext cx="78625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62" b="0" i="0" dirty="0">
                <a:solidFill>
                  <a:srgbClr val="5A5A5A"/>
                </a:solidFill>
                <a:latin typeface="Open Sans 400 It"/>
                <a:cs typeface="Open Sans 400 It"/>
              </a:rPr>
              <a:t>running system.</a:t>
            </a:r>
          </a:p>
        </p:txBody>
      </p:sp>
      <p:sp>
        <p:nvSpPr>
          <p:cNvPr id="269" name="T"/>
          <p:cNvSpPr txBox="1"/>
          <p:nvPr/>
        </p:nvSpPr>
        <p:spPr>
          <a:xfrm>
            <a:off x="2609850" y="5557003"/>
            <a:ext cx="2506414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E3936"/>
                </a:solidFill>
                <a:latin typeface="Montserrat 800"/>
                <a:cs typeface="Montserrat 800"/>
              </a:rPr>
              <a:t>RIGHT SHIP, FOR A STATED REASON</a:t>
            </a:r>
          </a:p>
        </p:txBody>
      </p:sp>
      <p:sp>
        <p:nvSpPr>
          <p:cNvPr id="269" name="T"/>
          <p:cNvSpPr txBox="1"/>
          <p:nvPr/>
        </p:nvSpPr>
        <p:spPr>
          <a:xfrm>
            <a:off x="2609850" y="5737537"/>
            <a:ext cx="1858417" cy="3143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75"/>
              </a:lnSpc>
            </a:pPr>
            <a:r>
              <a:rPr lang="en-US" sz="2025" b="0" i="0" dirty="0" spc="-20">
                <a:solidFill>
                  <a:srgbClr val="000000"/>
                </a:solidFill>
                <a:latin typeface="Montserrat 900"/>
                <a:cs typeface="Montserrat 900"/>
              </a:rPr>
              <a:t>2 × Supramax</a:t>
            </a:r>
          </a:p>
        </p:txBody>
      </p:sp>
      <p:sp>
        <p:nvSpPr>
          <p:cNvPr id="269" name="T"/>
          <p:cNvSpPr txBox="1"/>
          <p:nvPr/>
        </p:nvSpPr>
        <p:spPr>
          <a:xfrm>
            <a:off x="2609850" y="6043479"/>
            <a:ext cx="50006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Panamax</a:t>
            </a:r>
          </a:p>
        </p:txBody>
      </p:sp>
      <p:sp>
        <p:nvSpPr>
          <p:cNvPr id="269" name="T"/>
          <p:cNvSpPr txBox="1"/>
          <p:nvPr/>
        </p:nvSpPr>
        <p:spPr>
          <a:xfrm>
            <a:off x="3090862" y="6043479"/>
            <a:ext cx="45005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000000"/>
                </a:solidFill>
                <a:latin typeface="Open Sans 700"/>
                <a:cs typeface="Open Sans 700"/>
              </a:rPr>
              <a:t>rejected</a:t>
            </a:r>
          </a:p>
        </p:txBody>
      </p:sp>
      <p:sp>
        <p:nvSpPr>
          <p:cNvPr id="269" name="T"/>
          <p:cNvSpPr txBox="1"/>
          <p:nvPr/>
        </p:nvSpPr>
        <p:spPr>
          <a:xfrm>
            <a:off x="3548955" y="6043479"/>
            <a:ext cx="189056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on Paradip's deadweight limit, and the</a:t>
            </a:r>
          </a:p>
        </p:txBody>
      </p:sp>
      <p:sp>
        <p:nvSpPr>
          <p:cNvPr id="269" name="T"/>
          <p:cNvSpPr txBox="1"/>
          <p:nvPr/>
        </p:nvSpPr>
        <p:spPr>
          <a:xfrm>
            <a:off x="2609850" y="6184865"/>
            <a:ext cx="135805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verdict panel agrees with it.</a:t>
            </a:r>
          </a:p>
        </p:txBody>
      </p:sp>
      <p:sp>
        <p:nvSpPr>
          <p:cNvPr id="269" name="T"/>
          <p:cNvSpPr txBox="1"/>
          <p:nvPr/>
        </p:nvSpPr>
        <p:spPr>
          <a:xfrm>
            <a:off x="5727650" y="5557003"/>
            <a:ext cx="2287042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E3936"/>
                </a:solidFill>
                <a:latin typeface="Montserrat 800"/>
                <a:cs typeface="Montserrat 800"/>
              </a:rPr>
              <a:t>THE OPTION TO WAIT, IN MONEY</a:t>
            </a:r>
          </a:p>
        </p:txBody>
      </p:sp>
      <p:sp>
        <p:nvSpPr>
          <p:cNvPr id="269" name="T"/>
          <p:cNvSpPr txBox="1"/>
          <p:nvPr/>
        </p:nvSpPr>
        <p:spPr>
          <a:xfrm>
            <a:off x="5727650" y="5737537"/>
            <a:ext cx="845939" cy="3143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75"/>
              </a:lnSpc>
            </a:pPr>
            <a:r>
              <a:rPr lang="en-US" sz="2025" b="0" i="0" dirty="0" spc="-20">
                <a:solidFill>
                  <a:srgbClr val="000000"/>
                </a:solidFill>
                <a:latin typeface="Montserrat 900"/>
                <a:cs typeface="Montserrat 900"/>
              </a:rPr>
              <a:t>$1,538</a:t>
            </a:r>
          </a:p>
        </p:txBody>
      </p:sp>
      <p:sp>
        <p:nvSpPr>
          <p:cNvPr id="269" name="T"/>
          <p:cNvSpPr txBox="1"/>
          <p:nvPr/>
        </p:nvSpPr>
        <p:spPr>
          <a:xfrm>
            <a:off x="6554539" y="5839618"/>
            <a:ext cx="358527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200" b="0" i="0" dirty="0" spc="-20">
                <a:solidFill>
                  <a:srgbClr val="000000"/>
                </a:solidFill>
                <a:latin typeface="Montserrat 800"/>
                <a:cs typeface="Montserrat 800"/>
              </a:rPr>
              <a:t>/day</a:t>
            </a:r>
          </a:p>
        </p:txBody>
      </p:sp>
      <p:sp>
        <p:nvSpPr>
          <p:cNvPr id="269" name="T"/>
          <p:cNvSpPr txBox="1"/>
          <p:nvPr/>
        </p:nvSpPr>
        <p:spPr>
          <a:xfrm>
            <a:off x="5727650" y="6043479"/>
            <a:ext cx="158829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Moved the walk-away rate from</a:t>
            </a:r>
          </a:p>
        </p:txBody>
      </p:sp>
      <p:sp>
        <p:nvSpPr>
          <p:cNvPr id="269" name="T"/>
          <p:cNvSpPr txBox="1"/>
          <p:nvPr/>
        </p:nvSpPr>
        <p:spPr>
          <a:xfrm>
            <a:off x="7296894" y="6043479"/>
            <a:ext cx="40838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000000"/>
                </a:solidFill>
                <a:latin typeface="Open Sans 700"/>
                <a:cs typeface="Open Sans 700"/>
              </a:rPr>
              <a:t>$21,016</a:t>
            </a:r>
          </a:p>
        </p:txBody>
      </p:sp>
      <p:sp>
        <p:nvSpPr>
          <p:cNvPr id="269" name="T"/>
          <p:cNvSpPr txBox="1"/>
          <p:nvPr/>
        </p:nvSpPr>
        <p:spPr>
          <a:xfrm>
            <a:off x="7713315" y="6043479"/>
            <a:ext cx="14689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to</a:t>
            </a:r>
          </a:p>
        </p:txBody>
      </p:sp>
      <p:sp>
        <p:nvSpPr>
          <p:cNvPr id="269" name="T"/>
          <p:cNvSpPr txBox="1"/>
          <p:nvPr/>
        </p:nvSpPr>
        <p:spPr>
          <a:xfrm>
            <a:off x="7841159" y="6043479"/>
            <a:ext cx="40838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000000"/>
                </a:solidFill>
                <a:latin typeface="Open Sans 700"/>
                <a:cs typeface="Open Sans 700"/>
              </a:rPr>
              <a:t>$19,478</a:t>
            </a:r>
          </a:p>
        </p:txBody>
      </p:sp>
      <p:sp>
        <p:nvSpPr>
          <p:cNvPr id="269" name="T"/>
          <p:cNvSpPr txBox="1"/>
          <p:nvPr/>
        </p:nvSpPr>
        <p:spPr>
          <a:xfrm>
            <a:off x="8230493" y="6043479"/>
            <a:ext cx="13171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, a</a:t>
            </a:r>
          </a:p>
        </p:txBody>
      </p:sp>
      <p:sp>
        <p:nvSpPr>
          <p:cNvPr id="269" name="T"/>
          <p:cNvSpPr txBox="1"/>
          <p:nvPr/>
        </p:nvSpPr>
        <p:spPr>
          <a:xfrm>
            <a:off x="5727650" y="6184865"/>
            <a:ext cx="221500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reversal a naive comparison cannot produce.</a:t>
            </a:r>
          </a:p>
        </p:txBody>
      </p:sp>
      <p:sp>
        <p:nvSpPr>
          <p:cNvPr id="269" name="T"/>
          <p:cNvSpPr txBox="1"/>
          <p:nvPr/>
        </p:nvSpPr>
        <p:spPr>
          <a:xfrm>
            <a:off x="8845451" y="5557003"/>
            <a:ext cx="1888034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E3936"/>
                </a:solidFill>
                <a:latin typeface="Montserrat 800"/>
                <a:cs typeface="Montserrat 800"/>
              </a:rPr>
              <a:t>HOW WRONG CAN WE BE?</a:t>
            </a:r>
          </a:p>
        </p:txBody>
      </p:sp>
      <p:sp>
        <p:nvSpPr>
          <p:cNvPr id="269" name="T"/>
          <p:cNvSpPr txBox="1"/>
          <p:nvPr/>
        </p:nvSpPr>
        <p:spPr>
          <a:xfrm>
            <a:off x="8845451" y="5737537"/>
            <a:ext cx="669578" cy="3143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2475"/>
              </a:lnSpc>
            </a:pPr>
            <a:r>
              <a:rPr lang="en-US" sz="2025" b="0" i="0" dirty="0" spc="-20">
                <a:solidFill>
                  <a:srgbClr val="000000"/>
                </a:solidFill>
                <a:latin typeface="Montserrat 900"/>
                <a:cs typeface="Montserrat 900"/>
              </a:rPr>
              <a:t>3 cm</a:t>
            </a:r>
          </a:p>
        </p:txBody>
      </p:sp>
      <p:sp>
        <p:nvSpPr>
          <p:cNvPr id="269" name="T"/>
          <p:cNvSpPr txBox="1"/>
          <p:nvPr/>
        </p:nvSpPr>
        <p:spPr>
          <a:xfrm>
            <a:off x="8845451" y="6043479"/>
            <a:ext cx="289455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Permissible-draft margin before the recommendation flips.</a:t>
            </a:r>
          </a:p>
        </p:txBody>
      </p:sp>
      <p:sp>
        <p:nvSpPr>
          <p:cNvPr id="269" name="T"/>
          <p:cNvSpPr txBox="1"/>
          <p:nvPr/>
        </p:nvSpPr>
        <p:spPr>
          <a:xfrm>
            <a:off x="8845451" y="6184865"/>
            <a:ext cx="164321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25" b="0" i="0" dirty="0">
                <a:solidFill>
                  <a:srgbClr val="7A7A7A"/>
                </a:solidFill>
                <a:latin typeface="Open Sans 400"/>
                <a:cs typeface="Open Sans 400"/>
              </a:rPr>
              <a:t>No accuracy metric surfaces that.</a:t>
            </a:r>
          </a:p>
        </p:txBody>
      </p:sp>
      <p:sp>
        <p:nvSpPr>
          <p:cNvPr id="269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270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0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71" name="Box"/>
          <p:cNvSpPr/>
          <p:nvPr/>
        </p:nvSpPr>
        <p:spPr>
          <a:xfrm>
            <a:off x="257175" y="180975"/>
            <a:ext cx="1181100" cy="552450"/>
          </a:xfrm>
          <a:prstGeom prst="ellipse">
            <a:avLst/>
          </a:prstGeom>
          <a:noFill/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272" name="T"/>
          <p:cNvSpPr txBox="1"/>
          <p:nvPr/>
        </p:nvSpPr>
        <p:spPr>
          <a:xfrm>
            <a:off x="661690" y="313543"/>
            <a:ext cx="37177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CODE</a:t>
            </a:r>
          </a:p>
        </p:txBody>
      </p:sp>
      <p:sp>
        <p:nvSpPr>
          <p:cNvPr id="272" name="T"/>
          <p:cNvSpPr txBox="1"/>
          <p:nvPr/>
        </p:nvSpPr>
        <p:spPr>
          <a:xfrm>
            <a:off x="539502" y="450614"/>
            <a:ext cx="61629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900" b="0" i="0" dirty="0" spc="9">
                <a:solidFill>
                  <a:srgbClr val="1A1A1A"/>
                </a:solidFill>
                <a:latin typeface="Montserrat 800"/>
                <a:cs typeface="Montserrat 800"/>
              </a:rPr>
              <a:t>HACKERZ</a:t>
            </a:r>
          </a:p>
        </p:txBody>
      </p:sp>
      <p:sp>
        <p:nvSpPr>
          <p:cNvPr id="272" name="T"/>
          <p:cNvSpPr txBox="1"/>
          <p:nvPr/>
        </p:nvSpPr>
        <p:spPr>
          <a:xfrm>
            <a:off x="3174355" y="124052"/>
            <a:ext cx="5690890" cy="4476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3525"/>
              </a:lnSpc>
            </a:pPr>
            <a:r>
              <a:rPr lang="en-US" sz="2850" b="0" i="0" dirty="0" spc="-29">
                <a:solidFill>
                  <a:srgbClr val="000000"/>
                </a:solidFill>
                <a:latin typeface="Montserrat 900"/>
                <a:cs typeface="Montserrat 900"/>
              </a:rPr>
              <a:t>RESEARCH AND REFERENCES</a:t>
            </a:r>
          </a:p>
        </p:txBody>
      </p:sp>
      <p:sp>
        <p:nvSpPr>
          <p:cNvPr id="272" name="T"/>
          <p:cNvSpPr txBox="1"/>
          <p:nvPr/>
        </p:nvSpPr>
        <p:spPr>
          <a:xfrm>
            <a:off x="2789486" y="584103"/>
            <a:ext cx="6460629" cy="1809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425"/>
              </a:lnSpc>
            </a:pPr>
            <a:r>
              <a:rPr lang="en-US" sz="1125" b="0" i="0" dirty="0">
                <a:solidFill>
                  <a:srgbClr val="111111"/>
                </a:solidFill>
                <a:latin typeface="Montserrat 700"/>
                <a:cs typeface="Montserrat 700"/>
              </a:rPr>
              <a:t>Nothing here is assumed. Every number and method traces to a named, dated source.</a:t>
            </a:r>
          </a:p>
        </p:txBody>
      </p:sp>
      <p:pic>
        <p:nvPicPr>
          <p:cNvPr id="273" name="Picture 272" descr="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800" y="136326"/>
            <a:ext cx="1352550" cy="641746"/>
          </a:xfrm>
          <a:prstGeom prst="rect">
            <a:avLst/>
          </a:prstGeom>
        </p:spPr>
      </p:pic>
      <p:sp>
        <p:nvSpPr>
          <p:cNvPr id="272" name="Box"/>
          <p:cNvSpPr/>
          <p:nvPr/>
        </p:nvSpPr>
        <p:spPr>
          <a:xfrm>
            <a:off x="257175" y="866775"/>
            <a:ext cx="5781675" cy="5676900"/>
          </a:xfrm>
          <a:prstGeom prst="roundRect">
            <a:avLst>
              <a:gd name="adj" fmla="val 2181"/>
            </a:avLst>
          </a:prstGeom>
          <a:solidFill>
            <a:srgbClr val="FFFFFF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273" name="T"/>
          <p:cNvSpPr txBox="1"/>
          <p:nvPr/>
        </p:nvSpPr>
        <p:spPr>
          <a:xfrm>
            <a:off x="400050" y="974734"/>
            <a:ext cx="4169122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DATA SOURCES: ALL REAL, ALL ON DISK, ALL OFFLINE-SAFE</a:t>
            </a:r>
          </a:p>
        </p:txBody>
      </p:sp>
      <p:sp>
        <p:nvSpPr>
          <p:cNvPr id="273" name="Box"/>
          <p:cNvSpPr/>
          <p:nvPr/>
        </p:nvSpPr>
        <p:spPr>
          <a:xfrm>
            <a:off x="409575" y="1205805"/>
            <a:ext cx="1643062" cy="215354"/>
          </a:xfrm>
          <a:prstGeom prst="roundRect">
            <a:avLst>
              <a:gd name="adj" fmla="val 17692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T"/>
          <p:cNvSpPr txBox="1"/>
          <p:nvPr/>
        </p:nvSpPr>
        <p:spPr>
          <a:xfrm>
            <a:off x="476250" y="1253945"/>
            <a:ext cx="468809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50" b="0" i="0" dirty="0" spc="38">
                <a:solidFill>
                  <a:srgbClr val="FFFFFF"/>
                </a:solidFill>
                <a:latin typeface="Montserrat 800"/>
                <a:cs typeface="Montserrat 800"/>
              </a:rPr>
              <a:t>SOURCE</a:t>
            </a:r>
          </a:p>
        </p:txBody>
      </p:sp>
      <p:sp>
        <p:nvSpPr>
          <p:cNvPr id="274" name="Box"/>
          <p:cNvSpPr/>
          <p:nvPr/>
        </p:nvSpPr>
        <p:spPr>
          <a:xfrm>
            <a:off x="2052638" y="1205805"/>
            <a:ext cx="3833812" cy="215354"/>
          </a:xfrm>
          <a:prstGeom prst="roundRect">
            <a:avLst>
              <a:gd name="adj" fmla="val 17692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T"/>
          <p:cNvSpPr txBox="1"/>
          <p:nvPr/>
        </p:nvSpPr>
        <p:spPr>
          <a:xfrm>
            <a:off x="2119312" y="1253945"/>
            <a:ext cx="183192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50" b="0" i="0" dirty="0" spc="38">
                <a:solidFill>
                  <a:srgbClr val="FFFFFF"/>
                </a:solidFill>
                <a:latin typeface="Montserrat 800"/>
                <a:cs typeface="Montserrat 800"/>
              </a:rPr>
              <a:t>WHAT IT IS, AND WHAT IT FEEDS</a:t>
            </a:r>
          </a:p>
        </p:txBody>
      </p:sp>
      <p:sp>
        <p:nvSpPr>
          <p:cNvPr id="275" name="Edge"/>
          <p:cNvSpPr/>
          <p:nvPr/>
        </p:nvSpPr>
        <p:spPr>
          <a:xfrm>
            <a:off x="409575" y="1985218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T"/>
          <p:cNvSpPr txBox="1"/>
          <p:nvPr/>
        </p:nvSpPr>
        <p:spPr>
          <a:xfrm>
            <a:off x="476250" y="1563081"/>
            <a:ext cx="86082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Baltic Exchange</a:t>
            </a:r>
          </a:p>
        </p:txBody>
      </p:sp>
      <p:sp>
        <p:nvSpPr>
          <p:cNvPr id="276" name="T"/>
          <p:cNvSpPr txBox="1"/>
          <p:nvPr/>
        </p:nvSpPr>
        <p:spPr>
          <a:xfrm>
            <a:off x="476250" y="1708338"/>
            <a:ext cx="95934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balticexchange.com</a:t>
            </a:r>
          </a:p>
        </p:txBody>
      </p:sp>
      <p:sp>
        <p:nvSpPr>
          <p:cNvPr id="276" name="Edge"/>
          <p:cNvSpPr/>
          <p:nvPr/>
        </p:nvSpPr>
        <p:spPr>
          <a:xfrm>
            <a:off x="2052638" y="1985218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7" name="T"/>
          <p:cNvSpPr txBox="1"/>
          <p:nvPr/>
        </p:nvSpPr>
        <p:spPr>
          <a:xfrm>
            <a:off x="2119312" y="1490453"/>
            <a:ext cx="365507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BCI · BPI · BSI · BHSI · BDI and time-charter averages, 2005 </a:t>
            </a:r>
            <a:r>
              <a:rPr lang="en-US" sz="848" b="0" i="0" dirty="0">
                <a:solidFill>
                  <a:srgbClr val="333333"/>
                </a:solidFill>
                <a:latin typeface="Segoe UI Symbol"/>
                <a:cs typeface="Segoe UI Symbol"/>
              </a:rPr>
              <a:t>→</a:t>
            </a: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 2026-08-20.</a:t>
            </a:r>
          </a:p>
        </p:txBody>
      </p:sp>
      <p:sp>
        <p:nvSpPr>
          <p:cNvPr id="277" name="T"/>
          <p:cNvSpPr txBox="1"/>
          <p:nvPr/>
        </p:nvSpPr>
        <p:spPr>
          <a:xfrm>
            <a:off x="2119312" y="1635709"/>
            <a:ext cx="123378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136,933 rows, 79 series</a:t>
            </a:r>
          </a:p>
        </p:txBody>
      </p:sp>
      <p:sp>
        <p:nvSpPr>
          <p:cNvPr id="277" name="T"/>
          <p:cNvSpPr txBox="1"/>
          <p:nvPr/>
        </p:nvSpPr>
        <p:spPr>
          <a:xfrm>
            <a:off x="3334048" y="1635709"/>
            <a:ext cx="240684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, giving the forecast target and today's real daily</a:t>
            </a:r>
          </a:p>
        </p:txBody>
      </p:sp>
      <p:sp>
        <p:nvSpPr>
          <p:cNvPr id="277" name="T"/>
          <p:cNvSpPr txBox="1"/>
          <p:nvPr/>
        </p:nvSpPr>
        <p:spPr>
          <a:xfrm>
            <a:off x="2119312" y="1780966"/>
            <a:ext cx="25003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rate.</a:t>
            </a:r>
          </a:p>
        </p:txBody>
      </p:sp>
      <p:sp>
        <p:nvSpPr>
          <p:cNvPr id="277" name="Edge"/>
          <p:cNvSpPr/>
          <p:nvPr/>
        </p:nvSpPr>
        <p:spPr>
          <a:xfrm>
            <a:off x="409575" y="2564160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8" name="T"/>
          <p:cNvSpPr txBox="1"/>
          <p:nvPr/>
        </p:nvSpPr>
        <p:spPr>
          <a:xfrm>
            <a:off x="476250" y="2141725"/>
            <a:ext cx="81498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IMF PortWatch</a:t>
            </a:r>
          </a:p>
        </p:txBody>
      </p:sp>
      <p:sp>
        <p:nvSpPr>
          <p:cNvPr id="278" name="T"/>
          <p:cNvSpPr txBox="1"/>
          <p:nvPr/>
        </p:nvSpPr>
        <p:spPr>
          <a:xfrm>
            <a:off x="476250" y="2286981"/>
            <a:ext cx="87153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portwatch.imf.org</a:t>
            </a:r>
          </a:p>
        </p:txBody>
      </p:sp>
      <p:sp>
        <p:nvSpPr>
          <p:cNvPr id="278" name="Edge"/>
          <p:cNvSpPr/>
          <p:nvPr/>
        </p:nvSpPr>
        <p:spPr>
          <a:xfrm>
            <a:off x="2052638" y="2564160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T"/>
          <p:cNvSpPr txBox="1"/>
          <p:nvPr/>
        </p:nvSpPr>
        <p:spPr>
          <a:xfrm>
            <a:off x="2119312" y="2069097"/>
            <a:ext cx="149021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AIS-derived daily port calls at</a:t>
            </a:r>
          </a:p>
        </p:txBody>
      </p:sp>
      <p:sp>
        <p:nvSpPr>
          <p:cNvPr id="279" name="T"/>
          <p:cNvSpPr txBox="1"/>
          <p:nvPr/>
        </p:nvSpPr>
        <p:spPr>
          <a:xfrm>
            <a:off x="3590479" y="2069097"/>
            <a:ext cx="51554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161 ports</a:t>
            </a:r>
          </a:p>
        </p:txBody>
      </p:sp>
      <p:sp>
        <p:nvSpPr>
          <p:cNvPr id="279" name="T"/>
          <p:cNvSpPr txBox="1"/>
          <p:nvPr/>
        </p:nvSpPr>
        <p:spPr>
          <a:xfrm>
            <a:off x="4114800" y="2069097"/>
            <a:ext cx="158844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and daily transits + coordinates</a:t>
            </a:r>
          </a:p>
        </p:txBody>
      </p:sp>
      <p:sp>
        <p:nvSpPr>
          <p:cNvPr id="279" name="T"/>
          <p:cNvSpPr txBox="1"/>
          <p:nvPr/>
        </p:nvSpPr>
        <p:spPr>
          <a:xfrm>
            <a:off x="2119312" y="2214353"/>
            <a:ext cx="19198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for</a:t>
            </a:r>
          </a:p>
        </p:txBody>
      </p:sp>
      <p:sp>
        <p:nvSpPr>
          <p:cNvPr id="279" name="T"/>
          <p:cNvSpPr txBox="1"/>
          <p:nvPr/>
        </p:nvSpPr>
        <p:spPr>
          <a:xfrm>
            <a:off x="2292251" y="2214353"/>
            <a:ext cx="83180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28 chokepoints</a:t>
            </a:r>
          </a:p>
        </p:txBody>
      </p:sp>
      <p:sp>
        <p:nvSpPr>
          <p:cNvPr id="279" name="T"/>
          <p:cNvSpPr txBox="1"/>
          <p:nvPr/>
        </p:nvSpPr>
        <p:spPr>
          <a:xfrm>
            <a:off x="3105001" y="2214353"/>
            <a:ext cx="242932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. Feeds congestion, queue time, tonnage supply,</a:t>
            </a:r>
          </a:p>
        </p:txBody>
      </p:sp>
      <p:sp>
        <p:nvSpPr>
          <p:cNvPr id="279" name="T"/>
          <p:cNvSpPr txBox="1"/>
          <p:nvPr/>
        </p:nvSpPr>
        <p:spPr>
          <a:xfrm>
            <a:off x="2119312" y="2359609"/>
            <a:ext cx="142636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backhaul, chokepoint alerts.</a:t>
            </a:r>
          </a:p>
        </p:txBody>
      </p:sp>
      <p:sp>
        <p:nvSpPr>
          <p:cNvPr id="279" name="Edge"/>
          <p:cNvSpPr/>
          <p:nvPr/>
        </p:nvSpPr>
        <p:spPr>
          <a:xfrm>
            <a:off x="409575" y="2978795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T"/>
          <p:cNvSpPr txBox="1"/>
          <p:nvPr/>
        </p:nvSpPr>
        <p:spPr>
          <a:xfrm>
            <a:off x="476250" y="2638513"/>
            <a:ext cx="117425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NOAA IBTrACS v04r01</a:t>
            </a:r>
          </a:p>
        </p:txBody>
      </p:sp>
      <p:sp>
        <p:nvSpPr>
          <p:cNvPr id="280" name="T"/>
          <p:cNvSpPr txBox="1"/>
          <p:nvPr/>
        </p:nvSpPr>
        <p:spPr>
          <a:xfrm>
            <a:off x="476250" y="2783770"/>
            <a:ext cx="149408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ncei.noaa.gov/products/ibtracs</a:t>
            </a:r>
          </a:p>
        </p:txBody>
      </p:sp>
      <p:sp>
        <p:nvSpPr>
          <p:cNvPr id="280" name="Edge"/>
          <p:cNvSpPr/>
          <p:nvPr/>
        </p:nvSpPr>
        <p:spPr>
          <a:xfrm>
            <a:off x="2052638" y="2978795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T"/>
          <p:cNvSpPr txBox="1"/>
          <p:nvPr/>
        </p:nvSpPr>
        <p:spPr>
          <a:xfrm>
            <a:off x="2119312" y="2638513"/>
            <a:ext cx="105013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726,241 storm fixes</a:t>
            </a:r>
          </a:p>
        </p:txBody>
      </p:sp>
      <p:sp>
        <p:nvSpPr>
          <p:cNvPr id="281" name="T"/>
          <p:cNvSpPr txBox="1"/>
          <p:nvPr/>
        </p:nvSpPr>
        <p:spPr>
          <a:xfrm>
            <a:off x="3178225" y="2638513"/>
            <a:ext cx="238244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(331 MB), reduced to a per-basin, per-ISO-week</a:t>
            </a:r>
          </a:p>
        </p:txBody>
      </p:sp>
      <p:sp>
        <p:nvSpPr>
          <p:cNvPr id="281" name="T"/>
          <p:cNvSpPr txBox="1"/>
          <p:nvPr/>
        </p:nvSpPr>
        <p:spPr>
          <a:xfrm>
            <a:off x="2119312" y="2783770"/>
            <a:ext cx="327749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strike climatology. Feeds the cyclone alert and the weather delay.</a:t>
            </a:r>
          </a:p>
        </p:txBody>
      </p:sp>
      <p:sp>
        <p:nvSpPr>
          <p:cNvPr id="281" name="Edge"/>
          <p:cNvSpPr/>
          <p:nvPr/>
        </p:nvSpPr>
        <p:spPr>
          <a:xfrm>
            <a:off x="409575" y="3597920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T"/>
          <p:cNvSpPr txBox="1"/>
          <p:nvPr/>
        </p:nvSpPr>
        <p:spPr>
          <a:xfrm>
            <a:off x="476250" y="3082765"/>
            <a:ext cx="120238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IMO MEPC resolutions</a:t>
            </a:r>
          </a:p>
        </p:txBody>
      </p:sp>
      <p:sp>
        <p:nvSpPr>
          <p:cNvPr id="282" name="T"/>
          <p:cNvSpPr txBox="1"/>
          <p:nvPr/>
        </p:nvSpPr>
        <p:spPr>
          <a:xfrm>
            <a:off x="476250" y="3228022"/>
            <a:ext cx="131296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308(73) · 338(76) · 352(78) ·</a:t>
            </a:r>
          </a:p>
        </p:txBody>
      </p:sp>
      <p:sp>
        <p:nvSpPr>
          <p:cNvPr id="282" name="T"/>
          <p:cNvSpPr txBox="1"/>
          <p:nvPr/>
        </p:nvSpPr>
        <p:spPr>
          <a:xfrm>
            <a:off x="476250" y="3373278"/>
            <a:ext cx="81736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353(78) · 354(78)</a:t>
            </a:r>
          </a:p>
        </p:txBody>
      </p:sp>
      <p:sp>
        <p:nvSpPr>
          <p:cNvPr id="282" name="Edge"/>
          <p:cNvSpPr/>
          <p:nvPr/>
        </p:nvSpPr>
        <p:spPr>
          <a:xfrm>
            <a:off x="2052638" y="3597920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T"/>
          <p:cNvSpPr txBox="1"/>
          <p:nvPr/>
        </p:nvSpPr>
        <p:spPr>
          <a:xfrm>
            <a:off x="2119312" y="3065055"/>
            <a:ext cx="148813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CII reference lines, fuel-to-CO</a:t>
            </a:r>
          </a:p>
        </p:txBody>
      </p:sp>
      <p:sp>
        <p:nvSpPr>
          <p:cNvPr id="283" name="T"/>
          <p:cNvSpPr txBox="1"/>
          <p:nvPr/>
        </p:nvSpPr>
        <p:spPr>
          <a:xfrm>
            <a:off x="3588395" y="3114600"/>
            <a:ext cx="70396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06" b="0" i="0" dirty="0">
                <a:solidFill>
                  <a:srgbClr val="333333"/>
                </a:solidFill>
                <a:latin typeface="Open Sans 400"/>
                <a:cs typeface="Open Sans 400"/>
              </a:rPr>
              <a:t>2</a:t>
            </a:r>
          </a:p>
        </p:txBody>
      </p:sp>
      <p:sp>
        <p:nvSpPr>
          <p:cNvPr id="283" name="T"/>
          <p:cNvSpPr txBox="1"/>
          <p:nvPr/>
        </p:nvSpPr>
        <p:spPr>
          <a:xfrm>
            <a:off x="3667571" y="3065055"/>
            <a:ext cx="181362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factors, reduction factors and A to E</a:t>
            </a:r>
          </a:p>
        </p:txBody>
      </p:sp>
      <p:sp>
        <p:nvSpPr>
          <p:cNvPr id="283" name="T"/>
          <p:cNvSpPr txBox="1"/>
          <p:nvPr/>
        </p:nvSpPr>
        <p:spPr>
          <a:xfrm>
            <a:off x="2119312" y="3245732"/>
            <a:ext cx="328314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boundaries, read from the primary PDFs and checked against the</a:t>
            </a:r>
          </a:p>
        </p:txBody>
      </p:sp>
      <p:sp>
        <p:nvSpPr>
          <p:cNvPr id="283" name="T"/>
          <p:cNvSpPr txBox="1"/>
          <p:nvPr/>
        </p:nvSpPr>
        <p:spPr>
          <a:xfrm>
            <a:off x="2119312" y="3390988"/>
            <a:ext cx="173488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resolution's own worked example.</a:t>
            </a:r>
          </a:p>
        </p:txBody>
      </p:sp>
      <p:sp>
        <p:nvSpPr>
          <p:cNvPr id="283" name="Edge"/>
          <p:cNvSpPr/>
          <p:nvPr/>
        </p:nvSpPr>
        <p:spPr>
          <a:xfrm>
            <a:off x="409575" y="4012555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T"/>
          <p:cNvSpPr txBox="1"/>
          <p:nvPr/>
        </p:nvSpPr>
        <p:spPr>
          <a:xfrm>
            <a:off x="476250" y="3672273"/>
            <a:ext cx="137576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Eurostat marine network</a:t>
            </a:r>
          </a:p>
        </p:txBody>
      </p:sp>
      <p:sp>
        <p:nvSpPr>
          <p:cNvPr id="284" name="T"/>
          <p:cNvSpPr txBox="1"/>
          <p:nvPr/>
        </p:nvSpPr>
        <p:spPr>
          <a:xfrm>
            <a:off x="476250" y="3817530"/>
            <a:ext cx="59977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via searoute</a:t>
            </a:r>
          </a:p>
        </p:txBody>
      </p:sp>
      <p:sp>
        <p:nvSpPr>
          <p:cNvPr id="284" name="Edge"/>
          <p:cNvSpPr/>
          <p:nvPr/>
        </p:nvSpPr>
        <p:spPr>
          <a:xfrm>
            <a:off x="2052638" y="4012555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T"/>
          <p:cNvSpPr txBox="1"/>
          <p:nvPr/>
        </p:nvSpPr>
        <p:spPr>
          <a:xfrm>
            <a:off x="2119312" y="3672273"/>
            <a:ext cx="342870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Real sea-route graph for distance and routing; great-circle fallback is</a:t>
            </a:r>
          </a:p>
        </p:txBody>
      </p:sp>
      <p:sp>
        <p:nvSpPr>
          <p:cNvPr id="285" name="T"/>
          <p:cNvSpPr txBox="1"/>
          <p:nvPr/>
        </p:nvSpPr>
        <p:spPr>
          <a:xfrm>
            <a:off x="2119312" y="3817530"/>
            <a:ext cx="185856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flagged in the response, never silent.</a:t>
            </a:r>
          </a:p>
        </p:txBody>
      </p:sp>
      <p:sp>
        <p:nvSpPr>
          <p:cNvPr id="285" name="Edge"/>
          <p:cNvSpPr/>
          <p:nvPr/>
        </p:nvSpPr>
        <p:spPr>
          <a:xfrm>
            <a:off x="409575" y="4427190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T"/>
          <p:cNvSpPr txBox="1"/>
          <p:nvPr/>
        </p:nvSpPr>
        <p:spPr>
          <a:xfrm>
            <a:off x="476250" y="4159537"/>
            <a:ext cx="124018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World Bank Pink Sheet</a:t>
            </a:r>
          </a:p>
        </p:txBody>
      </p:sp>
      <p:sp>
        <p:nvSpPr>
          <p:cNvPr id="286" name="Edge"/>
          <p:cNvSpPr/>
          <p:nvPr/>
        </p:nvSpPr>
        <p:spPr>
          <a:xfrm>
            <a:off x="2052638" y="4427190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T"/>
          <p:cNvSpPr txBox="1"/>
          <p:nvPr/>
        </p:nvSpPr>
        <p:spPr>
          <a:xfrm>
            <a:off x="2119312" y="4086909"/>
            <a:ext cx="359122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Iron ore and coal benchmark prices and FX, the landed-cost commodity</a:t>
            </a:r>
          </a:p>
        </p:txBody>
      </p:sp>
      <p:sp>
        <p:nvSpPr>
          <p:cNvPr id="287" name="T"/>
          <p:cNvSpPr txBox="1"/>
          <p:nvPr/>
        </p:nvSpPr>
        <p:spPr>
          <a:xfrm>
            <a:off x="2119312" y="4232165"/>
            <a:ext cx="62478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component.</a:t>
            </a:r>
          </a:p>
        </p:txBody>
      </p:sp>
      <p:sp>
        <p:nvSpPr>
          <p:cNvPr id="287" name="Edge"/>
          <p:cNvSpPr/>
          <p:nvPr/>
        </p:nvSpPr>
        <p:spPr>
          <a:xfrm>
            <a:off x="409575" y="4841825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T"/>
          <p:cNvSpPr txBox="1"/>
          <p:nvPr/>
        </p:nvSpPr>
        <p:spPr>
          <a:xfrm>
            <a:off x="476250" y="4501544"/>
            <a:ext cx="143455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Port authority daily traffic</a:t>
            </a:r>
          </a:p>
        </p:txBody>
      </p:sp>
      <p:sp>
        <p:nvSpPr>
          <p:cNvPr id="288" name="T"/>
          <p:cNvSpPr txBox="1"/>
          <p:nvPr/>
        </p:nvSpPr>
        <p:spPr>
          <a:xfrm>
            <a:off x="476250" y="4646800"/>
            <a:ext cx="41537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reports</a:t>
            </a:r>
          </a:p>
        </p:txBody>
      </p:sp>
      <p:sp>
        <p:nvSpPr>
          <p:cNvPr id="288" name="Edge"/>
          <p:cNvSpPr/>
          <p:nvPr/>
        </p:nvSpPr>
        <p:spPr>
          <a:xfrm>
            <a:off x="2052638" y="4841825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T"/>
          <p:cNvSpPr txBox="1"/>
          <p:nvPr/>
        </p:nvSpPr>
        <p:spPr>
          <a:xfrm>
            <a:off x="2119312" y="4501544"/>
            <a:ext cx="223435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1,211 report rows </a:t>
            </a:r>
            <a:r>
              <a:rPr lang="en-US" sz="848" b="0" i="0" dirty="0">
                <a:solidFill>
                  <a:srgbClr val="000000"/>
                </a:solidFill>
                <a:latin typeface="Segoe UI Symbol"/>
                <a:cs typeface="Segoe UI Symbol"/>
              </a:rPr>
              <a:t>→</a:t>
            </a: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 334 distinct real calls</a:t>
            </a:r>
          </a:p>
        </p:txBody>
      </p:sp>
      <p:sp>
        <p:nvSpPr>
          <p:cNvPr id="289" name="T"/>
          <p:cNvSpPr txBox="1"/>
          <p:nvPr/>
        </p:nvSpPr>
        <p:spPr>
          <a:xfrm>
            <a:off x="4334619" y="4501544"/>
            <a:ext cx="31358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; plus</a:t>
            </a:r>
          </a:p>
        </p:txBody>
      </p:sp>
      <p:sp>
        <p:nvSpPr>
          <p:cNvPr id="289" name="T"/>
          <p:cNvSpPr txBox="1"/>
          <p:nvPr/>
        </p:nvSpPr>
        <p:spPr>
          <a:xfrm>
            <a:off x="4629150" y="4501544"/>
            <a:ext cx="96157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58 declared berth</a:t>
            </a:r>
          </a:p>
        </p:txBody>
      </p:sp>
      <p:sp>
        <p:nvSpPr>
          <p:cNvPr id="289" name="T"/>
          <p:cNvSpPr txBox="1"/>
          <p:nvPr/>
        </p:nvSpPr>
        <p:spPr>
          <a:xfrm>
            <a:off x="2119312" y="4646800"/>
            <a:ext cx="28024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rows</a:t>
            </a:r>
          </a:p>
        </p:txBody>
      </p:sp>
      <p:sp>
        <p:nvSpPr>
          <p:cNvPr id="289" name="T"/>
          <p:cNvSpPr txBox="1"/>
          <p:nvPr/>
        </p:nvSpPr>
        <p:spPr>
          <a:xfrm>
            <a:off x="2408337" y="4646800"/>
            <a:ext cx="252248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across Visakhapatnam, Dhamra and Gangavaram.</a:t>
            </a:r>
          </a:p>
        </p:txBody>
      </p:sp>
      <p:sp>
        <p:nvSpPr>
          <p:cNvPr id="289" name="Edge"/>
          <p:cNvSpPr/>
          <p:nvPr/>
        </p:nvSpPr>
        <p:spPr>
          <a:xfrm>
            <a:off x="409575" y="5420767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T"/>
          <p:cNvSpPr txBox="1"/>
          <p:nvPr/>
        </p:nvSpPr>
        <p:spPr>
          <a:xfrm>
            <a:off x="476250" y="5070960"/>
            <a:ext cx="129986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Open-Meteo Marine API</a:t>
            </a:r>
          </a:p>
        </p:txBody>
      </p:sp>
      <p:sp>
        <p:nvSpPr>
          <p:cNvPr id="290" name="Edge"/>
          <p:cNvSpPr/>
          <p:nvPr/>
        </p:nvSpPr>
        <p:spPr>
          <a:xfrm>
            <a:off x="2052638" y="5420767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T"/>
          <p:cNvSpPr txBox="1"/>
          <p:nvPr/>
        </p:nvSpPr>
        <p:spPr>
          <a:xfrm>
            <a:off x="2119312" y="4925704"/>
            <a:ext cx="365298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Seven-day wave-height forecast at both ports, the only rolling feed in the</a:t>
            </a:r>
          </a:p>
        </p:txBody>
      </p:sp>
      <p:sp>
        <p:nvSpPr>
          <p:cNvPr id="291" name="T"/>
          <p:cNvSpPr txBox="1"/>
          <p:nvPr/>
        </p:nvSpPr>
        <p:spPr>
          <a:xfrm>
            <a:off x="2119312" y="5070960"/>
            <a:ext cx="345043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system. Cached 12 h, degrades to no-signal offline, documented as a</a:t>
            </a:r>
          </a:p>
        </p:txBody>
      </p:sp>
      <p:sp>
        <p:nvSpPr>
          <p:cNvPr id="291" name="T"/>
          <p:cNvSpPr txBox="1"/>
          <p:nvPr/>
        </p:nvSpPr>
        <p:spPr>
          <a:xfrm>
            <a:off x="2119312" y="5216216"/>
            <a:ext cx="107573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deliberate exception.</a:t>
            </a:r>
          </a:p>
        </p:txBody>
      </p:sp>
      <p:sp>
        <p:nvSpPr>
          <p:cNvPr id="291" name="Edge"/>
          <p:cNvSpPr/>
          <p:nvPr/>
        </p:nvSpPr>
        <p:spPr>
          <a:xfrm>
            <a:off x="409575" y="5999708"/>
            <a:ext cx="164306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T"/>
          <p:cNvSpPr txBox="1"/>
          <p:nvPr/>
        </p:nvSpPr>
        <p:spPr>
          <a:xfrm>
            <a:off x="476250" y="5577273"/>
            <a:ext cx="103346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Signal Ocean route</a:t>
            </a:r>
          </a:p>
        </p:txBody>
      </p:sp>
      <p:sp>
        <p:nvSpPr>
          <p:cNvPr id="292" name="T"/>
          <p:cNvSpPr txBox="1"/>
          <p:nvPr/>
        </p:nvSpPr>
        <p:spPr>
          <a:xfrm>
            <a:off x="476250" y="5722530"/>
            <a:ext cx="70202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assessments</a:t>
            </a:r>
          </a:p>
        </p:txBody>
      </p:sp>
      <p:sp>
        <p:nvSpPr>
          <p:cNvPr id="292" name="Edge"/>
          <p:cNvSpPr/>
          <p:nvPr/>
        </p:nvSpPr>
        <p:spPr>
          <a:xfrm>
            <a:off x="2052638" y="5999708"/>
            <a:ext cx="3833812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T"/>
          <p:cNvSpPr txBox="1"/>
          <p:nvPr/>
        </p:nvSpPr>
        <p:spPr>
          <a:xfrm>
            <a:off x="2119312" y="5504645"/>
            <a:ext cx="354062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Real route-level rate quotes. Reported here because they produced an</a:t>
            </a:r>
          </a:p>
        </p:txBody>
      </p:sp>
      <p:sp>
        <p:nvSpPr>
          <p:cNvPr id="293" name="T"/>
          <p:cNvSpPr txBox="1"/>
          <p:nvPr/>
        </p:nvSpPr>
        <p:spPr>
          <a:xfrm>
            <a:off x="2119312" y="5649902"/>
            <a:ext cx="76542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 It"/>
                <a:cs typeface="Open Sans 400 It"/>
              </a:rPr>
              <a:t>honest negative</a:t>
            </a:r>
          </a:p>
        </p:txBody>
      </p:sp>
      <p:sp>
        <p:nvSpPr>
          <p:cNvPr id="293" name="T"/>
          <p:cNvSpPr txBox="1"/>
          <p:nvPr/>
        </p:nvSpPr>
        <p:spPr>
          <a:xfrm>
            <a:off x="2865686" y="5649902"/>
            <a:ext cx="2710160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: only one series is a genuine East-Coast-India rate, on</a:t>
            </a:r>
          </a:p>
        </p:txBody>
      </p:sp>
      <p:sp>
        <p:nvSpPr>
          <p:cNvPr id="293" name="T"/>
          <p:cNvSpPr txBox="1"/>
          <p:nvPr/>
        </p:nvSpPr>
        <p:spPr>
          <a:xfrm>
            <a:off x="2119312" y="5795158"/>
            <a:ext cx="306377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three observations, below our evidence bar, so it is not used.</a:t>
            </a:r>
          </a:p>
        </p:txBody>
      </p:sp>
      <p:sp>
        <p:nvSpPr>
          <p:cNvPr id="293" name="T"/>
          <p:cNvSpPr txBox="1"/>
          <p:nvPr/>
        </p:nvSpPr>
        <p:spPr>
          <a:xfrm>
            <a:off x="476250" y="6074359"/>
            <a:ext cx="112692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GDELT 2.0 · Joint War</a:t>
            </a:r>
          </a:p>
        </p:txBody>
      </p:sp>
      <p:sp>
        <p:nvSpPr>
          <p:cNvPr id="293" name="T"/>
          <p:cNvSpPr txBox="1"/>
          <p:nvPr/>
        </p:nvSpPr>
        <p:spPr>
          <a:xfrm>
            <a:off x="476250" y="6219616"/>
            <a:ext cx="61912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Committee</a:t>
            </a:r>
          </a:p>
        </p:txBody>
      </p:sp>
      <p:sp>
        <p:nvSpPr>
          <p:cNvPr id="293" name="T"/>
          <p:cNvSpPr txBox="1"/>
          <p:nvPr/>
        </p:nvSpPr>
        <p:spPr>
          <a:xfrm>
            <a:off x="2119312" y="6074359"/>
            <a:ext cx="351576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12 months of conflict-event counts across 28 chokepoints and current</a:t>
            </a:r>
          </a:p>
        </p:txBody>
      </p:sp>
      <p:sp>
        <p:nvSpPr>
          <p:cNvPr id="293" name="T"/>
          <p:cNvSpPr txBox="1"/>
          <p:nvPr/>
        </p:nvSpPr>
        <p:spPr>
          <a:xfrm>
            <a:off x="2119312" y="6219616"/>
            <a:ext cx="361682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war-risk Listed Areas, feeding the fracture index (built, not yet exposed).</a:t>
            </a:r>
          </a:p>
        </p:txBody>
      </p:sp>
      <p:sp>
        <p:nvSpPr>
          <p:cNvPr id="293" name="Box"/>
          <p:cNvSpPr/>
          <p:nvPr/>
        </p:nvSpPr>
        <p:spPr>
          <a:xfrm>
            <a:off x="6153150" y="866775"/>
            <a:ext cx="5781675" cy="300097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294" name="T"/>
          <p:cNvSpPr txBox="1"/>
          <p:nvPr/>
        </p:nvSpPr>
        <p:spPr>
          <a:xfrm>
            <a:off x="6296025" y="974734"/>
            <a:ext cx="1952179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1F4E79"/>
                </a:solidFill>
                <a:latin typeface="Montserrat 800"/>
                <a:cs typeface="Montserrat 800"/>
              </a:rPr>
              <a:t>METHODS AND LITERATURE</a:t>
            </a:r>
          </a:p>
        </p:txBody>
      </p:sp>
      <p:sp>
        <p:nvSpPr>
          <p:cNvPr id="294" name="Edge"/>
          <p:cNvSpPr/>
          <p:nvPr/>
        </p:nvSpPr>
        <p:spPr>
          <a:xfrm>
            <a:off x="6305550" y="1715095"/>
            <a:ext cx="2355056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T"/>
          <p:cNvSpPr txBox="1"/>
          <p:nvPr/>
        </p:nvSpPr>
        <p:spPr>
          <a:xfrm>
            <a:off x="6372225" y="1320343"/>
            <a:ext cx="150093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Longstaff &amp; Schwartz (2001)</a:t>
            </a:r>
          </a:p>
        </p:txBody>
      </p:sp>
      <p:sp>
        <p:nvSpPr>
          <p:cNvPr id="295" name="T"/>
          <p:cNvSpPr txBox="1"/>
          <p:nvPr/>
        </p:nvSpPr>
        <p:spPr>
          <a:xfrm>
            <a:off x="6372225" y="1465599"/>
            <a:ext cx="130239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Rev. Financial Studies 14(1)</a:t>
            </a:r>
          </a:p>
        </p:txBody>
      </p:sp>
      <p:sp>
        <p:nvSpPr>
          <p:cNvPr id="295" name="Edge"/>
          <p:cNvSpPr/>
          <p:nvPr/>
        </p:nvSpPr>
        <p:spPr>
          <a:xfrm>
            <a:off x="8660606" y="1715095"/>
            <a:ext cx="3121819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T"/>
          <p:cNvSpPr txBox="1"/>
          <p:nvPr/>
        </p:nvSpPr>
        <p:spPr>
          <a:xfrm>
            <a:off x="8727281" y="1247714"/>
            <a:ext cx="289024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Least-squares Monte Carlo for American options: how we</a:t>
            </a:r>
          </a:p>
        </p:txBody>
      </p:sp>
      <p:sp>
        <p:nvSpPr>
          <p:cNvPr id="296" name="T"/>
          <p:cNvSpPr txBox="1"/>
          <p:nvPr/>
        </p:nvSpPr>
        <p:spPr>
          <a:xfrm>
            <a:off x="8727281" y="1392971"/>
            <a:ext cx="2986236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price the right to keep waiting, as an exercise boundary per</a:t>
            </a:r>
          </a:p>
        </p:txBody>
      </p:sp>
      <p:sp>
        <p:nvSpPr>
          <p:cNvPr id="296" name="T"/>
          <p:cNvSpPr txBox="1"/>
          <p:nvPr/>
        </p:nvSpPr>
        <p:spPr>
          <a:xfrm>
            <a:off x="8727281" y="1538227"/>
            <a:ext cx="22696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day.</a:t>
            </a:r>
          </a:p>
        </p:txBody>
      </p:sp>
      <p:sp>
        <p:nvSpPr>
          <p:cNvPr id="296" name="Edge"/>
          <p:cNvSpPr/>
          <p:nvPr/>
        </p:nvSpPr>
        <p:spPr>
          <a:xfrm>
            <a:off x="6305550" y="2090142"/>
            <a:ext cx="2355056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T"/>
          <p:cNvSpPr txBox="1"/>
          <p:nvPr/>
        </p:nvSpPr>
        <p:spPr>
          <a:xfrm>
            <a:off x="6372225" y="1769655"/>
            <a:ext cx="128766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Almgren &amp; Chriss (2000)</a:t>
            </a:r>
          </a:p>
        </p:txBody>
      </p:sp>
      <p:sp>
        <p:nvSpPr>
          <p:cNvPr id="297" name="T"/>
          <p:cNvSpPr txBox="1"/>
          <p:nvPr/>
        </p:nvSpPr>
        <p:spPr>
          <a:xfrm>
            <a:off x="6372225" y="1914911"/>
            <a:ext cx="90889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2E75B6"/>
                </a:solidFill>
                <a:latin typeface="Open Sans 400 It"/>
                <a:cs typeface="Open Sans 400 It"/>
              </a:rPr>
              <a:t>Journal of Risk 3(2)</a:t>
            </a:r>
          </a:p>
        </p:txBody>
      </p:sp>
      <p:sp>
        <p:nvSpPr>
          <p:cNvPr id="297" name="Edge"/>
          <p:cNvSpPr/>
          <p:nvPr/>
        </p:nvSpPr>
        <p:spPr>
          <a:xfrm>
            <a:off x="8660606" y="2090142"/>
            <a:ext cx="3121819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T"/>
          <p:cNvSpPr txBox="1"/>
          <p:nvPr/>
        </p:nvSpPr>
        <p:spPr>
          <a:xfrm>
            <a:off x="8727281" y="1769655"/>
            <a:ext cx="289336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Optimal execution of large orders, transplanted to freight</a:t>
            </a:r>
          </a:p>
        </p:txBody>
      </p:sp>
      <p:sp>
        <p:nvSpPr>
          <p:cNvPr id="298" name="T"/>
          <p:cNvSpPr txBox="1"/>
          <p:nvPr/>
        </p:nvSpPr>
        <p:spPr>
          <a:xfrm>
            <a:off x="8727281" y="1914911"/>
            <a:ext cx="294173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so SAIL's own buying does not move the rate against itself.</a:t>
            </a:r>
          </a:p>
        </p:txBody>
      </p:sp>
      <p:sp>
        <p:nvSpPr>
          <p:cNvPr id="298" name="Edge"/>
          <p:cNvSpPr/>
          <p:nvPr/>
        </p:nvSpPr>
        <p:spPr>
          <a:xfrm>
            <a:off x="6305550" y="2465189"/>
            <a:ext cx="2355056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T"/>
          <p:cNvSpPr txBox="1"/>
          <p:nvPr/>
        </p:nvSpPr>
        <p:spPr>
          <a:xfrm>
            <a:off x="6372225" y="2217330"/>
            <a:ext cx="175557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Chen &amp; Guestrin (2016), XGBoost</a:t>
            </a:r>
          </a:p>
        </p:txBody>
      </p:sp>
      <p:sp>
        <p:nvSpPr>
          <p:cNvPr id="299" name="Edge"/>
          <p:cNvSpPr/>
          <p:nvPr/>
        </p:nvSpPr>
        <p:spPr>
          <a:xfrm>
            <a:off x="8660606" y="2465189"/>
            <a:ext cx="3121819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T"/>
          <p:cNvSpPr txBox="1"/>
          <p:nvPr/>
        </p:nvSpPr>
        <p:spPr>
          <a:xfrm>
            <a:off x="8727281" y="2144702"/>
            <a:ext cx="2864793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Gradient-boosted trees with a pinball (quantile) objective</a:t>
            </a:r>
          </a:p>
        </p:txBody>
      </p:sp>
      <p:sp>
        <p:nvSpPr>
          <p:cNvPr id="300" name="T"/>
          <p:cNvSpPr txBox="1"/>
          <p:nvPr/>
        </p:nvSpPr>
        <p:spPr>
          <a:xfrm>
            <a:off x="8727281" y="2289958"/>
            <a:ext cx="927795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at P10 / P50 / P90.</a:t>
            </a:r>
          </a:p>
        </p:txBody>
      </p:sp>
      <p:sp>
        <p:nvSpPr>
          <p:cNvPr id="300" name="Edge"/>
          <p:cNvSpPr/>
          <p:nvPr/>
        </p:nvSpPr>
        <p:spPr>
          <a:xfrm>
            <a:off x="6305550" y="2988766"/>
            <a:ext cx="2355056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T"/>
          <p:cNvSpPr txBox="1"/>
          <p:nvPr/>
        </p:nvSpPr>
        <p:spPr>
          <a:xfrm>
            <a:off x="6372225" y="2666642"/>
            <a:ext cx="154855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Uhlenbeck &amp; Ornstein (1930)</a:t>
            </a:r>
          </a:p>
        </p:txBody>
      </p:sp>
      <p:sp>
        <p:nvSpPr>
          <p:cNvPr id="301" name="Edge"/>
          <p:cNvSpPr/>
          <p:nvPr/>
        </p:nvSpPr>
        <p:spPr>
          <a:xfrm>
            <a:off x="8660606" y="2988766"/>
            <a:ext cx="3121819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T"/>
          <p:cNvSpPr txBox="1"/>
          <p:nvPr/>
        </p:nvSpPr>
        <p:spPr>
          <a:xfrm>
            <a:off x="8727281" y="2521386"/>
            <a:ext cx="2775347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Mean-reverting price paths for the savings distribution.</a:t>
            </a:r>
          </a:p>
        </p:txBody>
      </p:sp>
      <p:sp>
        <p:nvSpPr>
          <p:cNvPr id="302" name="T"/>
          <p:cNvSpPr txBox="1"/>
          <p:nvPr/>
        </p:nvSpPr>
        <p:spPr>
          <a:xfrm>
            <a:off x="8727281" y="2666642"/>
            <a:ext cx="2737991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Freight rates revert, and a flat random walk overstates</a:t>
            </a:r>
          </a:p>
        </p:txBody>
      </p:sp>
      <p:sp>
        <p:nvSpPr>
          <p:cNvPr id="302" name="T"/>
          <p:cNvSpPr txBox="1"/>
          <p:nvPr/>
        </p:nvSpPr>
        <p:spPr>
          <a:xfrm>
            <a:off x="8727281" y="2811898"/>
            <a:ext cx="91975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long-contract risk.</a:t>
            </a:r>
          </a:p>
        </p:txBody>
      </p:sp>
      <p:sp>
        <p:nvSpPr>
          <p:cNvPr id="302" name="Edge"/>
          <p:cNvSpPr/>
          <p:nvPr/>
        </p:nvSpPr>
        <p:spPr>
          <a:xfrm>
            <a:off x="6305550" y="3363813"/>
            <a:ext cx="2355056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T"/>
          <p:cNvSpPr txBox="1"/>
          <p:nvPr/>
        </p:nvSpPr>
        <p:spPr>
          <a:xfrm>
            <a:off x="6372225" y="3115954"/>
            <a:ext cx="128349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Google OR-Tools CP-SAT</a:t>
            </a:r>
          </a:p>
        </p:txBody>
      </p:sp>
      <p:sp>
        <p:nvSpPr>
          <p:cNvPr id="303" name="Edge"/>
          <p:cNvSpPr/>
          <p:nvPr/>
        </p:nvSpPr>
        <p:spPr>
          <a:xfrm>
            <a:off x="8660606" y="3363813"/>
            <a:ext cx="3121819" cy="9525"/>
          </a:xfrm>
          <a:prstGeom prst="rect">
            <a:avLst/>
          </a:prstGeom>
          <a:solidFill>
            <a:srgbClr val="C9D9E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T"/>
          <p:cNvSpPr txBox="1"/>
          <p:nvPr/>
        </p:nvSpPr>
        <p:spPr>
          <a:xfrm>
            <a:off x="8727281" y="3043326"/>
            <a:ext cx="2795439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Vessel</a:t>
            </a:r>
            <a:r>
              <a:rPr lang="en-US" sz="848" b="0" i="0" dirty="0">
                <a:solidFill>
                  <a:srgbClr val="333333"/>
                </a:solidFill>
                <a:latin typeface="Segoe UI Symbol"/>
                <a:cs typeface="Segoe UI Symbol"/>
              </a:rPr>
              <a:t>↔</a:t>
            </a: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cargo assignment with sequencing under hard</a:t>
            </a:r>
          </a:p>
        </p:txBody>
      </p:sp>
      <p:sp>
        <p:nvSpPr>
          <p:cNvPr id="304" name="T"/>
          <p:cNvSpPr txBox="1"/>
          <p:nvPr/>
        </p:nvSpPr>
        <p:spPr>
          <a:xfrm>
            <a:off x="8727281" y="3188582"/>
            <a:ext cx="1356122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port-feasibility constraints.</a:t>
            </a:r>
          </a:p>
        </p:txBody>
      </p:sp>
      <p:sp>
        <p:nvSpPr>
          <p:cNvPr id="304" name="T"/>
          <p:cNvSpPr txBox="1"/>
          <p:nvPr/>
        </p:nvSpPr>
        <p:spPr>
          <a:xfrm>
            <a:off x="6372225" y="3491150"/>
            <a:ext cx="135582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000000"/>
                </a:solidFill>
                <a:latin typeface="Open Sans 700"/>
                <a:cs typeface="Open Sans 700"/>
              </a:rPr>
              <a:t>Koenker &amp; Bassett (1978)</a:t>
            </a:r>
          </a:p>
        </p:txBody>
      </p:sp>
      <p:sp>
        <p:nvSpPr>
          <p:cNvPr id="304" name="T"/>
          <p:cNvSpPr txBox="1"/>
          <p:nvPr/>
        </p:nvSpPr>
        <p:spPr>
          <a:xfrm>
            <a:off x="8727281" y="3418522"/>
            <a:ext cx="2777728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Quantile regression and the pinball loss we score every</a:t>
            </a:r>
          </a:p>
        </p:txBody>
      </p:sp>
      <p:sp>
        <p:nvSpPr>
          <p:cNvPr id="304" name="T"/>
          <p:cNvSpPr txBox="1"/>
          <p:nvPr/>
        </p:nvSpPr>
        <p:spPr>
          <a:xfrm>
            <a:off x="8727281" y="3563778"/>
            <a:ext cx="524024" cy="14287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lang="en-US" sz="848" b="0" i="0" dirty="0">
                <a:solidFill>
                  <a:srgbClr val="333333"/>
                </a:solidFill>
                <a:latin typeface="Open Sans 400"/>
                <a:cs typeface="Open Sans 400"/>
              </a:rPr>
              <a:t>model on.</a:t>
            </a:r>
          </a:p>
        </p:txBody>
      </p:sp>
      <p:sp>
        <p:nvSpPr>
          <p:cNvPr id="304" name="Box"/>
          <p:cNvSpPr/>
          <p:nvPr/>
        </p:nvSpPr>
        <p:spPr>
          <a:xfrm>
            <a:off x="6153150" y="3982045"/>
            <a:ext cx="5781675" cy="1660624"/>
          </a:xfrm>
          <a:prstGeom prst="roundRect">
            <a:avLst>
              <a:gd name="adj" fmla="val 7457"/>
            </a:avLst>
          </a:prstGeom>
          <a:solidFill>
            <a:srgbClr val="FFF2CC"/>
          </a:solidFill>
          <a:ln w="19050" cap="flat">
            <a:solidFill>
              <a:srgbClr val="E8A200"/>
            </a:solidFill>
            <a:prstDash val="solid"/>
          </a:ln>
        </p:spPr>
        <p:txBody>
          <a:bodyPr/>
          <a:lstStyle/>
          <a:p/>
        </p:txBody>
      </p:sp>
      <p:sp>
        <p:nvSpPr>
          <p:cNvPr id="305" name="T"/>
          <p:cNvSpPr txBox="1"/>
          <p:nvPr/>
        </p:nvSpPr>
        <p:spPr>
          <a:xfrm>
            <a:off x="6296025" y="4090004"/>
            <a:ext cx="3781276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 spc="29">
                <a:solidFill>
                  <a:srgbClr val="8A6100"/>
                </a:solidFill>
                <a:latin typeface="Montserrat 800"/>
                <a:cs typeface="Montserrat 800"/>
              </a:rPr>
              <a:t>PROJECT DOCUMENTATION, SHIPPED WITH THE CODE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296025" y="4342330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4324259"/>
            <a:ext cx="1269950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Technical reference:</a:t>
            </a:r>
          </a:p>
        </p:txBody>
      </p:sp>
      <p:sp>
        <p:nvSpPr>
          <p:cNvPr id="305" name="T"/>
          <p:cNvSpPr txBox="1"/>
          <p:nvPr/>
        </p:nvSpPr>
        <p:spPr>
          <a:xfrm>
            <a:off x="7739658" y="4333662"/>
            <a:ext cx="3961805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every engine, its method, and the reason that method was chosen over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4506303"/>
            <a:ext cx="91261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the alternatives.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296025" y="4763811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4745741"/>
            <a:ext cx="1151186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Architecture note:</a:t>
            </a:r>
          </a:p>
        </p:txBody>
      </p:sp>
      <p:sp>
        <p:nvSpPr>
          <p:cNvPr id="305" name="T"/>
          <p:cNvSpPr txBox="1"/>
          <p:nvPr/>
        </p:nvSpPr>
        <p:spPr>
          <a:xfrm>
            <a:off x="7620893" y="4755143"/>
            <a:ext cx="4140101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the components, the data flow, and the responsibility boundary each layer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4927784"/>
            <a:ext cx="55587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is held to.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296025" y="5185292"/>
            <a:ext cx="104775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675" b="0" i="0" dirty="0">
                <a:solidFill>
                  <a:srgbClr val="E8A200"/>
                </a:solidFill>
                <a:latin typeface="Segoe UI Symbol"/>
                <a:cs typeface="Segoe UI Symbol"/>
              </a:rPr>
              <a:t>➤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5167222"/>
            <a:ext cx="809923" cy="17145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lang="en-US" sz="975" b="0" i="0" dirty="0">
                <a:solidFill>
                  <a:srgbClr val="000000"/>
                </a:solidFill>
                <a:latin typeface="Open Sans 700"/>
                <a:cs typeface="Open Sans 700"/>
              </a:rPr>
              <a:t>Model guide:</a:t>
            </a:r>
          </a:p>
        </p:txBody>
      </p:sp>
      <p:sp>
        <p:nvSpPr>
          <p:cNvPr id="305" name="T"/>
          <p:cNvSpPr txBox="1"/>
          <p:nvPr/>
        </p:nvSpPr>
        <p:spPr>
          <a:xfrm>
            <a:off x="7279630" y="5176624"/>
            <a:ext cx="438730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how to add a new forecasting model and compare it fairly against what already</a:t>
            </a:r>
          </a:p>
        </p:txBody>
      </p:sp>
      <p:sp>
        <p:nvSpPr>
          <p:cNvPr id="305" name="T"/>
          <p:cNvSpPr txBox="1"/>
          <p:nvPr/>
        </p:nvSpPr>
        <p:spPr>
          <a:xfrm>
            <a:off x="6457950" y="5349265"/>
            <a:ext cx="365522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38" b="0" i="0" dirty="0">
                <a:solidFill>
                  <a:srgbClr val="4D4D4D"/>
                </a:solidFill>
                <a:latin typeface="Open Sans 400"/>
                <a:cs typeface="Open Sans 400"/>
              </a:rPr>
              <a:t>exists.</a:t>
            </a:r>
          </a:p>
        </p:txBody>
      </p:sp>
      <p:sp>
        <p:nvSpPr>
          <p:cNvPr id="305" name="Box"/>
          <p:cNvSpPr/>
          <p:nvPr/>
        </p:nvSpPr>
        <p:spPr>
          <a:xfrm>
            <a:off x="6153150" y="5756970"/>
            <a:ext cx="5781675" cy="786705"/>
          </a:xfrm>
          <a:prstGeom prst="roundRect">
            <a:avLst>
              <a:gd name="adj" fmla="val 15740"/>
            </a:avLst>
          </a:prstGeom>
          <a:solidFill>
            <a:srgbClr val="DCEEF8"/>
          </a:solidFill>
          <a:ln w="19050" cap="flat">
            <a:solidFill>
              <a:srgbClr val="2E75B6"/>
            </a:solidFill>
            <a:prstDash val="solid"/>
          </a:ln>
        </p:spPr>
        <p:txBody>
          <a:bodyPr/>
          <a:lstStyle/>
          <a:p/>
        </p:txBody>
      </p:sp>
      <p:sp>
        <p:nvSpPr>
          <p:cNvPr id="306" name="T"/>
          <p:cNvSpPr txBox="1"/>
          <p:nvPr/>
        </p:nvSpPr>
        <p:spPr>
          <a:xfrm>
            <a:off x="6296025" y="5874453"/>
            <a:ext cx="3121372" cy="152400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lang="en-US" sz="975" b="0" i="0" dirty="0">
                <a:solidFill>
                  <a:srgbClr val="000000"/>
                </a:solidFill>
                <a:latin typeface="Montserrat 800"/>
                <a:cs typeface="Montserrat 800"/>
              </a:rPr>
              <a:t>Provenance is a first-class field, not a footnote.</a:t>
            </a:r>
          </a:p>
        </p:txBody>
      </p:sp>
      <p:sp>
        <p:nvSpPr>
          <p:cNvPr id="306" name="T"/>
          <p:cNvSpPr txBox="1"/>
          <p:nvPr/>
        </p:nvSpPr>
        <p:spPr>
          <a:xfrm>
            <a:off x="6296025" y="6093283"/>
            <a:ext cx="631180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Five labels (</a:t>
            </a:r>
          </a:p>
        </p:txBody>
      </p:sp>
      <p:sp>
        <p:nvSpPr>
          <p:cNvPr id="306" name="T"/>
          <p:cNvSpPr txBox="1"/>
          <p:nvPr/>
        </p:nvSpPr>
        <p:spPr>
          <a:xfrm>
            <a:off x="6908155" y="6093283"/>
            <a:ext cx="3702397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700"/>
                <a:cs typeface="Open Sans 700"/>
              </a:rPr>
              <a:t>OBSERVED · ESTIMATED · INFERRED · MODEL_DERIVED · DECLARED</a:t>
            </a:r>
          </a:p>
        </p:txBody>
      </p:sp>
      <p:sp>
        <p:nvSpPr>
          <p:cNvPr id="306" name="T"/>
          <p:cNvSpPr txBox="1"/>
          <p:nvPr/>
        </p:nvSpPr>
        <p:spPr>
          <a:xfrm>
            <a:off x="10591502" y="6093283"/>
            <a:ext cx="1181844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) are applied per field,</a:t>
            </a:r>
          </a:p>
        </p:txBody>
      </p:sp>
      <p:sp>
        <p:nvSpPr>
          <p:cNvPr id="306" name="T"/>
          <p:cNvSpPr txBox="1"/>
          <p:nvPr/>
        </p:nvSpPr>
        <p:spPr>
          <a:xfrm>
            <a:off x="6296025" y="6253273"/>
            <a:ext cx="5331023" cy="1619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1275"/>
              </a:lnSpc>
            </a:pPr>
            <a:r>
              <a:rPr lang="en-US" sz="900" b="0" i="0" dirty="0">
                <a:solidFill>
                  <a:srgbClr val="333333"/>
                </a:solidFill>
                <a:latin typeface="Open Sans 400"/>
                <a:cs typeface="Open Sans 400"/>
              </a:rPr>
              <a:t>and a value computed from a real input is at best MODEL_DERIVED. It never inherits its input's label.</a:t>
            </a:r>
          </a:p>
        </p:txBody>
      </p:sp>
      <p:sp>
        <p:nvSpPr>
          <p:cNvPr id="306" name="Box"/>
          <p:cNvSpPr/>
          <p:nvPr/>
        </p:nvSpPr>
        <p:spPr>
          <a:xfrm>
            <a:off x="0" y="6648450"/>
            <a:ext cx="12192000" cy="2095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T"/>
          <p:cNvSpPr txBox="1"/>
          <p:nvPr/>
        </p:nvSpPr>
        <p:spPr>
          <a:xfrm>
            <a:off x="161925" y="6693639"/>
            <a:ext cx="950268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@SIH Idea submission</a:t>
            </a:r>
          </a:p>
        </p:txBody>
      </p:sp>
      <p:sp>
        <p:nvSpPr>
          <p:cNvPr id="307" name="T"/>
          <p:cNvSpPr txBox="1"/>
          <p:nvPr/>
        </p:nvSpPr>
        <p:spPr>
          <a:xfrm>
            <a:off x="11959233" y="6693639"/>
            <a:ext cx="70842" cy="123825"/>
          </a:xfrm>
          <a:prstGeom prst="rect">
            <a:avLst/>
          </a:prstGeom>
          <a:noFill/>
        </p:spPr>
        <p:txBody>
          <a:bodyPr wrap="none" lIns="9525" tIns="0" rIns="9525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lang="en-US" sz="712" b="0" i="0" dirty="0">
                <a:solidFill>
                  <a:srgbClr val="FFFFFF"/>
                </a:solidFill>
                <a:latin typeface="Open Sans 400"/>
                <a:cs typeface="Open Sans 400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Chartering Desk - SIH 2026 - Team Code Hackerz</dc:title>
  <dc:subject>SIH26006 - Intelligent Freight Forecasting and Vessel Chartering</dc:subject>
  <dc:creator>Team Code Hackerz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